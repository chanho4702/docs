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3420420c2443fe" /><Relationship Type="http://schemas.openxmlformats.org/officeDocument/2006/relationships/extended-properties" Target="/docProps/app.xml" Id="R247d1676564645bb" /><Relationship Type="http://schemas.openxmlformats.org/officeDocument/2006/relationships/officeDocument" Target="/ppt/presentation.xml" Id="R6d13c929e35440b6" /></Relationships>
</file>

<file path=ppt/presentation.xml><?xml version="1.0" encoding="utf-8"?>
<p:presentation xmlns:p="http://schemas.openxmlformats.org/presentationml/2006/main">
  <p:sldMasterIdLst>
    <p:sldMasterId xmlns:r="http://schemas.openxmlformats.org/officeDocument/2006/relationships" id="2147483648" r:id="Rd887545d0ca64a24"/>
  </p:sldMasterIdLst>
  <p:notesMasterIdLst>
    <p:notesMasterId xmlns:r="http://schemas.openxmlformats.org/officeDocument/2006/relationships" r:id="R9fc0ac036c4a4e4a"/>
  </p:notesMasterIdLst>
  <p:sldIdLst>
    <p:sldId xmlns:r="http://schemas.openxmlformats.org/officeDocument/2006/relationships" id="256" r:id="Rd020baedb1624ecc"/>
    <p:sldId xmlns:r="http://schemas.openxmlformats.org/officeDocument/2006/relationships" id="257" r:id="R045a5578be66473c"/>
    <p:sldId xmlns:r="http://schemas.openxmlformats.org/officeDocument/2006/relationships" id="258" r:id="R57b76422b9a044d1"/>
    <p:sldId xmlns:r="http://schemas.openxmlformats.org/officeDocument/2006/relationships" id="259" r:id="R3670058720d34abe"/>
    <p:sldId xmlns:r="http://schemas.openxmlformats.org/officeDocument/2006/relationships" id="260" r:id="Rf8f2a7c533094274"/>
    <p:sldId xmlns:r="http://schemas.openxmlformats.org/officeDocument/2006/relationships" id="261" r:id="R7edc954fa6764361"/>
    <p:sldId xmlns:r="http://schemas.openxmlformats.org/officeDocument/2006/relationships" id="262" r:id="Rf832b03e48094868"/>
    <p:sldId xmlns:r="http://schemas.openxmlformats.org/officeDocument/2006/relationships" id="263" r:id="R0b5d5f6532c745b7"/>
    <p:sldId xmlns:r="http://schemas.openxmlformats.org/officeDocument/2006/relationships" id="264" r:id="Rfdc3d6e7f2314afb"/>
    <p:sldId xmlns:r="http://schemas.openxmlformats.org/officeDocument/2006/relationships" id="265" r:id="R6b2eafaab09047f3"/>
    <p:sldId xmlns:r="http://schemas.openxmlformats.org/officeDocument/2006/relationships" id="266" r:id="R9d4fbd4eea174e29"/>
    <p:sldId xmlns:r="http://schemas.openxmlformats.org/officeDocument/2006/relationships" id="267" r:id="R722c514ae6f341b4"/>
    <p:sldId xmlns:r="http://schemas.openxmlformats.org/officeDocument/2006/relationships" id="268" r:id="R21076bb9e2a34940"/>
    <p:sldId xmlns:r="http://schemas.openxmlformats.org/officeDocument/2006/relationships" id="269" r:id="Rc3201c06fae34254"/>
    <p:sldId xmlns:r="http://schemas.openxmlformats.org/officeDocument/2006/relationships" id="270" r:id="R1d70cef4a02c446d"/>
    <p:sldId xmlns:r="http://schemas.openxmlformats.org/officeDocument/2006/relationships" id="271" r:id="R8546ccb1e1c7487e"/>
    <p:sldId xmlns:r="http://schemas.openxmlformats.org/officeDocument/2006/relationships" id="272" r:id="R7619c22a7b344516"/>
    <p:sldId xmlns:r="http://schemas.openxmlformats.org/officeDocument/2006/relationships" id="273" r:id="Re4d78e3616b54275"/>
    <p:sldId xmlns:r="http://schemas.openxmlformats.org/officeDocument/2006/relationships" id="274" r:id="R68ec69c8a8ce42a4"/>
    <p:sldId xmlns:r="http://schemas.openxmlformats.org/officeDocument/2006/relationships" id="275" r:id="R4da564f7dd5f4d3d"/>
    <p:sldId xmlns:r="http://schemas.openxmlformats.org/officeDocument/2006/relationships" id="276" r:id="R0be8328fe9fa49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ec073a8ff34da8" /><Relationship Type="http://schemas.openxmlformats.org/officeDocument/2006/relationships/slideMaster" Target="/ppt/slideMasters/slideMaster1.xml" Id="Rd887545d0ca64a24" /><Relationship Type="http://schemas.openxmlformats.org/officeDocument/2006/relationships/notesMaster" Target="/ppt/notesMasters/notesMaster1.xml" Id="R9fc0ac036c4a4e4a" /><Relationship Type="http://schemas.openxmlformats.org/officeDocument/2006/relationships/presProps" Target="/ppt/presProps.xml" Id="R2995dfec47a1485b" /><Relationship Type="http://schemas.openxmlformats.org/officeDocument/2006/relationships/tableStyles" Target="/ppt/tableStyles.xml" Id="R93da064a26de4914" /><Relationship Type="http://schemas.openxmlformats.org/officeDocument/2006/relationships/slide" Target="/ppt/slides/slide1.xml" Id="Rd020baedb1624ecc" /><Relationship Type="http://schemas.openxmlformats.org/officeDocument/2006/relationships/slide" Target="/ppt/slides/slide2.xml" Id="R045a5578be66473c" /><Relationship Type="http://schemas.openxmlformats.org/officeDocument/2006/relationships/slide" Target="/ppt/slides/slide3.xml" Id="R57b76422b9a044d1" /><Relationship Type="http://schemas.openxmlformats.org/officeDocument/2006/relationships/slide" Target="/ppt/slides/slide4.xml" Id="R3670058720d34abe" /><Relationship Type="http://schemas.openxmlformats.org/officeDocument/2006/relationships/slide" Target="/ppt/slides/slide5.xml" Id="Rf8f2a7c533094274" /><Relationship Type="http://schemas.openxmlformats.org/officeDocument/2006/relationships/slide" Target="/ppt/slides/slide6.xml" Id="R7edc954fa6764361" /><Relationship Type="http://schemas.openxmlformats.org/officeDocument/2006/relationships/slide" Target="/ppt/slides/slide7.xml" Id="Rf832b03e48094868" /><Relationship Type="http://schemas.openxmlformats.org/officeDocument/2006/relationships/slide" Target="/ppt/slides/slide8.xml" Id="R0b5d5f6532c745b7" /><Relationship Type="http://schemas.openxmlformats.org/officeDocument/2006/relationships/slide" Target="/ppt/slides/slide9.xml" Id="Rfdc3d6e7f2314afb" /><Relationship Type="http://schemas.openxmlformats.org/officeDocument/2006/relationships/slide" Target="/ppt/slides/slide10.xml" Id="R6b2eafaab09047f3" /><Relationship Type="http://schemas.openxmlformats.org/officeDocument/2006/relationships/slide" Target="/ppt/slides/slide11.xml" Id="R9d4fbd4eea174e29" /><Relationship Type="http://schemas.openxmlformats.org/officeDocument/2006/relationships/slide" Target="/ppt/slides/slide12.xml" Id="R722c514ae6f341b4" /><Relationship Type="http://schemas.openxmlformats.org/officeDocument/2006/relationships/slide" Target="/ppt/slides/slide13.xml" Id="R21076bb9e2a34940" /><Relationship Type="http://schemas.openxmlformats.org/officeDocument/2006/relationships/slide" Target="/ppt/slides/slide14.xml" Id="Rc3201c06fae34254" /><Relationship Type="http://schemas.openxmlformats.org/officeDocument/2006/relationships/slide" Target="/ppt/slides/slide15.xml" Id="R1d70cef4a02c446d" /><Relationship Type="http://schemas.openxmlformats.org/officeDocument/2006/relationships/slide" Target="/ppt/slides/slide16.xml" Id="R8546ccb1e1c7487e" /><Relationship Type="http://schemas.openxmlformats.org/officeDocument/2006/relationships/slide" Target="/ppt/slides/slide17.xml" Id="R7619c22a7b344516" /><Relationship Type="http://schemas.openxmlformats.org/officeDocument/2006/relationships/slide" Target="/ppt/slides/slide18.xml" Id="Re4d78e3616b54275" /><Relationship Type="http://schemas.openxmlformats.org/officeDocument/2006/relationships/slide" Target="/ppt/slides/slide19.xml" Id="R68ec69c8a8ce42a4" /><Relationship Type="http://schemas.openxmlformats.org/officeDocument/2006/relationships/slide" Target="/ppt/slides/slide20.xml" Id="R4da564f7dd5f4d3d" /><Relationship Type="http://schemas.openxmlformats.org/officeDocument/2006/relationships/slide" Target="/ppt/slides/slide21.xml" Id="R0be8328fe9fa49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1824c874c24c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fb12d4d9394319" /><Relationship Type="http://schemas.openxmlformats.org/officeDocument/2006/relationships/notesMaster" Target="/ppt/notesMasters/notesMaster1.xml" Id="R1e68905be3ab41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dfbefbb15541dc" /><Relationship Type="http://schemas.openxmlformats.org/officeDocument/2006/relationships/notesMaster" Target="/ppt/notesMasters/notesMaster1.xml" Id="Rd3aaa792c12a48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6a47acf61e4174" /><Relationship Type="http://schemas.openxmlformats.org/officeDocument/2006/relationships/notesMaster" Target="/ppt/notesMasters/notesMaster1.xml" Id="R7de9c076d9a443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bf9c48b95b4d64" /><Relationship Type="http://schemas.openxmlformats.org/officeDocument/2006/relationships/notesMaster" Target="/ppt/notesMasters/notesMaster1.xml" Id="Rd30f6dba5a184e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f229fbb8f94488" /><Relationship Type="http://schemas.openxmlformats.org/officeDocument/2006/relationships/notesMaster" Target="/ppt/notesMasters/notesMaster1.xml" Id="R656117b1fa3947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0881a0971741de" /><Relationship Type="http://schemas.openxmlformats.org/officeDocument/2006/relationships/notesMaster" Target="/ppt/notesMasters/notesMaster1.xml" Id="Rdc4fca9c5d854d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ebef37fd5549fe" /><Relationship Type="http://schemas.openxmlformats.org/officeDocument/2006/relationships/notesMaster" Target="/ppt/notesMasters/notesMaster1.xml" Id="R297e1baba4874f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9c08d5bda24d64" /><Relationship Type="http://schemas.openxmlformats.org/officeDocument/2006/relationships/notesMaster" Target="/ppt/notesMasters/notesMaster1.xml" Id="R8d9be841d6eb40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4b78612dbc49d7" /><Relationship Type="http://schemas.openxmlformats.org/officeDocument/2006/relationships/notesMaster" Target="/ppt/notesMasters/notesMaster1.xml" Id="Rf0e9e6b561ea44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486beaf84844c1" /><Relationship Type="http://schemas.openxmlformats.org/officeDocument/2006/relationships/notesMaster" Target="/ppt/notesMasters/notesMaster1.xml" Id="R1e1eff08c8cb43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87b71846124d87" /><Relationship Type="http://schemas.openxmlformats.org/officeDocument/2006/relationships/notesMaster" Target="/ppt/notesMasters/notesMaster1.xml" Id="R3f42d3f903b040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ddd22eb5634956" /><Relationship Type="http://schemas.openxmlformats.org/officeDocument/2006/relationships/notesMaster" Target="/ppt/notesMasters/notesMaster1.xml" Id="Rc8c545f6a4c4492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a2676b3abc46ea" /><Relationship Type="http://schemas.openxmlformats.org/officeDocument/2006/relationships/notesMaster" Target="/ppt/notesMasters/notesMaster1.xml" Id="R92838d481cd742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a0b7aa42a143ab" /><Relationship Type="http://schemas.openxmlformats.org/officeDocument/2006/relationships/notesMaster" Target="/ppt/notesMasters/notesMaster1.xml" Id="R446e564beba942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a9df6d5ce774e76" /><Relationship Type="http://schemas.openxmlformats.org/officeDocument/2006/relationships/notesMaster" Target="/ppt/notesMasters/notesMaster1.xml" Id="Rbb6c446bfe11441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2e423746b44d57" /><Relationship Type="http://schemas.openxmlformats.org/officeDocument/2006/relationships/notesMaster" Target="/ppt/notesMasters/notesMaster1.xml" Id="Rb459cda871b941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01b02b23308413e" /><Relationship Type="http://schemas.openxmlformats.org/officeDocument/2006/relationships/notesMaster" Target="/ppt/notesMasters/notesMaster1.xml" Id="R14654656b5754e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efcaba0bbb24d52" /><Relationship Type="http://schemas.openxmlformats.org/officeDocument/2006/relationships/notesMaster" Target="/ppt/notesMasters/notesMaster1.xml" Id="R047ea4cc5e3e43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45487aaf0b240a1" /><Relationship Type="http://schemas.openxmlformats.org/officeDocument/2006/relationships/notesMaster" Target="/ppt/notesMasters/notesMaster1.xml" Id="R3acc75a3e7324e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09015940e1e4c2a" /><Relationship Type="http://schemas.openxmlformats.org/officeDocument/2006/relationships/notesMaster" Target="/ppt/notesMasters/notesMaster1.xml" Id="R0d9ff6569c8f4bc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152c2bb222a48d7" /><Relationship Type="http://schemas.openxmlformats.org/officeDocument/2006/relationships/notesMaster" Target="/ppt/notesMasters/notesMaster1.xml" Id="Rce93d701ff4a45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현행 구현과 추가 보완을 구분한 기술 제안. 고객 사이트 수용 시험은 미실행.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Moves Workforce와 Moves Approval 두 앱을 함께 제공하고, 서명된 Jira entity property로 조직·통제 규칙·승인 결과를 교환합니다.</a:t>
            </a:r>
          </a:p>
          <a:p xmlns:a="http://schemas.openxmlformats.org/drawingml/2006/main">
            <a:r>
              <a:t/>
            </a:r>
          </a:p>
          <a:p xmlns:a="http://schemas.openxmlformats.org/drawingml/2006/main">
            <a:r>
              <a:t>Workforce는 인력·팀·프로젝트·작업시간 입력과 집계를 담당합니다. Approval은 워크로그별 승인, 승인된 기록의 수정·삭제 통제, 기간 마감, 변경 이력과 감사 원장을 담당합니다. Jira에는 실제 워크로그를 유지하고 각 앱의 Forge SQL에는 해당 앱이 책임지는 업무 데이터를 저장합니다.</a:t>
            </a:r>
          </a:p>
          <a:p xmlns:a="http://schemas.openxmlformats.org/drawingml/2006/main">
            <a:r>
              <a:t/>
            </a:r>
          </a:p>
          <a:p xmlns:a="http://schemas.openxmlformats.org/drawingml/2006/main">
            <a:r>
              <a:t>제안의 중심은 작성자 등록 → 팀장 승인 → 승인 기록 보호 → Workforce 집계 반영입니다. 승인 단위는 워크로그 한 건이며 여러 건을 일괄 결정할 수 있습니다. 월은 마감·조회·결과 게시 단위입니다. 과거 문서의 월 타임시트 제출 중심 설명을 이번 제안의 기본 사용자 흐름으로 사용하지 않습니다.</a:t>
            </a:r>
          </a:p>
          <a:p xmlns:a="http://schemas.openxmlformats.org/drawingml/2006/main">
            <a:r>
              <a:t/>
            </a:r>
          </a:p>
          <a:p xmlns:a="http://schemas.openxmlformats.org/drawingml/2006/main">
            <a:r>
              <a:t>본 문서는 저장소의 현행 구현과 기존 검증 기록을 바탕으로 한 구현 제안입니다. 코드 근거, 기존 개발 환경 확인, 이번 로컬 확인, 고객 환경에서 실시할 시험을 구분합니다. 운영 적용 완료나 전 경로 차단 완료를 선언하는 문서가 아닙니다.</a:t>
            </a:r>
          </a:p>
          <a:p xmlns:a="http://schemas.openxmlformats.org/drawingml/2006/main">
            <a:r>
              <a:t/>
            </a:r>
          </a:p>
          <a:p xmlns:a="http://schemas.openxmlformats.org/drawingml/2006/main">
            <a:r>
              <a:t>제공 구성 / Workforce와 Approval 두 개의 Forge 앱</a:t>
            </a:r>
          </a:p>
          <a:p xmlns:a="http://schemas.openxmlformats.org/drawingml/2006/main">
            <a:r>
              <a:t>내부 연동 / Jira 사용자·프로젝트·이슈·워크로그에 붙는 서명 문서</a:t>
            </a:r>
          </a:p>
          <a:p xmlns:a="http://schemas.openxmlformats.org/drawingml/2006/main">
            <a:r>
              <a:t>승인 원장 / Approval SQL의 요청·결정·승인 당시 값·감사 이력</a:t>
            </a:r>
          </a:p>
          <a:p xmlns:a="http://schemas.openxmlformats.org/drawingml/2006/main">
            <a:r>
              <a:t>이번 제안 제외 / 이슈 전체 편집 잠금, 이슈 상태 전환 승인, 내부 연동용 수동 3LO token</a:t>
            </a:r>
          </a:p>
          <a:p xmlns:a="http://schemas.openxmlformats.org/drawingml/2006/main">
            <a:r>
              <a:t/>
            </a:r>
          </a:p>
          <a:p xmlns:a="http://schemas.openxmlformats.org/drawingml/2006/main">
            <a:r>
              <a:t>근거</a:t>
            </a:r>
          </a:p>
          <a:p xmlns:a="http://schemas.openxmlformats.org/drawingml/2006/main">
            <a:r>
              <a:t>S1 — 기존 스트라드비전 요구사항 대응 자료 — _workspace/stradvision-2026-10-13/STRADVISION_RESPONSE.md — 고객 미팅의 내부 요약 자료. 10월 14~15일 결정으로 변경된 부분은 최신 자료 우선</a:t>
            </a:r>
          </a:p>
          <a:p xmlns:a="http://schemas.openxmlformats.org/drawingml/2006/main">
            <a:r>
              <a:t>S2 — 프로퍼티 내부 연동 설계 — docs/worklog-approval/ENTITY_PROPERTY_INTEGRATION.md — 저장 위치·혼합 프로젝트·내부 3LO 제외</a:t>
            </a:r>
          </a:p>
          <a:p xmlns:a="http://schemas.openxmlformats.org/drawingml/2006/main">
            <a:r>
              <a:t>S3 — 고객 요구 대응 요약 — docs/worklog-approval/CUSTOMER_REQUIREMENTS_BRIEF.md — 구현과 고객 적용 완료 경계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승인·잠금·감사는 Approval이, 인력·프로젝트·보고는 Workforce가 담당합니다.</a:t>
            </a:r>
          </a:p>
          <a:p xmlns:a="http://schemas.openxmlformats.org/drawingml/2006/main">
            <a:r>
              <a:t/>
            </a:r>
          </a:p>
          <a:p xmlns:a="http://schemas.openxmlformats.org/drawingml/2006/main">
            <a:r>
              <a:t>아래 장에서는 핵심 요구의 실제 실행 경계와 증거를 제시합니다. 추가 구현 항목은 이미 구현된 승인 엔진과 구분하여 납품 전 검증 대상에 포함합니다.</a:t>
            </a:r>
          </a:p>
          <a:p xmlns:a="http://schemas.openxmlformats.org/drawingml/2006/main">
            <a:r>
              <a:t/>
            </a:r>
          </a:p>
          <a:p xmlns:a="http://schemas.openxmlformats.org/drawingml/2006/main">
            <a:r>
              <a:t>고객 요구 / 구현 방법과 현재 근거</a:t>
            </a:r>
          </a:p>
          <a:p xmlns:a="http://schemas.openxmlformats.org/drawingml/2006/main">
            <a:r>
              <a:t>단순 팀장 승인 / 워크로그별 요청과 승인 당시 값 고정. 지정 승인자의 일괄 결정 구현. 팀장 전용 강제는 보완 대상</a:t>
            </a:r>
          </a:p>
          <a:p xmlns:a="http://schemas.openxmlformats.org/drawingml/2006/main">
            <a:r>
              <a:t>승인 후 수정·삭제 금지 / Approval 서버의 현재 원장 검사 + Jira visibility 제한. 고객 직접 경로 시험 필요</a:t>
            </a:r>
          </a:p>
          <a:p xmlns:a="http://schemas.openxmlformats.org/drawingml/2006/main">
            <a:r>
              <a:t>마감 후 추가·수정·삭제 금지 / 앱 경로에서 기간 판정으로 거부. 외부 신규 생성은 감지·후속 조치로 별도 취급</a:t>
            </a:r>
          </a:p>
          <a:p xmlns:a="http://schemas.openxmlformats.org/drawingml/2006/main">
            <a:r>
              <a:t>변경 이력 감사 / 앱 쓰기 기록 + Jira 이벤트 + 누락 보정으로 변경 전후·행위자·시각 저장</a:t>
            </a:r>
          </a:p>
          <a:p xmlns:a="http://schemas.openxmlformats.org/drawingml/2006/main">
            <a:r>
              <a:t>SAP 월별 연동 / 1차 Workforce xlsx 추출. 자동 API는 별도 구현·호출자 권한 검증 후 제공</a:t>
            </a:r>
          </a:p>
          <a:p xmlns:a="http://schemas.openxmlformats.org/drawingml/2006/main">
            <a:r>
              <a:t>사용자 관리 자동화 / 기존 이메일 Import 활용. 팀 매핑·비활성 사용자 보존·자동 동기화는 추가 구현</a:t>
            </a:r>
          </a:p>
          <a:p xmlns:a="http://schemas.openxmlformats.org/drawingml/2006/main">
            <a:r>
              <a:t>미소속자 제한 / Workforce 소속 검사와 Jira 작성 권한 결합. 프로젝트 역할 동기화는 추가 구현</a:t>
            </a:r>
          </a:p>
          <a:p xmlns:a="http://schemas.openxmlformats.org/drawingml/2006/main">
            <a:r>
              <a:t>계획 초과 알림 / 기존 화면 지표 활용. PM 수신 알림은 이벤트·수신자·중복 방지 경로 추가</a:t>
            </a:r>
          </a:p>
          <a:p xmlns:a="http://schemas.openxmlformats.org/drawingml/2006/main">
            <a:r>
              <a:t>휴일·OKR·Outlook / 휴일 수동 관리 활용. 자동 Import·OKR·Outlook은 현행 제공 기능으로 주장하지 않음</a:t>
            </a:r>
          </a:p>
          <a:p xmlns:a="http://schemas.openxmlformats.org/drawingml/2006/main">
            <a:r>
              <a:t/>
            </a:r>
          </a:p>
          <a:p xmlns:a="http://schemas.openxmlformats.org/drawingml/2006/main">
            <a:r>
              <a:t>근거</a:t>
            </a:r>
          </a:p>
          <a:p xmlns:a="http://schemas.openxmlformats.org/drawingml/2006/main">
            <a:r>
              <a:t>S1 — 기존 스트라드비전 요구사항 대응 자료 — _workspace/stradvision-2026-10-13/STRADVISION_RESPONSE.md — 고객 미팅의 내부 요약 자료. 10월 14~15일 결정으로 변경된 부분은 최신 자료 우선</a:t>
            </a:r>
          </a:p>
          <a:p xmlns:a="http://schemas.openxmlformats.org/drawingml/2006/main">
            <a:r>
              <a:t>S3 — 고객 요구 대응 요약 — docs/worklog-approval/CUSTOMER_REQUIREMENTS_BRIEF.md — 구현과 고객 적용 완료 경계</a:t>
            </a:r>
          </a:p>
          <a:p xmlns:a="http://schemas.openxmlformats.org/drawingml/2006/main">
            <a:r>
              <a:t>S4 — 프로젝트 제품 기준 — CLAUDE.md — 워크로그 중심 범위·아키텍처 불변식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업무 원장과 교환 문서를 분리하여 프로퍼티 손상이 승인 결정을 바꾸지 않도록 구성합니다.</a:t>
            </a:r>
          </a:p>
          <a:p xmlns:a="http://schemas.openxmlformats.org/drawingml/2006/main">
            <a:r>
              <a:t/>
            </a:r>
          </a:p>
          <a:p xmlns:a="http://schemas.openxmlformats.org/drawingml/2006/main">
            <a:r>
              <a:t>사용자는 Jira 이슈의 Approval 화면 또는 Workforce 내부 입력 화면에서 기록합니다. 두 앱은 각자의 서버 resolver를 통해 권한을 검사하고 Jira REST를 호출합니다. 이슈 화면에는 입력기를 중복 노출하지 않으며, 표시용 소유권 표식은 실제 쓰기 권한 근거로 사용하지 않습니다.</a:t>
            </a:r>
          </a:p>
          <a:p xmlns:a="http://schemas.openxmlformats.org/drawingml/2006/main">
            <a:r>
              <a:t/>
            </a:r>
          </a:p>
          <a:p xmlns:a="http://schemas.openxmlformats.org/drawingml/2006/main">
            <a:r>
              <a:t>Workforce SQL/KVS는 팀·프로젝트·배정·업무 계획의 원장입니다. Approval SQL은 승인 요청·결정·인증 기준값·통제 작업·감사 이력의 원장입니다. 두 저장소를 직접 공유하지 않습니다. 상대 앱에 필요한 최소 정보만 Jira 프로퍼티에 게시합니다.</a:t>
            </a:r>
          </a:p>
          <a:p xmlns:a="http://schemas.openxmlformats.org/drawingml/2006/main">
            <a:r>
              <a:t/>
            </a:r>
          </a:p>
          <a:p xmlns:a="http://schemas.openxmlformats.org/drawingml/2006/main">
            <a:r>
              <a:t>서명된 교환 문서는 원장에서 다시 만들 수 있는 사본입니다. Approval의 수정·삭제 판정은 Approval SQL의 현재 상태로 수행합니다. Workforce는 수신한 통제 문서를 검사하고, 판단 자료가 없거나 신뢰할 수 없으면 저장을 진행하지 않고 Approval 처리로 연결합니다. 이 연결은 상대 앱 DB 직접 호출이나 내부 3LO API 호출을 의미하지 않습니다.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S2 — 프로퍼티 내부 연동 설계 — docs/worklog-approval/ENTITY_PROPERTY_INTEGRATION.md — 저장 위치·혼합 프로젝트·내부 3LO 제외</a:t>
            </a:r>
          </a:p>
          <a:p xmlns:a="http://schemas.openxmlformats.org/drawingml/2006/main">
            <a:r>
              <a:t>S5 — 프로퍼티 연동 전체 검토 2026-10-15 — docs/worklog-approval/PROPERTY_INTEGRATION_FULL_REVIEW.md — 재게시 재현·최신성·통제 지연·집계 한계</a:t>
            </a:r>
          </a:p>
          <a:p xmlns:a="http://schemas.openxmlformats.org/drawingml/2006/main">
            <a:r>
              <a:t>S6 — 워크로그 요청과 쓰기 판정 — src/resolver/worklogCertification/WorklogRequestService.js; src/integration/workforce/writeGate.js — 건별 요청·승인자·자가 승인·쓰기 조건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프로퍼티는 하나의 공용 데이터베이스가 아니라 Jira 대상별 교환 문서입니다.</a:t>
            </a:r>
          </a:p>
          <a:p xmlns:a="http://schemas.openxmlformats.org/drawingml/2006/main">
            <a:r>
              <a:t/>
            </a:r>
          </a:p>
          <a:p xmlns:a="http://schemas.openxmlformats.org/drawingml/2006/main">
            <a:r>
              <a:t>Jira 프로젝트 하나에 여러 Workforce 프로젝트의 이슈가 섞일 수 있습니다. 이때는 이슈 문서를 최종 적용 범위로 사용합니다. 전체 Jira 프로젝트가 한 Workforce 프로젝트에 연결된 경우에만 공통 프로젝트 문서를 적용합니다. 이슈 문서가 없다는 이유로 다른 프로젝트의 느슨한 설정을 적용하면 안 됩니다.</a:t>
            </a:r>
          </a:p>
          <a:p xmlns:a="http://schemas.openxmlformats.org/drawingml/2006/main">
            <a:r>
              <a:t/>
            </a:r>
          </a:p>
          <a:p xmlns:a="http://schemas.openxmlformats.org/drawingml/2006/main">
            <a:r>
              <a:t>이슈·워크로그 삭제 시 해당 프로퍼티도 사라질 수 있습니다. 사용자에 붙은 월 결과와 Approval SQL 감사 원장은 별도로 남습니다. 따라서 장기 감사 증거를 이슈 프로퍼티에만 보관하지 않습니다.</a:t>
            </a:r>
          </a:p>
          <a:p xmlns:a="http://schemas.openxmlformats.org/drawingml/2006/main">
            <a:r>
              <a:t/>
            </a:r>
          </a:p>
          <a:p xmlns:a="http://schemas.openxmlformats.org/drawingml/2006/main">
            <a:r>
              <a:t>위치와 문서 / 발행 방향 및 내용</a:t>
            </a:r>
          </a:p>
          <a:p xmlns:a="http://schemas.openxmlformats.org/drawingml/2006/main">
            <a:r>
              <a:t>사용자 movesRms.org / Workforce → Approval. 팀·팀장·연동 능력</a:t>
            </a:r>
          </a:p>
          <a:p xmlns:a="http://schemas.openxmlformats.org/drawingml/2006/main">
            <a:r>
              <a:t>사용자 movesApproval.cert.YYYY-MM / Approval → Workforce. 월별 인증 합계와 건별 승인 상태</a:t>
            </a:r>
          </a:p>
          <a:p xmlns:a="http://schemas.openxmlformats.org/drawingml/2006/main">
            <a:r>
              <a:t>사용자 movesApproval.YYYY / Approval → Workforce. 기간 상태·마감 요약, 호환 경로</a:t>
            </a:r>
          </a:p>
          <a:p xmlns:a="http://schemas.openxmlformats.org/drawingml/2006/main">
            <a:r>
              <a:t>이슈 movesRms.issue / movesRms.policy / Workforce → Approval. 연결 범위·작업별 입력 조건</a:t>
            </a:r>
          </a:p>
          <a:p xmlns:a="http://schemas.openxmlformats.org/drawingml/2006/main">
            <a:r>
              <a:t>프로젝트 movesRms.kb / movesRms.policy / 공통 근무 기준·적용 가능한 프로젝트 공통 범위</a:t>
            </a:r>
          </a:p>
          <a:p xmlns:a="http://schemas.openxmlformats.org/drawingml/2006/main">
            <a:r>
              <a:t>이슈 또는 프로젝트 movesApproval.ctl / Approval → Workforce. 최종 입력·수정·삭제 판단 재료 wr</a:t>
            </a:r>
          </a:p>
          <a:p xmlns:a="http://schemas.openxmlformats.org/drawingml/2006/main">
            <a:r>
              <a:t>프로젝트 movesApproval.flows / Approval → Workforce. 선택 가능한 결재선 목록</a:t>
            </a:r>
          </a:p>
          <a:p xmlns:a="http://schemas.openxmlformats.org/drawingml/2006/main">
            <a:r>
              <a:t>워크로그 origin / op / 입력 출처와 통제 작업 식별. 승인 상태 자체와 구분</a:t>
            </a:r>
          </a:p>
          <a:p xmlns:a="http://schemas.openxmlformats.org/drawingml/2006/main">
            <a:r>
              <a:t/>
            </a:r>
          </a:p>
          <a:p xmlns:a="http://schemas.openxmlformats.org/drawingml/2006/main">
            <a:r>
              <a:t>근거</a:t>
            </a:r>
          </a:p>
          <a:p xmlns:a="http://schemas.openxmlformats.org/drawingml/2006/main">
            <a:r>
              <a:t>S2 — 프로퍼티 내부 연동 설계 — docs/worklog-approval/ENTITY_PROPERTY_INTEGRATION.md — 저장 위치·혼합 프로젝트·내부 3LO 제외</a:t>
            </a:r>
          </a:p>
          <a:p xmlns:a="http://schemas.openxmlformats.org/drawingml/2006/main">
            <a:r>
              <a:t>S5 — 프로퍼티 연동 전체 검토 2026-10-15 — docs/worklog-approval/PROPERTY_INTEGRATION_FULL_REVIEW.md — 재게시 재현·최신성·통제 지연·집계 한계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서명은 문서의 출처와 무결성을 확인하며, 최신성·복구는 별도 절차로 보강합니다.</a:t>
            </a:r>
          </a:p>
          <a:p xmlns:a="http://schemas.openxmlformats.org/drawingml/2006/main">
            <a:r>
              <a:t/>
            </a:r>
          </a:p>
          <a:p xmlns:a="http://schemas.openxmlformats.org/drawingml/2006/main">
            <a:r>
              <a:t>수신자는 발행자, 문서 종류, cloudId, 대상 사용자·프로젝트·이슈, 키 식별자, 서명, 버전과 문서별 유효 조건을 확인합니다. Approval 수신 경로의 revision 역행 방어를 활용하고, Workforce의 현재 쓰기 판정에도 영속적인 최신 버전 기억을 일관되게 적용하는 보완이 필요합니다.</a:t>
            </a:r>
          </a:p>
          <a:p xmlns:a="http://schemas.openxmlformats.org/drawingml/2006/main">
            <a:r>
              <a:t/>
            </a:r>
          </a:p>
          <a:p xmlns:a="http://schemas.openxmlformats.org/drawingml/2006/main">
            <a:r>
              <a:t>프로퍼티는 암호화 저장소가 아닙니다. 다른 앱이나 대상 수정 권한자가 변경할 수 있으므로 개인키·API token·반려 사유·설명 원문을 넣지 않습니다. 식별자와 시간 요약도 Jira에서 읽을 수 있는 교환 데이터로 취급하고 필요한 범위만 게시합니다.</a:t>
            </a:r>
          </a:p>
          <a:p xmlns:a="http://schemas.openxmlformats.org/drawingml/2006/main">
            <a:r>
              <a:t/>
            </a:r>
          </a:p>
          <a:p xmlns:a="http://schemas.openxmlformats.org/drawingml/2006/main">
            <a:r>
              <a:t>원장 변경 후 게시 대상 상태를 저장하고 큐가 게시 작업을 깨웁니다. 게시 실패는 재처리 대상으로 남깁니다. 현행 검토에서는 원격 문서가 삭제되었는데 내용 동일 최적화가 재게시를 생략하는 문제가 로컬 재현되었습니다. 복구 상태에서는 이 최적화를 건너뛰고 PUT 후 재조회하는 방식으로 보완합니다.</a:t>
            </a:r>
          </a:p>
          <a:p xmlns:a="http://schemas.openxmlformats.org/drawingml/2006/main">
            <a:r>
              <a:t/>
            </a:r>
          </a:p>
          <a:p xmlns:a="http://schemas.openxmlformats.org/drawingml/2006/main">
            <a:r>
              <a:t>운영에서는 미연동, 조회 불가, 서명 오류, 오래된 문서, 복구 대기를 구분합니다. 연동 장애를 단독 모드로 자동 전환하지 않고 기존 잠금을 유지합니다. 게시 성공과 상대 앱의 수신 확인도 구분해야 합니다.</a:t>
            </a:r>
          </a:p>
          <a:p xmlns:a="http://schemas.openxmlformats.org/drawingml/2006/main">
            <a:r>
              <a:t/>
            </a:r>
          </a:p>
          <a:p xmlns:a="http://schemas.openxmlformats.org/drawingml/2006/main">
            <a:r>
              <a:t>증명 시험 / 합격 증거</a:t>
            </a:r>
          </a:p>
          <a:p xmlns:a="http://schemas.openxmlformats.org/drawingml/2006/main">
            <a:r>
              <a:t>본문 변조 / 검증 실패 및 신규 권한 부여 없음</a:t>
            </a:r>
          </a:p>
          <a:p xmlns:a="http://schemas.openxmlformats.org/drawingml/2006/main">
            <a:r>
              <a:t>과거 정상 서명 재사용 / 최신 버전보다 낮은 문서의 현재 판정 반영 거부</a:t>
            </a:r>
          </a:p>
          <a:p xmlns:a="http://schemas.openxmlformats.org/drawingml/2006/main">
            <a:r>
              <a:t>프로퍼티 삭제 / 실제 재PUT·재조회 및 원장 결정 불변</a:t>
            </a:r>
          </a:p>
          <a:p xmlns:a="http://schemas.openxmlformats.org/drawingml/2006/main">
            <a:r>
              <a:t>키 교체·폐기 / 신규 키 수신 성공, 폐기 키 문서의 현재 판정 거부</a:t>
            </a:r>
          </a:p>
          <a:p xmlns:a="http://schemas.openxmlformats.org/drawingml/2006/main">
            <a:r>
              <a:t/>
            </a:r>
          </a:p>
          <a:p xmlns:a="http://schemas.openxmlformats.org/drawingml/2006/main">
            <a:r>
              <a:t>근거</a:t>
            </a:r>
          </a:p>
          <a:p xmlns:a="http://schemas.openxmlformats.org/drawingml/2006/main">
            <a:r>
              <a:t>S2 — 프로퍼티 내부 연동 설계 — docs/worklog-approval/ENTITY_PROPERTY_INTEGRATION.md — 저장 위치·혼합 프로젝트·내부 3LO 제외</a:t>
            </a:r>
          </a:p>
          <a:p xmlns:a="http://schemas.openxmlformats.org/drawingml/2006/main">
            <a:r>
              <a:t>S5 — 프로퍼티 연동 전체 검토 2026-10-15 — docs/worklog-approval/PROPERTY_INTEGRATION_FULL_REVIEW.md — 재게시 재현·최신성·통제 지연·집계 한계</a:t>
            </a:r>
          </a:p>
          <a:p xmlns:a="http://schemas.openxmlformats.org/drawingml/2006/main">
            <a:r>
              <a:t>W1 — Atlassian Jira entity properties — https://developer.atlassian.com/cloud/jira/platform/jira-entity-properties/ — 2026-10-15 열람. 접근·변경·32,768 bytes 제한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자동 요청은 승인 대기 접수이며 승인 결정을 대신하지 않습니다.</a:t>
            </a:r>
          </a:p>
          <a:p xmlns:a="http://schemas.openxmlformats.org/drawingml/2006/main">
            <a:r>
              <a:t/>
            </a:r>
          </a:p>
          <a:p xmlns:a="http://schemas.openxmlformats.org/drawingml/2006/main">
            <a:r>
              <a:t>작성 시 서버가 이슈 열람·작성 자격, 입력 기간, 통제 규칙을 확인합니다. 정상 입력의 출처 정보를 남기고 설정에 따라 저장 직후 승인 요청을 생성합니다. 연동 모드의 기본 승인자는 검증된 Workforce 조직 명부에서 구하며, 해당 이슈를 열람할 수 있는 활성 계정인지 확인합니다.</a:t>
            </a:r>
          </a:p>
          <a:p xmlns:a="http://schemas.openxmlformats.org/drawingml/2006/main">
            <a:r>
              <a:t/>
            </a:r>
          </a:p>
          <a:p xmlns:a="http://schemas.openxmlformats.org/drawingml/2006/main">
            <a:r>
              <a:t>승인 요청에는 대상 worklogId, 이슈, 작성자, 작업일, 시간과 지문을 연결합니다. 승인 결정 시 대상이 여전히 유효한지 재확인하고 지정 승인자만 결정하게 합니다. 이미 결정된 행은 PENDING 조건부 갱신으로 다시 덮어쓰지 않으며 revision으로 동시 결정을 제어합니다.</a:t>
            </a:r>
          </a:p>
          <a:p xmlns:a="http://schemas.openxmlformats.org/drawingml/2006/main">
            <a:r>
              <a:t/>
            </a:r>
          </a:p>
          <a:p xmlns:a="http://schemas.openxmlformats.org/drawingml/2006/main">
            <a:r>
              <a:t>승인 완료 시 승인 당시 값을 Approval 원장에 고정하고 통제 및 결과 게시를 이어갑니다. 반려는 결정자·시각·사유와 함께 이력으로 남깁니다. 승인된 기록의 소명·재승인 요청 자체가 기존 잠금을 해제하지 않습니다.</a:t>
            </a:r>
          </a:p>
          <a:p xmlns:a="http://schemas.openxmlformats.org/drawingml/2006/main">
            <a:r>
              <a:t/>
            </a:r>
          </a:p>
          <a:p xmlns:a="http://schemas.openxmlformats.org/drawingml/2006/main">
            <a:r>
              <a:t>현행 직접 요청에는 검증된 Workforce 팀장의 자기 승인 경로가 있습니다. 자동 요청의 본인 제외 규칙과 구분합니다. 고객에게 팀장 전용 승인으로 제공하려면 일반 지정 결재자 경로와 일괄 승인에도 동일한 팀 범위를 강제해야 합니다.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S3 — 고객 요구 대응 요약 — docs/worklog-approval/CUSTOMER_REQUIREMENTS_BRIEF.md — 구현과 고객 적용 완료 경계</a:t>
            </a:r>
          </a:p>
          <a:p xmlns:a="http://schemas.openxmlformats.org/drawingml/2006/main">
            <a:r>
              <a:t>S6 — 워크로그 요청과 쓰기 판정 — src/resolver/worklogCertification/WorklogRequestService.js; src/integration/workforce/writeGate.js — 건별 요청·승인자·자가 승인·쓰기 조건</a:t>
            </a:r>
          </a:p>
          <a:p xmlns:a="http://schemas.openxmlformats.org/drawingml/2006/main">
            <a:r>
              <a:t>S7 — 일괄 결정 및 권한 — src/resolver/approval/ApprovalService.js; src/permission/PermissionMap.js — 일괄 결정의 현재 지정 결재자 기준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일괄 처리에서도 각 워크로그의 권한과 결정 상태를 개별 검증합니다.</a:t>
            </a:r>
          </a:p>
          <a:p xmlns:a="http://schemas.openxmlformats.org/drawingml/2006/main">
            <a:r>
              <a:t/>
            </a:r>
          </a:p>
          <a:p xmlns:a="http://schemas.openxmlformats.org/drawingml/2006/main">
            <a:r>
              <a:t>팀장이 여러 승인 대기 건을 선택하면 서버는 각 요청의 지정 결재자, 대상 이슈 열람 권한, 현재 결정 상태를 검사합니다. 일부 실패가 있으면 성공·실패·미처리 결과를 분리합니다. 재시도는 이미 확정된 결정을 덮어쓰지 않아야 합니다.</a:t>
            </a:r>
          </a:p>
          <a:p xmlns:a="http://schemas.openxmlformats.org/drawingml/2006/main">
            <a:r>
              <a:t/>
            </a:r>
          </a:p>
          <a:p xmlns:a="http://schemas.openxmlformats.org/drawingml/2006/main">
            <a:r>
              <a:t>현재 일반 업무함 bulkApprove는 지정 결재자를 기준으로 동작합니다. 따라서 ‘팀장만 팀원 기록을 일괄 승인한다’는 고객 요구를 충족하려면 워크로그 대상에 최신 팀장 자격과 팀원 범위를 추가로 강제하고, 단건·일괄·직접 resolver 호출을 같은 규칙으로 묶는 보완을 수행합니다.</a:t>
            </a:r>
          </a:p>
          <a:p xmlns:a="http://schemas.openxmlformats.org/drawingml/2006/main">
            <a:r>
              <a:t/>
            </a:r>
          </a:p>
          <a:p xmlns:a="http://schemas.openxmlformats.org/drawingml/2006/main">
            <a:r>
              <a:t>시연은 같은 팀 기록 두 건과 권한 없는 기록 한 건을 섞어서 수행합니다. 정상 두 건의 결정자·시간·요청 ID가 기록되고, 권한 없는 건은 거부되며 그 존재 정보도 허용 범위 밖으로 노출되지 않는지 확인합니다.</a:t>
            </a:r>
          </a:p>
          <a:p xmlns:a="http://schemas.openxmlformats.org/drawingml/2006/main">
            <a:r>
              <a:t/>
            </a:r>
          </a:p>
          <a:p xmlns:a="http://schemas.openxmlformats.org/drawingml/2006/main">
            <a:r>
              <a:t>시험 / 확인할 증거</a:t>
            </a:r>
          </a:p>
          <a:p xmlns:a="http://schemas.openxmlformats.org/drawingml/2006/main">
            <a:r>
              <a:t>동일 요청 동시 승인·반려 / 최종 결정 하나, 상충하는 두 결과 없음</a:t>
            </a:r>
          </a:p>
          <a:p xmlns:a="http://schemas.openxmlformats.org/drawingml/2006/main">
            <a:r>
              <a:t>비팀장 직접 resolver 호출 / 서버 거부, 원장 변화 없음</a:t>
            </a:r>
          </a:p>
          <a:p xmlns:a="http://schemas.openxmlformats.org/drawingml/2006/main">
            <a:r>
              <a:t>타 팀·열람권 없는 대상 / 목록·상세·일괄·내보내기 모두 같은 범위</a:t>
            </a:r>
          </a:p>
          <a:p xmlns:a="http://schemas.openxmlformats.org/drawingml/2006/main">
            <a:r>
              <a:t>부분 성공 재시도 / 완료 건 보존, 미완료 건만 재처리</a:t>
            </a:r>
          </a:p>
          <a:p xmlns:a="http://schemas.openxmlformats.org/drawingml/2006/main">
            <a:r>
              <a:t/>
            </a:r>
          </a:p>
          <a:p xmlns:a="http://schemas.openxmlformats.org/drawingml/2006/main">
            <a:r>
              <a:t>근거</a:t>
            </a:r>
          </a:p>
          <a:p xmlns:a="http://schemas.openxmlformats.org/drawingml/2006/main">
            <a:r>
              <a:t>S3 — 고객 요구 대응 요약 — docs/worklog-approval/CUSTOMER_REQUIREMENTS_BRIEF.md — 구현과 고객 적용 완료 경계</a:t>
            </a:r>
          </a:p>
          <a:p xmlns:a="http://schemas.openxmlformats.org/drawingml/2006/main">
            <a:r>
              <a:t>S7 — 일괄 결정 및 권한 — src/resolver/approval/ApprovalService.js; src/permission/PermissionMap.js — 일괄 결정의 현재 지정 결재자 기준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Approval 서버가 승인 원장을 검사하여 실제 Jira 변경 호출 전에 거부합니다.</a:t>
            </a:r>
          </a:p>
          <a:p xmlns:a="http://schemas.openxmlformats.org/drawingml/2006/main">
            <a:r>
              <a:t/>
            </a:r>
          </a:p>
          <a:p xmlns:a="http://schemas.openxmlformats.org/drawingml/2006/main">
            <a:r>
              <a:t>수정·삭제 요청은 작성자 일치, 다른 통제 작업 진행 여부, 입력 기간, 승인·인증 잠금, 기간 잠금, 적용 정책 순서로 검사합니다. 승인·인증된 기록은 WORKLOG_CERTIFIED_LOCKED, 마감 기간은 WORKLOG_PERIOD_LOCKED 등의 오류 코드로 거부합니다. 버튼을 숨기는 것만으로 구현하지 않습니다.</a:t>
            </a:r>
          </a:p>
          <a:p xmlns:a="http://schemas.openxmlformats.org/drawingml/2006/main">
            <a:r>
              <a:t/>
            </a:r>
          </a:p>
          <a:p xmlns:a="http://schemas.openxmlformats.org/drawingml/2006/main">
            <a:r>
              <a:t>Approval SQL의 승인 결정과 인증 상태가 판정 근거입니다. 프로퍼티를 삭제하거나 APPROVED 표시를 임의로 바꾸어도 Approval 서버가 승인된 기록을 다시 편집 가능하게 만들면 안 됩니다. 승인 후 원본이 변경된 MISMATCH 상태에서도 잠금을 유지합니다.</a:t>
            </a:r>
          </a:p>
          <a:p xmlns:a="http://schemas.openxmlformats.org/drawingml/2006/main">
            <a:r>
              <a:t/>
            </a:r>
          </a:p>
          <a:p xmlns:a="http://schemas.openxmlformats.org/drawingml/2006/main">
            <a:r>
              <a:t>Workforce는 서명된 ctl의 wr와 승인 결과를 이용해 저장 직전에 writeGate를 실행합니다. ALLOW는 허용, DENY는 거부, DEFER는 추가 확인이 필요하므로 저장 없이 Approval 처리로 연결합니다. 다만 프로퍼티 전파가 지연되는 동안의 경쟁 상태는 별도 보완 대상입니다.</a:t>
            </a:r>
          </a:p>
          <a:p xmlns:a="http://schemas.openxmlformats.org/drawingml/2006/main">
            <a:r>
              <a:t/>
            </a:r>
          </a:p>
          <a:p xmlns:a="http://schemas.openxmlformats.org/drawingml/2006/main">
            <a:r>
              <a:t>엄격한 수정·삭제 통제가 필요한 경로는 Approval의 현재 원장을 확인하는 실행 경로로 모으고, 승인 결정 저장과 통제 적용 완료를 구분하는 단계가 필요합니다. 이는 현재 비동기 전파 구조의 보완 설계이며, 이미 모든 경로가 동기 차단된다는 뜻은 아닙니다.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S3 — 고객 요구 대응 요약 — docs/worklog-approval/CUSTOMER_REQUIREMENTS_BRIEF.md — 구현과 고객 적용 완료 경계</a:t>
            </a:r>
          </a:p>
          <a:p xmlns:a="http://schemas.openxmlformats.org/drawingml/2006/main">
            <a:r>
              <a:t>S5 — 프로퍼티 연동 전체 검토 2026-10-15 — docs/worklog-approval/PROPERTY_INTEGRATION_FULL_REVIEW.md — 재게시 재현·최신성·통제 지연·집계 한계</a:t>
            </a:r>
          </a:p>
          <a:p xmlns:a="http://schemas.openxmlformats.org/drawingml/2006/main">
            <a:r>
              <a:t>S6 — 워크로그 요청과 쓰기 판정 — src/resolver/worklogCertification/WorklogRequestService.js; src/integration/workforce/writeGate.js — 건별 요청·승인자·자가 승인·쓰기 조건</a:t>
            </a:r>
          </a:p>
          <a:p xmlns:a="http://schemas.openxmlformats.org/drawingml/2006/main">
            <a:r>
              <a:t>S8 — 잠금과 변경 이력 구현 — docs/worklog-approval/LOCK_AND_HISTORY_IMPLEMENTATION.md; src/resolver/worklogControl/; src/resolver/worklogHistory/ — DB 판정·visibility·감사 저장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승인 기록의 visibility를 제한하고 사용자 계정의 직접 요청으로 차단 효과를 검증합니다.</a:t>
            </a:r>
          </a:p>
          <a:p xmlns:a="http://schemas.openxmlformats.org/drawingml/2006/main">
            <a:r>
              <a:t/>
            </a:r>
          </a:p>
          <a:p xmlns:a="http://schemas.openxmlformats.org/drawingml/2006/main">
            <a:r>
              <a:t>Approval의 통제 작업이 Jira 워크로그 visibility를 앱 접근 역할로 제한합니다. 기본 적용 예시는 role 타입의 atlassian-addons-project-access입니다. 이는 워크로그 본문의 공개 범위이며 승인 결과 프로퍼티와 다릅니다. movesApproval.op는 해당 변경을 Approval의 통제 작업 번호와 연결합니다.</a:t>
            </a:r>
          </a:p>
          <a:p xmlns:a="http://schemas.openxmlformats.org/drawingml/2006/main">
            <a:r>
              <a:t/>
            </a:r>
          </a:p>
          <a:p xmlns:a="http://schemas.openxmlformats.org/drawingml/2006/main">
            <a:r>
              <a:t>공개 범위 제한은 권한과 결합해 기존 기록의 조회·수정·삭제를 제한합니다. 통제 완료는 worklog_control의 RESTRICTED 상태와 Jira 응답을 함께 대조합니다. 시간·설명 등 본문을 불필요하게 다시 쓰지 않고 visibility와 작업 표식만 변경합니다.</a:t>
            </a:r>
          </a:p>
          <a:p xmlns:a="http://schemas.openxmlformats.org/drawingml/2006/main">
            <a:r>
              <a:t/>
            </a:r>
          </a:p>
          <a:p xmlns:a="http://schemas.openxmlformats.org/drawingml/2006/main">
            <a:r>
              <a:t>승인 저장과 Jira PUT은 하나의 원자적 작업이 아닙니다. 제한 실패·권한 부족·게시 대기는 운영 화면에서 별도로 드러내고 재처리해야 합니다. 다른 앱·관리자·Automation의 권한은 일반 작성자와 다르므로 각각 시험합니다.</a:t>
            </a:r>
          </a:p>
          <a:p xmlns:a="http://schemas.openxmlformats.org/drawingml/2006/main">
            <a:r>
              <a:t/>
            </a:r>
          </a:p>
          <a:p xmlns:a="http://schemas.openxmlformats.org/drawingml/2006/main">
            <a:r>
              <a:t>숨긴 기록은 앱에서 허용된 작성자 또는 팀 범위와 이슈 열람권을 다시 확인한 조회자에게만 보충합니다. 설명은 작성자에게만 표시합니다. 원래부터 제한 공개였던 기록을 임의로 해제하거나 일반 사용자에게 노출하지 않습니다.</a:t>
            </a:r>
          </a:p>
          <a:p xmlns:a="http://schemas.openxmlformats.org/drawingml/2006/main">
            <a:r>
              <a:t/>
            </a:r>
          </a:p>
          <a:p xmlns:a="http://schemas.openxmlformats.org/drawingml/2006/main">
            <a:r>
              <a:t>차단 시험 / 합격 기준</a:t>
            </a:r>
          </a:p>
          <a:p xmlns:a="http://schemas.openxmlformats.org/drawingml/2006/main">
            <a:r>
              <a:t>정상 PUT·DELETE 요청 / 권한 거부와 원본 유지 동시 확인</a:t>
            </a:r>
          </a:p>
          <a:p xmlns:a="http://schemas.openxmlformats.org/drawingml/2006/main">
            <a:r>
              <a:t>404 응답 / 같은 기록의 존재를 앱에서 먼저 확인한 경우에만 해석</a:t>
            </a:r>
          </a:p>
          <a:p xmlns:a="http://schemas.openxmlformats.org/drawingml/2006/main">
            <a:r>
              <a:t>400·401·429·5xx / 잘못된 요청·인증 실패·장애이므로 차단 성공 증거에서 제외</a:t>
            </a:r>
          </a:p>
          <a:p xmlns:a="http://schemas.openxmlformats.org/drawingml/2006/main">
            <a:r>
              <a:t>변경 후 원상복구 / 원본 변경이 발생했으므로 강제 잠금 시험 실패</a:t>
            </a:r>
          </a:p>
          <a:p xmlns:a="http://schemas.openxmlformats.org/drawingml/2006/main">
            <a:r>
              <a:t/>
            </a:r>
          </a:p>
          <a:p xmlns:a="http://schemas.openxmlformats.org/drawingml/2006/main">
            <a:r>
              <a:t>근거</a:t>
            </a:r>
          </a:p>
          <a:p xmlns:a="http://schemas.openxmlformats.org/drawingml/2006/main">
            <a:r>
              <a:t>S8 — 잠금과 변경 이력 구현 — docs/worklog-approval/LOCK_AND_HISTORY_IMPLEMENTATION.md; src/resolver/worklogControl/; src/resolver/worklogHistory/ — DB 판정·visibility·감사 저장</a:t>
            </a:r>
          </a:p>
          <a:p xmlns:a="http://schemas.openxmlformats.org/drawingml/2006/main">
            <a:r>
              <a:t>S9 — 검증 가이드 — docs/worklog-approval/CUSTOMER_VERIFICATION_GUIDE.md; docs/worklog-approval/LOCK_VERIFICATION.md — 수용 시험·응답 해석·증거 형식</a:t>
            </a:r>
          </a:p>
          <a:p xmlns:a="http://schemas.openxmlformats.org/drawingml/2006/main">
            <a:r>
              <a:t>W3 — Atlassian Issue worklogs REST — https://developer.atlassian.com/cloud/jira/platform/rest/v3/api-group-issue-worklogs/ — 2026-10-15 열람. 워크로그 작업의 권한과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건별 승인은 해당 기록을 잠그고, 기간 마감은 기간 내 앱 쓰기를 제한합니다.</a:t>
            </a:r>
          </a:p>
          <a:p xmlns:a="http://schemas.openxmlformats.org/drawingml/2006/main">
            <a:r>
              <a:t/>
            </a:r>
          </a:p>
          <a:p xmlns:a="http://schemas.openxmlformats.org/drawingml/2006/main">
            <a:r>
              <a:t>신규 외부 입력을 저장 전에 모든 경로에서 가로채는 기능과, 이미 생성된 위반 기록을 감지·제외하는 기능은 서로 다른 결과입니다. 고객 요구에 대한 제안은 앱 입력 경로의 사전 통제와 외부 경로의 감지·사후 조치를 명확히 구분하여 제시합니다.</a:t>
            </a:r>
          </a:p>
          <a:p xmlns:a="http://schemas.openxmlformats.org/drawingml/2006/main">
            <a:r>
              <a:t/>
            </a:r>
          </a:p>
          <a:p xmlns:a="http://schemas.openxmlformats.org/drawingml/2006/main">
            <a:r>
              <a:t>Jira 작성 권한은 프로젝트 수준의 작성자 범위를 제한하는 보조 수단입니다. 기간별 동적 잠금 전체를 권한 스킴 하나로 구현하는 것으로 설명하지 않습니다. 고객이 사용하는 직접 입력 경로에서 별도 시험하고 검증된 경로만 차단 보장 범위에 포함합니다.</a:t>
            </a:r>
          </a:p>
          <a:p xmlns:a="http://schemas.openxmlformats.org/drawingml/2006/main">
            <a:r>
              <a:t/>
            </a:r>
          </a:p>
          <a:p xmlns:a="http://schemas.openxmlformats.org/drawingml/2006/main">
            <a:r>
              <a:t>timeTrackingProvider는 Preview 모듈입니다. 제공자로 선택하면 Jira의 기본 시간 입력 UI를 대체합니다. Tempo 제공자 전환 영향을 시범 프로젝트와 사용자 계정으로 확인한 뒤 적용합니다.</a:t>
            </a:r>
          </a:p>
          <a:p xmlns:a="http://schemas.openxmlformats.org/drawingml/2006/main">
            <a:r>
              <a:t/>
            </a:r>
          </a:p>
          <a:p xmlns:a="http://schemas.openxmlformats.org/drawingml/2006/main">
            <a:r>
              <a:t>경로와 작업 / 수행 방법 및 증명 범위</a:t>
            </a:r>
          </a:p>
          <a:p xmlns:a="http://schemas.openxmlformats.org/drawingml/2006/main">
            <a:r>
              <a:t>Approval의 마감 기간 추가·수정·삭제 / 현재 기간 상태를 조회하여 Jira 호출 전에 거부</a:t>
            </a:r>
          </a:p>
          <a:p xmlns:a="http://schemas.openxmlformats.org/drawingml/2006/main">
            <a:r>
              <a:t>Workforce의 마감 기간 쓰기 / 검증된 규칙으로 판단. 불명확하면 저장하지 않고 DEFER</a:t>
            </a:r>
          </a:p>
          <a:p xmlns:a="http://schemas.openxmlformats.org/drawingml/2006/main">
            <a:r>
              <a:t>Jira 기본 입력 UI / timeTrackingProvider로 Log work와 작업 로그 탭을 대체</a:t>
            </a:r>
          </a:p>
          <a:p xmlns:a="http://schemas.openxmlformats.org/drawingml/2006/main">
            <a:r>
              <a:t>REST·Automation의 신규 생성 / UI 대체로 전면 차단되지 않음. 이벤트 감지와 후속 통제</a:t>
            </a:r>
          </a:p>
          <a:p xmlns:a="http://schemas.openxmlformats.org/drawingml/2006/main">
            <a:r>
              <a:t>기간 밖으로 날짜 이동 / 변경 전·후 기간을 검사하여 닫힌 기간 탈출 우회 방지</a:t>
            </a:r>
          </a:p>
          <a:p xmlns:a="http://schemas.openxmlformats.org/drawingml/2006/main">
            <a:r>
              <a:t>외부 변경·위반 입력 / 출처·지문·현재 DB 규칙 대조 후 위반 및 재확인 대상 표시</a:t>
            </a:r>
          </a:p>
          <a:p xmlns:a="http://schemas.openxmlformats.org/drawingml/2006/main">
            <a:r>
              <a:t/>
            </a:r>
          </a:p>
          <a:p xmlns:a="http://schemas.openxmlformats.org/drawingml/2006/main">
            <a:r>
              <a:t>근거</a:t>
            </a:r>
          </a:p>
          <a:p xmlns:a="http://schemas.openxmlformats.org/drawingml/2006/main">
            <a:r>
              <a:t>S1 — 기존 스트라드비전 요구사항 대응 자료 — _workspace/stradvision-2026-10-13/STRADVISION_RESPONSE.md — 고객 미팅의 내부 요약 자료. 10월 14~15일 결정으로 변경된 부분은 최신 자료 우선</a:t>
            </a:r>
          </a:p>
          <a:p xmlns:a="http://schemas.openxmlformats.org/drawingml/2006/main">
            <a:r>
              <a:t>S8 — 잠금과 변경 이력 구현 — docs/worklog-approval/LOCK_AND_HISTORY_IMPLEMENTATION.md; src/resolver/worklogControl/; src/resolver/worklogHistory/ — DB 판정·visibility·감사 저장</a:t>
            </a:r>
          </a:p>
          <a:p xmlns:a="http://schemas.openxmlformats.org/drawingml/2006/main">
            <a:r>
              <a:t>S9 — 검증 가이드 — docs/worklog-approval/CUSTOMER_VERIFICATION_GUIDE.md; docs/worklog-approval/LOCK_VERIFICATION.md — 수용 시험·응답 해석·증거 형식</a:t>
            </a:r>
          </a:p>
          <a:p xmlns:a="http://schemas.openxmlformats.org/drawingml/2006/main">
            <a:r>
              <a:t>W2 — Atlassian Time tracking provider — https://developer.atlassian.com/platform/forge/manifest-reference/modules/jira-time-tracking-provider/ — 2026-10-15 열람. UI 대체와 Preview 상태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Jira 값과 승인 당시 값을 함께 보관하여 누가 무엇을 바꾸었는지 설명합니다.</a:t>
            </a:r>
          </a:p>
          <a:p xmlns:a="http://schemas.openxmlformats.org/drawingml/2006/main">
            <a:r>
              <a:t/>
            </a:r>
          </a:p>
          <a:p xmlns:a="http://schemas.openxmlformats.org/drawingml/2006/main">
            <a:r>
              <a:t>앱에서 수행한 쓰기는 실제 사용자와 변경 전 값을 알고 있으므로 직접 기록합니다. Jira 생성·수정·삭제 이벤트는 후속 관측을 추가합니다. 누락 보정은 마지막 수집 위치 이후의 변경을 읽어 보완하며, 이벤트 재전송과 보정이 같은 변경을 중복 기록하지 않도록 지문과 순번을 대조합니다.</a:t>
            </a:r>
          </a:p>
          <a:p xmlns:a="http://schemas.openxmlformats.org/drawingml/2006/main">
            <a:r>
              <a:t/>
            </a:r>
          </a:p>
          <a:p xmlns:a="http://schemas.openxmlformats.org/drawingml/2006/main">
            <a:r>
              <a:t>worklog_history에는 변경 종류, 작업자, 변경 시각과 관측 시각, 이전·이후 시간과 작업일을 기록합니다. worklog_mirror에는 마지막 관측 상태를 유지합니다. 시스템 통제 작업과 사용자 수정을 구분하며 seq를 곧바로 사용자 수정 횟수로 표시하지 않습니다.</a:t>
            </a:r>
          </a:p>
          <a:p xmlns:a="http://schemas.openxmlformats.org/drawingml/2006/main">
            <a:r>
              <a:t/>
            </a:r>
          </a:p>
          <a:p xmlns:a="http://schemas.openxmlformats.org/drawingml/2006/main">
            <a:r>
              <a:t>승인 원장에는 요청 ID, worklogId, 승인자, 승인 시각, 결정, 승인 당시 시간과 지문을 남깁니다. Jira 원본이 바뀌거나 삭제되면 인증 기준값을 조용히 바꾸지 않고 불일치·삭제를 표시합니다. 소명과 재승인은 별도 이력으로 연결합니다.</a:t>
            </a:r>
          </a:p>
          <a:p xmlns:a="http://schemas.openxmlformats.org/drawingml/2006/main">
            <a:r>
              <a:t/>
            </a:r>
          </a:p>
          <a:p xmlns:a="http://schemas.openxmlformats.org/drawingml/2006/main">
            <a:r>
              <a:t>수집 이전의 과거 변경, 관측 사이에 발생한 중간 변경, 미러가 없는 삭제의 이전 값은 복원할 수 없습니다. 삭제 행위자가 확인되지 않으면 알 수 없음으로 기록합니다. 설명 원문은 기본 보존 범위로 약속하지 않습니다.</a:t>
            </a:r>
          </a:p>
          <a:p xmlns:a="http://schemas.openxmlformats.org/drawingml/2006/main">
            <a:r>
              <a:t/>
            </a:r>
          </a:p>
          <a:p xmlns:a="http://schemas.openxmlformats.org/drawingml/2006/main">
            <a:r>
              <a:t>시연 입력 / 기대 증거</a:t>
            </a:r>
          </a:p>
          <a:p xmlns:a="http://schemas.openxmlformats.org/drawingml/2006/main">
            <a:r>
              <a:t>2시간 생성 → 3시간 → 2시간 → 삭제 / 7200→10800→7200과 삭제 이력, UPDATED 2건</a:t>
            </a:r>
          </a:p>
          <a:p xmlns:a="http://schemas.openxmlformats.org/drawingml/2006/main">
            <a:r>
              <a:t>승인 후 원본 외부 변경 / 승인 당시 시간 유지 + 불일치 표시</a:t>
            </a:r>
          </a:p>
          <a:p xmlns:a="http://schemas.openxmlformats.org/drawingml/2006/main">
            <a:r>
              <a:t>동일 이벤트 재전송 / 이력 중복 없음</a:t>
            </a:r>
          </a:p>
          <a:p xmlns:a="http://schemas.openxmlformats.org/drawingml/2006/main">
            <a:r>
              <a:t>이력 내보내기 / 화면과 파일의 대상·결정자·시간·건수 일치</a:t>
            </a:r>
          </a:p>
          <a:p xmlns:a="http://schemas.openxmlformats.org/drawingml/2006/main">
            <a:r>
              <a:t/>
            </a:r>
          </a:p>
          <a:p xmlns:a="http://schemas.openxmlformats.org/drawingml/2006/main">
            <a:r>
              <a:t>근거</a:t>
            </a:r>
          </a:p>
          <a:p xmlns:a="http://schemas.openxmlformats.org/drawingml/2006/main">
            <a:r>
              <a:t>S3 — 고객 요구 대응 요약 — docs/worklog-approval/CUSTOMER_REQUIREMENTS_BRIEF.md — 구현과 고객 적용 완료 경계</a:t>
            </a:r>
          </a:p>
          <a:p xmlns:a="http://schemas.openxmlformats.org/drawingml/2006/main">
            <a:r>
              <a:t>S8 — 잠금과 변경 이력 구현 — docs/worklog-approval/LOCK_AND_HISTORY_IMPLEMENTATION.md; src/resolver/worklogControl/; src/resolver/worklogHistory/ — DB 판정·visibility·감사 저장</a:t>
            </a:r>
          </a:p>
          <a:p xmlns:a="http://schemas.openxmlformats.org/drawingml/2006/main">
            <a:r>
              <a:t>S10 — 변경 이력 수집 요구 — _workspace/worklog-history/00_input/requirement.md — 고객 감사 요구와 관측 한계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기록된 시간과 승인 인정 시간을 구분하고 원장·프로퍼티·집계를 대조합니다.</a:t>
            </a:r>
          </a:p>
          <a:p xmlns:a="http://schemas.openxmlformats.org/drawingml/2006/main">
            <a:r>
              <a:t/>
            </a:r>
          </a:p>
          <a:p xmlns:a="http://schemas.openxmlformats.org/drawingml/2006/main">
            <a:r>
              <a:t>Approval은 사용자×월 문서 movesApproval.cert.YYYY-MM에 인증 합계와 건별 승인 결과를 서명하여 게시합니다. Workforce는 서명을 확인한 후 허용된 프로젝트·사용자 범위에 결과를 적용합니다. 전체 변경 이력을 복사하지 않고 승인 상태·확정 시간 등 집계에 필요한 값만 전달합니다.</a:t>
            </a:r>
          </a:p>
          <a:p xmlns:a="http://schemas.openxmlformats.org/drawingml/2006/main">
            <a:r>
              <a:t/>
            </a:r>
          </a:p>
          <a:p xmlns:a="http://schemas.openxmlformats.org/drawingml/2006/main">
            <a:r>
              <a:t>건별 승인 배열에는 worklogId, 상태, requestId, approvedBy, approvedAt, 출처, 지문, 승인 시간, 작업 시작, 마감 시각을 담습니다. 예를 들어 2시간 승인 건은 상태 APPROVED와 7200초를 함께 확인해야 합니다. 숫자만 보고 승인된 시간으로 해석하지 않습니다.</a:t>
            </a:r>
          </a:p>
          <a:p xmlns:a="http://schemas.openxmlformats.org/drawingml/2006/main">
            <a:r>
              <a:t/>
            </a:r>
          </a:p>
          <a:p xmlns:a="http://schemas.openxmlformats.org/drawingml/2006/main">
            <a:r>
              <a:t>현행 계산에는 인증 문서가 없는 범위에서 원본 시간을 사용하는 legacySeconds 경로가 남아 있습니다. 따라서 ‘전 범위가 무조건 승인분만 집계된다’고 설명하지 않습니다. 고객 납품 시 연결 이슈의 승인 기준 통계와 일반 통계를 분리하고, 승인 확인 불가 항목을 확정 집계에 섞지 않도록 보완·대사합니다.</a:t>
            </a:r>
          </a:p>
          <a:p xmlns:a="http://schemas.openxmlformats.org/drawingml/2006/main">
            <a:r>
              <a:t/>
            </a:r>
          </a:p>
          <a:p xmlns:a="http://schemas.openxmlformats.org/drawingml/2006/main">
            <a:r>
              <a:t>문서 크기·건수 상한으로 목록이 잘릴 수 있습니다. wt 또는 approval.truncated가 있으면 누락 행을 승인 또는 미승인으로 추정하지 않습니다. 월 합계가 있다고 프로젝트별 배분이 완전한 것은 아닙니다. 대량 범위는 완전성 표시와 확정 중단, 필요 시 세대별 분할 프로퍼티를 추가 구현합니다.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S2 — 프로퍼티 내부 연동 설계 — docs/worklog-approval/ENTITY_PROPERTY_INTEGRATION.md — 저장 위치·혼합 프로젝트·내부 3LO 제외</a:t>
            </a:r>
          </a:p>
          <a:p xmlns:a="http://schemas.openxmlformats.org/drawingml/2006/main">
            <a:r>
              <a:t>S5 — 프로퍼티 연동 전체 검토 2026-10-15 — docs/worklog-approval/PROPERTY_INTEGRATION_FULL_REVIEW.md — 재게시 재현·최신성·통제 지연·집계 한계</a:t>
            </a:r>
          </a:p>
          <a:p xmlns:a="http://schemas.openxmlformats.org/drawingml/2006/main">
            <a:r>
              <a:t>S11 — 인증 게시와 Workforce 집계 — src/integration/workforce/certificationDoc.js; C:/CloudJira/moves-workforce/src/integration/approval/certification.js — 배열 계약·legacySeconds·잘림 경계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파일 기능을 먼저 활용하고 자동화 경로는 별도 구현 단위로 제공합니다.</a:t>
            </a:r>
          </a:p>
          <a:p xmlns:a="http://schemas.openxmlformats.org/drawingml/2006/main">
            <a:r>
              <a:t/>
            </a:r>
          </a:p>
          <a:p xmlns:a="http://schemas.openxmlformats.org/drawingml/2006/main">
            <a:r>
              <a:t>SAP 월별 전달은 Workforce의 기존 xlsx 워크로그 추출을 출발점으로 합니다. 승인 기준 전달에는 Approval 결과가 반영된 대상 목록·건수·초 합계를 대사하고, SAP의 사번·프로젝트 코드·기간 필드에 매핑하는 출력 계약을 추가합니다. 기존 파일에 고객 전용 SAP 매핑까지 완성되어 있다고 주장하지 않습니다.</a:t>
            </a:r>
          </a:p>
          <a:p xmlns:a="http://schemas.openxmlformats.org/drawingml/2006/main">
            <a:r>
              <a:t/>
            </a:r>
          </a:p>
          <a:p xmlns:a="http://schemas.openxmlformats.org/drawingml/2006/main">
            <a:r>
              <a:t>월별 자동 API는 내부 프로퍼티 통신과 별개입니다. 외부 조회 엔드포인트, 호출자 권한, 커서 페이지, 재처리 식별자와 월 마감 결과를 구현하고 SAP 시험 수신으로 검증합니다. 현재 Approval의 외부 apiRoute는 제거된 상태이므로 기존 제공 API로 제안하지 않습니다. 초기 제안은 파일 전달이며 자동 API는 후속 범위입니다.</a:t>
            </a:r>
          </a:p>
          <a:p xmlns:a="http://schemas.openxmlformats.org/drawingml/2006/main">
            <a:r>
              <a:t/>
            </a:r>
          </a:p>
          <a:p xmlns:a="http://schemas.openxmlformats.org/drawingml/2006/main">
            <a:r>
              <a:t>사용자 관리는 기존 이메일 기반 Import를 재사용하고 팀·팀장 매핑과 비활성 상태를 추가하는 방식입니다. 퇴사자를 단순 삭제하지 않고 과거 배정·집계 참조를 보존하는 구조로 개선합니다. Jira 원본 워크로그가 남는 것과 Workforce 집계에 계속 포함되는 것은 별도로 시험합니다.</a:t>
            </a:r>
          </a:p>
          <a:p xmlns:a="http://schemas.openxmlformats.org/drawingml/2006/main">
            <a:r>
              <a:t/>
            </a:r>
          </a:p>
          <a:p xmlns:a="http://schemas.openxmlformats.org/drawingml/2006/main">
            <a:r>
              <a:t>자동 조직 동기화는 접근 가능한 Jira 그룹·프로젝트 역할을 대상으로 설계합니다. Atlassian 관리자 조직 또는 Teams 전체가 동일한 API로 동기화된다는 전제를 두지 않습니다. 대상별 인증·API 적격성을 확인한 뒤 확정합니다.</a:t>
            </a:r>
          </a:p>
          <a:p xmlns:a="http://schemas.openxmlformats.org/drawingml/2006/main">
            <a:r>
              <a:t/>
            </a:r>
          </a:p>
          <a:p xmlns:a="http://schemas.openxmlformats.org/drawingml/2006/main">
            <a:r>
              <a:t>수행 증명 / 확인값</a:t>
            </a:r>
          </a:p>
          <a:p xmlns:a="http://schemas.openxmlformats.org/drawingml/2006/main">
            <a:r>
              <a:t>SAP 시험 파일 1개월 / Jira·승인 원장·출력의 건수와 시간 합계, 중복 수신 처리</a:t>
            </a:r>
          </a:p>
          <a:p xmlns:a="http://schemas.openxmlformats.org/drawingml/2006/main">
            <a:r>
              <a:t>신규 사용자 Import / 정상 계정 등록, 미확인 계정 오류 목록</a:t>
            </a:r>
          </a:p>
          <a:p xmlns:a="http://schemas.openxmlformats.org/drawingml/2006/main">
            <a:r>
              <a:t>팀 이동·퇴사 / 새 승인자 반영, 과거 승인·집계 보존</a:t>
            </a:r>
          </a:p>
          <a:p xmlns:a="http://schemas.openxmlformats.org/drawingml/2006/main">
            <a:r>
              <a:t>동기화 권한 회수 / 임의 삭제나 권한 확대 없이 확인 실패 표시</a:t>
            </a:r>
          </a:p>
          <a:p xmlns:a="http://schemas.openxmlformats.org/drawingml/2006/main">
            <a:r>
              <a:t/>
            </a:r>
          </a:p>
          <a:p xmlns:a="http://schemas.openxmlformats.org/drawingml/2006/main">
            <a:r>
              <a:t>근거</a:t>
            </a:r>
          </a:p>
          <a:p xmlns:a="http://schemas.openxmlformats.org/drawingml/2006/main">
            <a:r>
              <a:t>S1 — 기존 스트라드비전 요구사항 대응 자료 — _workspace/stradvision-2026-10-13/STRADVISION_RESPONSE.md — 고객 미팅의 내부 요약 자료. 10월 14~15일 결정으로 변경된 부분은 최신 자료 우선</a:t>
            </a:r>
          </a:p>
          <a:p xmlns:a="http://schemas.openxmlformats.org/drawingml/2006/main">
            <a:r>
              <a:t>S2 — 프로퍼티 내부 연동 설계 — docs/worklog-approval/ENTITY_PROPERTY_INTEGRATION.md — 저장 위치·혼합 프로젝트·내부 3LO 제외</a:t>
            </a:r>
          </a:p>
          <a:p xmlns:a="http://schemas.openxmlformats.org/drawingml/2006/main">
            <a:r>
              <a:t>S5 — 프로퍼티 연동 전체 검토 2026-10-15 — docs/worklog-approval/PROPERTY_INTEGRATION_FULL_REVIEW.md — 재게시 재현·최신성·통제 지연·집계 한계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기능을 활용할 부분과 추가 개발할 부분을 나누어 증명합니다.</a:t>
            </a:r>
          </a:p>
          <a:p xmlns:a="http://schemas.openxmlformats.org/drawingml/2006/main">
            <a:r>
              <a:t/>
            </a:r>
          </a:p>
          <a:p xmlns:a="http://schemas.openxmlformats.org/drawingml/2006/main">
            <a:r>
              <a:t>부가 요구의 구현 가능성은 기능별 개발 경로로 설명합니다. 코드가 없는 기능에 ‘지원’ 표시를 붙이지 않으며, 고객 시연은 실제 실행 가능한 범위부터 진행합니다. 외부 서비스 자동화는 별도 네트워크·인증 경계가 생기므로 두 앱 내부 프로퍼티 연동과 분리합니다.</a:t>
            </a:r>
          </a:p>
          <a:p xmlns:a="http://schemas.openxmlformats.org/drawingml/2006/main">
            <a:r>
              <a:t/>
            </a:r>
          </a:p>
          <a:p xmlns:a="http://schemas.openxmlformats.org/drawingml/2006/main">
            <a:r>
              <a:t>요구 / 구현 방향 / 증거 및 시험</a:t>
            </a:r>
          </a:p>
          <a:p xmlns:a="http://schemas.openxmlformats.org/drawingml/2006/main">
            <a:r>
              <a:t>프로젝트 미소속자 입력 제한 / Workforce 소속 검사와 Jira Work on work items 권한 결합 / 미소속 계정의 앱·REST 입력 거부 확인. 역할 동기화는 추가 구현</a:t>
            </a:r>
          </a:p>
          <a:p xmlns:a="http://schemas.openxmlformats.org/drawingml/2006/main">
            <a:r>
              <a:t>계획 초과 PM 알림 / 기존 계획 대비 실적 지표에서 초과 이벤트를 만들고 수신자·중복 방지 추가 / 임계치 통과 시 알림 1건, 재처리 중복 없음. 외부 메신저는 별도 연동</a:t>
            </a:r>
          </a:p>
          <a:p xmlns:a="http://schemas.openxmlformats.org/drawingml/2006/main">
            <a:r>
              <a:t>휴일 자동 Import / 기존 수동 휴일 관리에 파일 Import·중복 검사 추가 / 날짜·근무 비율 반영, 재Import 동일 결과</a:t>
            </a:r>
          </a:p>
          <a:p xmlns:a="http://schemas.openxmlformats.org/drawingml/2006/main">
            <a:r>
              <a:t>OKR / 현행 승인 엔진과 독립 기능으로 별도 설계 / 이번 핵심 승인·감사 제공 범위에 포함하지 않음</a:t>
            </a:r>
          </a:p>
          <a:p xmlns:a="http://schemas.openxmlformats.org/drawingml/2006/main">
            <a:r>
              <a:t>Outlook / 용도별 별도 인증·연동 구현 / 현행 제공 완료로 주장하지 않음</a:t>
            </a:r>
          </a:p>
          <a:p xmlns:a="http://schemas.openxmlformats.org/drawingml/2006/main">
            <a:r>
              <a:t/>
            </a:r>
          </a:p>
          <a:p xmlns:a="http://schemas.openxmlformats.org/drawingml/2006/main">
            <a:r>
              <a:t>근거</a:t>
            </a:r>
          </a:p>
          <a:p xmlns:a="http://schemas.openxmlformats.org/drawingml/2006/main">
            <a:r>
              <a:t>S1 — 기존 스트라드비전 요구사항 대응 자료 — _workspace/stradvision-2026-10-13/STRADVISION_RESPONSE.md — 고객 미팅의 내부 요약 자료. 10월 14~15일 결정으로 변경된 부분은 최신 자료 우선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 근거가 있는 기능과 아직 통과하지 않은 증명 항목을 같은 표에서 추적합니다.</a:t>
            </a:r>
          </a:p>
          <a:p xmlns:a="http://schemas.openxmlformats.org/drawingml/2006/main">
            <a:r>
              <a:t/>
            </a:r>
          </a:p>
          <a:p xmlns:a="http://schemas.openxmlformats.org/drawingml/2006/main">
            <a:r>
              <a:t>기존 개발 기록에 승인 워크로그 직접 조회 404와 앱 읽기 전용 확인이 있습니다. 이는 일부 경로 확인이며 모든 사용자·모든 경로의 수정·삭제 차단 증거가 아닙니다. 이번 산출물 작성에서 고객 사이트에 접속하여 변경·삭제 시험을 실행하지 않았습니다.</a:t>
            </a:r>
          </a:p>
          <a:p xmlns:a="http://schemas.openxmlformats.org/drawingml/2006/main">
            <a:r>
              <a:t/>
            </a:r>
          </a:p>
          <a:p xmlns:a="http://schemas.openxmlformats.org/drawingml/2006/main">
            <a:r>
              <a:t>상기 보완은 프로퍼티 방식 폐기나 앱 통합을 요구하지 않습니다. 원장 중심 구조를 유지하면서 복구 상태·최신성·통제 완료 상태·권한 공통 검사를 보강하는 작업입니다.</a:t>
            </a:r>
          </a:p>
          <a:p xmlns:a="http://schemas.openxmlformats.org/drawingml/2006/main">
            <a:r>
              <a:t/>
            </a:r>
          </a:p>
          <a:p xmlns:a="http://schemas.openxmlformats.org/drawingml/2006/main">
            <a:r>
              <a:t>항목 / 현재 증거 / 납품 전 확인</a:t>
            </a:r>
          </a:p>
          <a:p xmlns:a="http://schemas.openxmlformats.org/drawingml/2006/main">
            <a:r>
              <a:t>건별 승인·일괄 결정 / WorklogRequestService, ApprovalService 및 테스트 / 팀장 전용 범위와 비팀장 직접 호출 거부</a:t>
            </a:r>
          </a:p>
          <a:p xmlns:a="http://schemas.openxmlformats.org/drawingml/2006/main">
            <a:r>
              <a:t>앱 수정·삭제 잠금 / WorklogGateway·통제 서비스·writeGate 코드 / 승인 직후 동시 수정, 문서 게시 지연</a:t>
            </a:r>
          </a:p>
          <a:p xmlns:a="http://schemas.openxmlformats.org/drawingml/2006/main">
            <a:r>
              <a:t>Jira 직접 경로 통제 / visibility 실행 코드, 기존 일부 개발 확인 기록 / 일반 작성자·관리자·다른 앱별 PUT/DELETE</a:t>
            </a:r>
          </a:p>
          <a:p xmlns:a="http://schemas.openxmlformats.org/drawingml/2006/main">
            <a:r>
              <a:t>감사 이력 / WorklogHistoryService/Repository 코드 / 생성·두 번 수정·삭제의 원장·파일 대사</a:t>
            </a:r>
          </a:p>
          <a:p xmlns:a="http://schemas.openxmlformats.org/drawingml/2006/main">
            <a:r>
              <a:t>프로퍼티 재게시 / 아웃박스 존재, 삭제 후 생략 문제 로컬 재현 기록 / 강제 복구 구현 후 실제 재PUT 확인</a:t>
            </a:r>
          </a:p>
          <a:p xmlns:a="http://schemas.openxmlformats.org/drawingml/2006/main">
            <a:r>
              <a:t>오래된 문서 방어 / 서명·대상 검증 구현, 경로별 최신성 차이 확인 / 과거 통제·조직 문서의 현재 권한 사용 거부</a:t>
            </a:r>
          </a:p>
          <a:p xmlns:a="http://schemas.openxmlformats.org/drawingml/2006/main">
            <a:r>
              <a:t>승인 통계 / 월 문서·집계 코드, legacy fallback·잘림 경계 확인 / 연결 범위·불완전 집계 처리 보완 및 합계 대사</a:t>
            </a:r>
          </a:p>
          <a:p xmlns:a="http://schemas.openxmlformats.org/drawingml/2006/main">
            <a:r>
              <a:t/>
            </a:r>
          </a:p>
          <a:p xmlns:a="http://schemas.openxmlformats.org/drawingml/2006/main">
            <a:r>
              <a:t>근거</a:t>
            </a:r>
          </a:p>
          <a:p xmlns:a="http://schemas.openxmlformats.org/drawingml/2006/main">
            <a:r>
              <a:t>S3 — 고객 요구 대응 요약 — docs/worklog-approval/CUSTOMER_REQUIREMENTS_BRIEF.md — 구현과 고객 적용 완료 경계</a:t>
            </a:r>
          </a:p>
          <a:p xmlns:a="http://schemas.openxmlformats.org/drawingml/2006/main">
            <a:r>
              <a:t>S5 — 프로퍼티 연동 전체 검토 2026-10-15 — docs/worklog-approval/PROPERTY_INTEGRATION_FULL_REVIEW.md — 재게시 재현·최신성·통제 지연·집계 한계</a:t>
            </a:r>
          </a:p>
          <a:p xmlns:a="http://schemas.openxmlformats.org/drawingml/2006/main">
            <a:r>
              <a:t>S9 — 검증 가이드 — docs/worklog-approval/CUSTOMER_VERIFICATION_GUIDE.md; docs/worklog-approval/LOCK_VERIFICATION.md — 수용 시험·응답 해석·증거 형식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worklogId와 requestId로 화면·서버 결과·Jira 원본·게시 문서를 연결합니다.</a:t>
            </a:r>
          </a:p>
          <a:p xmlns:a="http://schemas.openxmlformats.org/drawingml/2006/main">
            <a:r>
              <a:t/>
            </a:r>
          </a:p>
          <a:p xmlns:a="http://schemas.openxmlformats.org/drawingml/2006/main">
            <a:r>
              <a:t>시연은 시험 프로젝트와 시험 기록으로 수행합니다. A는 일반 작성자, B는 지정 팀장, C는 다른 팀 또는 이슈 열람권이 없는 계정입니다. 관리자만으로 성공한 시험을 일반 사용자 차단의 증거로 대신하지 않습니다.</a:t>
            </a:r>
          </a:p>
          <a:p xmlns:a="http://schemas.openxmlformats.org/drawingml/2006/main">
            <a:r>
              <a:t/>
            </a:r>
          </a:p>
          <a:p xmlns:a="http://schemas.openxmlformats.org/drawingml/2006/main">
            <a:r>
              <a:t>사용자가 직접 확인할 핵심은 D01~D07의 업무 결과입니다. 개발 측은 HTTP/resolver 결과, 동시성, 프로퍼티 손상·복구와 D08~D09를 준비합니다. 정책 설문보다 실제 요구가 충족되는 화면과 원본 불변 증거를 우선 제시합니다.</a:t>
            </a:r>
          </a:p>
          <a:p xmlns:a="http://schemas.openxmlformats.org/drawingml/2006/main">
            <a:r>
              <a:t/>
            </a:r>
          </a:p>
          <a:p xmlns:a="http://schemas.openxmlformats.org/drawingml/2006/main">
            <a:r>
              <a:t>ID / 실행 / 합격 증거</a:t>
            </a:r>
          </a:p>
          <a:p xmlns:a="http://schemas.openxmlformats.org/drawingml/2006/main">
            <a:r>
              <a:t>D01 / 작성자 A가 2시간 기록, 팀장 B 승인 / 승인자 B·시각·7200초·동일 requestId</a:t>
            </a:r>
          </a:p>
          <a:p xmlns:a="http://schemas.openxmlformats.org/drawingml/2006/main">
            <a:r>
              <a:t>D02 / 승인 직후 두 앱에서 수정·삭제 / 서버 거부와 Jira 원본 유지, 게시 대기 구간 포함</a:t>
            </a:r>
          </a:p>
          <a:p xmlns:a="http://schemas.openxmlformats.org/drawingml/2006/main">
            <a:r>
              <a:t>D03 / A의 정상 REST PUT·DELETE·제한 해제 / 권한 거부, 기존 기록과 값 유지</a:t>
            </a:r>
          </a:p>
          <a:p xmlns:a="http://schemas.openxmlformats.org/drawingml/2006/main">
            <a:r>
              <a:t>D04 / 월 마감 후 추가·수정·삭제·날짜 이동 / 앱 거부. 외부 신규 생성은 별도 감지 결과 기록</a:t>
            </a:r>
          </a:p>
          <a:p xmlns:a="http://schemas.openxmlformats.org/drawingml/2006/main">
            <a:r>
              <a:t>D05 / 동일 팀 두 건과 권한 밖 한 건 일괄 처리 / 건별 결정·거부 분리, 타 팀 정보 비노출</a:t>
            </a:r>
          </a:p>
          <a:p xmlns:a="http://schemas.openxmlformats.org/drawingml/2006/main">
            <a:r>
              <a:t>D06 / 미승인 시험 기록 생성·두 번 수정·삭제 / 전후 값·행위자·시각·수정 횟수·내보내기 일치</a:t>
            </a:r>
          </a:p>
          <a:p xmlns:a="http://schemas.openxmlformats.org/drawingml/2006/main">
            <a:r>
              <a:t>D07 / Workforce 월·프로젝트 합계 확인 / 원장과 문서·집계의 건수·초 합계 일치</a:t>
            </a:r>
          </a:p>
          <a:p xmlns:a="http://schemas.openxmlformats.org/drawingml/2006/main">
            <a:r>
              <a:t>D08 / 시험 프로퍼티 삭제·변조·과거본 재사용 / 승인 원장 불변, 권한 확대 없음, 복구 후 최신 문서</a:t>
            </a:r>
          </a:p>
          <a:p xmlns:a="http://schemas.openxmlformats.org/drawingml/2006/main">
            <a:r>
              <a:t>D09 / 통제 해제와 제거 전 정리 / 원본 공개 범위 복원 및 잔여 통제 0</a:t>
            </a:r>
          </a:p>
          <a:p xmlns:a="http://schemas.openxmlformats.org/drawingml/2006/main">
            <a:r>
              <a:t/>
            </a:r>
          </a:p>
          <a:p xmlns:a="http://schemas.openxmlformats.org/drawingml/2006/main">
            <a:r>
              <a:t>근거</a:t>
            </a:r>
          </a:p>
          <a:p xmlns:a="http://schemas.openxmlformats.org/drawingml/2006/main">
            <a:r>
              <a:t>S9 — 검증 가이드 — docs/worklog-approval/CUSTOMER_VERIFICATION_GUIDE.md; docs/worklog-approval/LOCK_VERIFICATION.md — 수용 시험·응답 해석·증거 형식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캡처만으로 완료를 선언하지 않고 변경 전후 값과 서버 실행 결과를 함께 보관합니다.</a:t>
            </a:r>
          </a:p>
          <a:p xmlns:a="http://schemas.openxmlformats.org/drawingml/2006/main">
            <a:r>
              <a:t/>
            </a:r>
          </a:p>
          <a:p xmlns:a="http://schemas.openxmlformats.org/drawingml/2006/main">
            <a:r>
              <a:t>시험마다 환경·앱 버전·실행 시각·계정 역할·이슈 ID·worklogId·requestId를 적습니다. 시험 전 정상 읽기·허용 작업을 확인하여 인증이나 요청 본문 오류가 아닌 실제 권한 차단인지 구별합니다. token과 개인 설명은 증거 파일에서 제외합니다.</a:t>
            </a:r>
          </a:p>
          <a:p xmlns:a="http://schemas.openxmlformats.org/drawingml/2006/main">
            <a:r>
              <a:t/>
            </a:r>
          </a:p>
          <a:p xmlns:a="http://schemas.openxmlformats.org/drawingml/2006/main">
            <a:r>
              <a:t>D02·D03은 변경 전 7200초, 수정 요청, 서버 응답, 변경 후 7200초가 연결되어야 합니다. 삭제 시험에서는 동일 ID의 기록이 실제로 남아 있음을 확인합니다. 404만 저장하거나 오류 화면만 캡처한 자료는 충분하지 않습니다.</a:t>
            </a:r>
          </a:p>
          <a:p xmlns:a="http://schemas.openxmlformats.org/drawingml/2006/main">
            <a:r>
              <a:t/>
            </a:r>
          </a:p>
          <a:p xmlns:a="http://schemas.openxmlformats.org/drawingml/2006/main">
            <a:r>
              <a:t>D07은 승인 원장과 월 문서의 상태·승인 시간·대상 건수 및 Workforce 결과를 대조합니다. 문서 잘림이나 읽기 실패가 있으면 합격을 보류하고 불완전 집계로 기록합니다. 예시 7200초는 테스트 입력이며 실측 결과가 아닙니다.</a:t>
            </a:r>
          </a:p>
          <a:p xmlns:a="http://schemas.openxmlformats.org/drawingml/2006/main">
            <a:r>
              <a:t/>
            </a:r>
          </a:p>
          <a:p xmlns:a="http://schemas.openxmlformats.org/drawingml/2006/main">
            <a:r>
              <a:t>결과 상태는 합격·실패·미실행·부분 확인으로 구분합니다. 실패는 원인·수정 버전·재시험 증거를 연결합니다. 단위 테스트 통과는 조건별 로직 증거이고, 고객 사이트의 Jira 권한·통제 적용 성공을 대신하지 않습니다.</a:t>
            </a:r>
          </a:p>
          <a:p xmlns:a="http://schemas.openxmlformats.org/drawingml/2006/main">
            <a:r>
              <a:t/>
            </a:r>
          </a:p>
          <a:p xmlns:a="http://schemas.openxmlformats.org/drawingml/2006/main">
            <a:r>
              <a:t>파일 / 내용</a:t>
            </a:r>
          </a:p>
          <a:p xmlns:a="http://schemas.openxmlformats.org/drawingml/2006/main">
            <a:r>
              <a:t>시험 결과표 / D01~D09, 기대값·실제값·판정·환경</a:t>
            </a:r>
          </a:p>
          <a:p xmlns:a="http://schemas.openxmlformats.org/drawingml/2006/main">
            <a:r>
              <a:t>승인 및 변경 이력 내보내기 / 결정자·시각·원본 기준값·변경 전후</a:t>
            </a:r>
          </a:p>
          <a:p xmlns:a="http://schemas.openxmlformats.org/drawingml/2006/main">
            <a:r>
              <a:t>서버 및 Jira 응답 / 민감정보 제거한 상태 코드·오류 코드·전후 값</a:t>
            </a:r>
          </a:p>
          <a:p xmlns:a="http://schemas.openxmlformats.org/drawingml/2006/main">
            <a:r>
              <a:t>프로퍼티 대조 / 대상·서명 검증 결과·버전·게시 시각·완전성</a:t>
            </a:r>
          </a:p>
          <a:p xmlns:a="http://schemas.openxmlformats.org/drawingml/2006/main">
            <a:r>
              <a:t>시연 화면 / 작성자·승인자 화면과 Workforce 합계</a:t>
            </a:r>
          </a:p>
          <a:p xmlns:a="http://schemas.openxmlformats.org/drawingml/2006/main">
            <a:r>
              <a:t/>
            </a:r>
          </a:p>
          <a:p xmlns:a="http://schemas.openxmlformats.org/drawingml/2006/main">
            <a:r>
              <a:t>근거</a:t>
            </a:r>
          </a:p>
          <a:p xmlns:a="http://schemas.openxmlformats.org/drawingml/2006/main">
            <a:r>
              <a:t>S9 — 검증 가이드 — docs/worklog-approval/CUSTOMER_VERIFICATION_GUIDE.md; docs/worklog-approval/LOCK_VERIFICATION.md — 수용 시험·응답 해석·증거 형식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통제 보완과 증명 시험을 마친 뒤 두 앱을 함께 적용합니다.</a:t>
            </a:r>
          </a:p>
          <a:p xmlns:a="http://schemas.openxmlformats.org/drawingml/2006/main">
            <a:r>
              <a:t/>
            </a:r>
          </a:p>
          <a:p xmlns:a="http://schemas.openxmlformats.org/drawingml/2006/main">
            <a:r>
              <a:t>1단계는 팀장 전용 권한, 승인 직후 경쟁 상태, 누락 프로퍼티 재게시, 오래된 문서 방어, 불완전 집계 처리를 보완하는 단계입니다. 같은 규칙을 두 앱의 계약 테스트로 확인합니다. 기능 코드 수정 시 저장소 규칙에 따라 backend·UI 테스트, UI build, Forge lint와 check:bundle을 실행합니다.</a:t>
            </a:r>
          </a:p>
          <a:p xmlns:a="http://schemas.openxmlformats.org/drawingml/2006/main">
            <a:r>
              <a:t/>
            </a:r>
          </a:p>
          <a:p xmlns:a="http://schemas.openxmlformats.org/drawingml/2006/main">
            <a:r>
              <a:t>2단계는 D01~D09 시험입니다. 정상 입력·승인·거부 결과뿐 아니라 재시도, 부분 실패, 권한 없는 사용자, 직접 Jira 경로, 복구까지 확인합니다. 아직 실행하지 않은 고객 환경 시험은 합격으로 표기하지 않습니다.</a:t>
            </a:r>
          </a:p>
          <a:p xmlns:a="http://schemas.openxmlformats.org/drawingml/2006/main">
            <a:r>
              <a:t/>
            </a:r>
          </a:p>
          <a:p xmlns:a="http://schemas.openxmlformats.org/drawingml/2006/main">
            <a:r>
              <a:t>3단계는 Tempo 전환 대사입니다. Jira 원본 워크로그와 Tempo 고유 승인·팀·정산 자료를 구분하고, 기준 월의 건수와 합계를 비교합니다. 시간 추적 제공자 전환과 원복, 통제 해제를 시연한 뒤 적용합니다.</a:t>
            </a:r>
          </a:p>
          <a:p xmlns:a="http://schemas.openxmlformats.org/drawingml/2006/main">
            <a:r>
              <a:t/>
            </a:r>
          </a:p>
          <a:p xmlns:a="http://schemas.openxmlformats.org/drawingml/2006/main">
            <a:r>
              <a:t>운영에서는 게시 대기·최장 지연·서명 오류·통제 실패·집계 불완전·저장량을 확인합니다. 기존 이벤트 큐와 일일 보정 구조를 활용하며, 일일 보정이 모든 문서를 하루 안에 복구한다는 SLA로 표현하지 않습니다. 처리량과 커서가 목표 복구 시간을 만족하는지 측정합니다.</a:t>
            </a:r>
          </a:p>
          <a:p xmlns:a="http://schemas.openxmlformats.org/drawingml/2006/main">
            <a:r>
              <a:t/>
            </a:r>
          </a:p>
          <a:p xmlns:a="http://schemas.openxmlformats.org/drawingml/2006/main">
            <a:r>
              <a:t>감사 보존량은 사용자 수×월 이벤트 수×보존 개월×실측 행 크기에 원장과 인덱스를 더해 산정합니다. 내보내기 확정 범위만 정리하며, 내보내기를 복원 가능한 백업으로 설명하지 않습니다. 앱 제거 전에는 기록을 내보내고 통제를 해제하여 잔여 0을 확인합니다.</a:t>
            </a:r>
          </a:p>
          <a:p xmlns:a="http://schemas.openxmlformats.org/drawingml/2006/main">
            <a:r>
              <a:t/>
            </a:r>
          </a:p>
          <a:p xmlns:a="http://schemas.openxmlformats.org/drawingml/2006/main">
            <a:r>
              <a:t/>
            </a:r>
          </a:p>
          <a:p xmlns:a="http://schemas.openxmlformats.org/drawingml/2006/main">
            <a:r>
              <a:t/>
            </a:r>
          </a:p>
          <a:p xmlns:a="http://schemas.openxmlformats.org/drawingml/2006/main">
            <a:r>
              <a:t>근거</a:t>
            </a:r>
          </a:p>
          <a:p xmlns:a="http://schemas.openxmlformats.org/drawingml/2006/main">
            <a:r>
              <a:t>S1 — 기존 스트라드비전 요구사항 대응 자료 — _workspace/stradvision-2026-10-13/STRADVISION_RESPONSE.md — 고객 미팅의 내부 요약 자료. 10월 14~15일 결정으로 변경된 부분은 최신 자료 우선</a:t>
            </a:r>
          </a:p>
          <a:p xmlns:a="http://schemas.openxmlformats.org/drawingml/2006/main">
            <a:r>
              <a:t>S5 — 프로퍼티 연동 전체 검토 2026-10-15 — docs/worklog-approval/PROPERTY_INTEGRATION_FULL_REVIEW.md — 재게시 재현·최신성·통제 지연·집계 한계</a:t>
            </a:r>
          </a:p>
          <a:p xmlns:a="http://schemas.openxmlformats.org/drawingml/2006/main">
            <a:r>
              <a:t>S9 — 검증 가이드 — docs/worklog-approval/CUSTOMER_VERIFICATION_GUIDE.md; docs/worklog-approval/LOCK_VERIFICATION.md — 수용 시험·응답 해석·증거 형식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 / 실행 / 합격 증거</a:t>
            </a:r>
          </a:p>
          <a:p xmlns:a="http://schemas.openxmlformats.org/drawingml/2006/main">
            <a:r>
              <a:t>D01 / 작성자 A가 2시간 기록, 팀장 B 승인 / 승인자 B·시각·7200초·동일 requestId</a:t>
            </a:r>
          </a:p>
          <a:p xmlns:a="http://schemas.openxmlformats.org/drawingml/2006/main">
            <a:r>
              <a:t>D02 / 승인 직후 두 앱에서 수정·삭제 / 서버 거부와 Jira 원본 유지, 게시 대기 구간 포함</a:t>
            </a:r>
          </a:p>
          <a:p xmlns:a="http://schemas.openxmlformats.org/drawingml/2006/main">
            <a:r>
              <a:t>D03 / A의 정상 REST PUT·DELETE·제한 해제 / 권한 거부, 기존 기록과 값 유지</a:t>
            </a:r>
          </a:p>
          <a:p xmlns:a="http://schemas.openxmlformats.org/drawingml/2006/main">
            <a:r>
              <a:t>D04 / 월 마감 후 추가·수정·삭제·날짜 이동 / 앱 거부. 외부 신규 생성은 별도 감지 결과 기록</a:t>
            </a:r>
          </a:p>
          <a:p xmlns:a="http://schemas.openxmlformats.org/drawingml/2006/main">
            <a:r>
              <a:t>D05 / 동일 팀 두 건과 권한 밖 한 건 일괄 처리 / 건별 결정·거부 분리, 타 팀 정보 비노출</a:t>
            </a:r>
          </a:p>
          <a:p xmlns:a="http://schemas.openxmlformats.org/drawingml/2006/main">
            <a:r>
              <a:t>D06 / 미승인 시험 기록 생성·두 번 수정·삭제 / 전후 값·행위자·시각·수정 횟수·내보내기 일치</a:t>
            </a:r>
          </a:p>
          <a:p xmlns:a="http://schemas.openxmlformats.org/drawingml/2006/main">
            <a:r>
              <a:t>D07 / Workforce 월·프로젝트 합계 확인 / 원장과 문서·집계의 건수·초 합계 일치</a:t>
            </a:r>
          </a:p>
          <a:p xmlns:a="http://schemas.openxmlformats.org/drawingml/2006/main">
            <a:r>
              <a:t>D08 / 시험 프로퍼티 삭제·변조·과거본 재사용 / 승인 원장 불변, 권한 확대 없음, 복구 후 최신 문서</a:t>
            </a:r>
          </a:p>
          <a:p xmlns:a="http://schemas.openxmlformats.org/drawingml/2006/main">
            <a:r>
              <a:t>D09 / 통제 해제와 제거 전 정리 / 원본 공개 범위 복원 및 잔여 통제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npm test -- --runInBand --runTestsByPath (6 files). 결과: 6 suites / 151 tests passed. 증거: tmp/stradvision-proposal-20261015/test-results.json 및 test-console.log. 파일 목록: WorklogRequestService, WorklogControlService, WorklogControlGateway, WorklogHistoryService, writeGate.parity, certificationDoc. Jest 모의 경계 테스트이며 실사이트 Jira 요청 성공 증거가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e8e3cc95304a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00374fa8b6497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fef1ed23c14c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5be7428f244f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b0ffc2002c48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0e2a56117c45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174A54-B6F4-4017-A17D-1C672CEDCE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85ECDA-67C1-484B-A5A8-38D52EEE50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0DC6505-6142-4C20-AFCB-CF87E8D2BF4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2234A5-2BB3-4215-8409-C8C9BA315C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30DB43-6E53-43BA-8460-7C40A59ED2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BA7189D-2B04-498A-981F-AFA3B845F6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12D20A-E7D5-43BA-A945-57D2ADC866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E18576-70F5-4AFD-ADC1-BE268E3919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0AF477-4B35-4596-8E80-F47730357B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008EAA-E5D0-400D-BA3C-C691A738B8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6c05f9bfe245c8" /><Relationship Type="http://schemas.openxmlformats.org/officeDocument/2006/relationships/slideLayout" Target="/ppt/slideLayouts/slideLayout1.xml" Id="R33c84c6000374383" /><Relationship Type="http://schemas.openxmlformats.org/officeDocument/2006/relationships/slideLayout" Target="/ppt/slideLayouts/slideLayout2.xml" Id="R0365bf3ac8af4725" /><Relationship Type="http://schemas.openxmlformats.org/officeDocument/2006/relationships/slideLayout" Target="/ppt/slideLayouts/slideLayout3.xml" Id="R02b5665ecdab4828" /><Relationship Type="http://schemas.openxmlformats.org/officeDocument/2006/relationships/slideLayout" Target="/ppt/slideLayouts/slideLayout4.xml" Id="Rc09e493b0469427e" /><Relationship Type="http://schemas.openxmlformats.org/officeDocument/2006/relationships/slideLayout" Target="/ppt/slideLayouts/slideLayout5.xml" Id="R7cef03ba803d40a2" /><Relationship Type="http://schemas.openxmlformats.org/officeDocument/2006/relationships/slideLayout" Target="/ppt/slideLayouts/slideLayout6.xml" Id="R63250f6bb10a4f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c84c6000374383"/>
    <p:sldLayoutId xmlns:r="http://schemas.openxmlformats.org/officeDocument/2006/relationships" id="2147483650" r:id="R0365bf3ac8af4725"/>
    <p:sldLayoutId xmlns:r="http://schemas.openxmlformats.org/officeDocument/2006/relationships" id="2147483651" r:id="R02b5665ecdab4828"/>
    <p:sldLayoutId xmlns:r="http://schemas.openxmlformats.org/officeDocument/2006/relationships" id="2147483652" r:id="Rc09e493b0469427e"/>
    <p:sldLayoutId xmlns:r="http://schemas.openxmlformats.org/officeDocument/2006/relationships" id="2147483653" r:id="R7cef03ba803d40a2"/>
    <p:sldLayoutId xmlns:r="http://schemas.openxmlformats.org/officeDocument/2006/relationships" id="2147483654" r:id="R63250f6bb10a4f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91aa60903514205" /><Relationship Type="http://schemas.openxmlformats.org/officeDocument/2006/relationships/notesSlide" Target="/ppt/notesSlides/notesSlide1.xml" Id="R80a8d781ff054b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d6bcc4dd0c4f70" /><Relationship Type="http://schemas.openxmlformats.org/officeDocument/2006/relationships/notesSlide" Target="/ppt/notesSlides/notesSlide2.xml" Id="R1a9eec07a3574c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d4741f4a02447fd" /><Relationship Type="http://schemas.openxmlformats.org/officeDocument/2006/relationships/notesSlide" Target="/ppt/notesSlides/notesSlide3.xml" Id="R1a052411773643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d6be7b21fc47ed" /><Relationship Type="http://schemas.openxmlformats.org/officeDocument/2006/relationships/notesSlide" Target="/ppt/notesSlides/notesSlide4.xml" Id="R1586d765749d4e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8cc4e6d3204a8f" /><Relationship Type="http://schemas.openxmlformats.org/officeDocument/2006/relationships/notesSlide" Target="/ppt/notesSlides/notesSlide5.xml" Id="R9393e2f80c2e4d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184f786a815432f" /><Relationship Type="http://schemas.openxmlformats.org/officeDocument/2006/relationships/notesSlide" Target="/ppt/notesSlides/notesSlide6.xml" Id="R3b7707ef9d9244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0e7dc2a3c4442d" /><Relationship Type="http://schemas.openxmlformats.org/officeDocument/2006/relationships/notesSlide" Target="/ppt/notesSlides/notesSlide7.xml" Id="Rf9a7f0f1d96e4b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0e7d6a26ad45d1" /><Relationship Type="http://schemas.openxmlformats.org/officeDocument/2006/relationships/notesSlide" Target="/ppt/notesSlides/notesSlide8.xml" Id="Rc58564c28ab34c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082e478fa6047ea" /><Relationship Type="http://schemas.openxmlformats.org/officeDocument/2006/relationships/notesSlide" Target="/ppt/notesSlides/notesSlide9.xml" Id="Rd96f47be27d046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de1ab1578f3451b" /><Relationship Type="http://schemas.openxmlformats.org/officeDocument/2006/relationships/notesSlide" Target="/ppt/notesSlides/notesSlide10.xml" Id="R08b033c111854cb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316e00c4a664f09" /><Relationship Type="http://schemas.openxmlformats.org/officeDocument/2006/relationships/notesSlide" Target="/ppt/notesSlides/notesSlide11.xml" Id="Rd972655dd53040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7c01e63d5ee4d63" /><Relationship Type="http://schemas.openxmlformats.org/officeDocument/2006/relationships/notesSlide" Target="/ppt/notesSlides/notesSlide12.xml" Id="R4aa4aea6814943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ab7d7b8b8e84355" /><Relationship Type="http://schemas.openxmlformats.org/officeDocument/2006/relationships/notesSlide" Target="/ppt/notesSlides/notesSlide13.xml" Id="Rc5e47b4c11ed42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561e17a21bc464e" /><Relationship Type="http://schemas.openxmlformats.org/officeDocument/2006/relationships/notesSlide" Target="/ppt/notesSlides/notesSlide14.xml" Id="R267524979625408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c8722a4d08e4dd1" /><Relationship Type="http://schemas.openxmlformats.org/officeDocument/2006/relationships/notesSlide" Target="/ppt/notesSlides/notesSlide15.xml" Id="R3c5b35312e054e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994c664cdd84568" /><Relationship Type="http://schemas.openxmlformats.org/officeDocument/2006/relationships/notesSlide" Target="/ppt/notesSlides/notesSlide16.xml" Id="Raadaf5db72b043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4fe032edb604950" /><Relationship Type="http://schemas.openxmlformats.org/officeDocument/2006/relationships/notesSlide" Target="/ppt/notesSlides/notesSlide17.xml" Id="Rd07d53b4071f4b7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2f31b6ce65c4e0a" /><Relationship Type="http://schemas.openxmlformats.org/officeDocument/2006/relationships/notesSlide" Target="/ppt/notesSlides/notesSlide18.xml" Id="R8f12d8f81d00476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bcdc0db0cb04920" /><Relationship Type="http://schemas.openxmlformats.org/officeDocument/2006/relationships/notesSlide" Target="/ppt/notesSlides/notesSlide19.xml" Id="R956172a88e6344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049417752564c8a" /><Relationship Type="http://schemas.openxmlformats.org/officeDocument/2006/relationships/notesSlide" Target="/ppt/notesSlides/notesSlide20.xml" Id="Rbfce28ac98cf47b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432d7413d884427" /><Relationship Type="http://schemas.openxmlformats.org/officeDocument/2006/relationships/notesSlide" Target="/ppt/notesSlides/notesSlide21.xml" Id="Rfca309a2fc1e4353" /></Relationships>
</file>

<file path=ppt/slides/slide1.xml><?xml version="1.0" encoding="utf-8"?>
<p:sld xmlns:p="http://schemas.openxmlformats.org/presentationml/2006/main">
  <p:cSld>
    <p:bg>
      <p:bgPr>
        <a:solidFill xmlns:a="http://schemas.openxmlformats.org/drawingml/2006/main">
          <a:srgbClr val="EFF6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A18210-0238-4A14-85F0-BF4E023B6C16}"/>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스트라드비전 요구사항 대응 제안</a:t>
            </a:r>
          </a:p>
        </p:txBody>
      </p:sp>
      <p:sp>
        <p:nvSpPr>
          <p:cNvPr id="2" name="">
            <a:extLst xmlns:a="http://schemas.openxmlformats.org/drawingml/2006/main">
              <a:ext uri="{FF2B5EF4-FFF2-40B4-BE49-F238E27FC236}">
                <a16:creationId xmlns:a16="http://schemas.microsoft.com/office/drawing/2014/main" id="{CC497BE3-1E8E-4041-9336-FC89BCC293E9}"/>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스트라드비전 워크로그 승인 및 감사 아키텍처</a:t>
            </a:r>
          </a:p>
        </p:txBody>
      </p:sp>
      <p:sp>
        <p:nvSpPr>
          <p:cNvPr id="3" name="">
            <a:extLst xmlns:a="http://schemas.openxmlformats.org/drawingml/2006/main">
              <a:ext uri="{FF2B5EF4-FFF2-40B4-BE49-F238E27FC236}">
                <a16:creationId xmlns:a16="http://schemas.microsoft.com/office/drawing/2014/main" id="{9E70861C-9B8B-4F9E-AB59-0A3823E7919F}"/>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CA4EDF69-3C6E-4D6E-87FD-FB1F6194E3EF}"/>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C0D3A668-4992-427B-95F9-0FAE48965240}"/>
              </a:ext>
            </a:extLst>
          </p:cNvPr>
          <p:cNvSpPr>
            <a:spLocks xmlns:a="http://schemas.openxmlformats.org/drawingml/2006/main" noGrp="1"/>
          </p:cNvSpPr>
          <p:nvPr/>
        </p:nvSpPr>
        <p:spPr>
          <a:xfrm xmlns:a="http://schemas.openxmlformats.org/drawingml/2006/main">
            <a:off x="609600" y="2190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143F3B"/>
                </a:solidFill>
                <a:latin typeface="Malgun Gothic"/>
                <a:ea typeface="Malgun Gothic"/>
                <a:cs typeface="Malgun Gothic"/>
              </a:defRPr>
            </a:defPPr>
          </a:lstStyle>
          <a:p xmlns:a="http://schemas.openxmlformats.org/drawingml/2006/main">
            <a:pPr>
              <a:defRPr sz="4800" b="1">
                <a:solidFill>
                  <a:srgbClr val="143F3B"/>
                </a:solidFill>
                <a:latin typeface="Malgun Gothic"/>
                <a:ea typeface="Malgun Gothic"/>
                <a:cs typeface="Malgun Gothic"/>
              </a:defRPr>
            </a:pPr>
            <a:r>
              <a:rPr sz="4800" b="1">
                <a:solidFill>
                  <a:srgbClr val="143F3B"/>
                </a:solidFill>
                <a:latin typeface="Malgun Gothic"/>
                <a:ea typeface="Malgun Gothic"/>
                <a:cs typeface="Malgun Gothic"/>
              </a:rPr>
              <a:t>두 앱 구성과</a:t>
            </a:r>
          </a:p>
          <a:p xmlns:a="http://schemas.openxmlformats.org/drawingml/2006/main">
            <a:pPr>
              <a:defRPr sz="4800" b="1">
                <a:solidFill>
                  <a:srgbClr val="143F3B"/>
                </a:solidFill>
                <a:latin typeface="Malgun Gothic"/>
                <a:ea typeface="Malgun Gothic"/>
                <a:cs typeface="Malgun Gothic"/>
              </a:defRPr>
            </a:pPr>
            <a:r>
              <a:rPr sz="4800" b="1">
                <a:solidFill>
                  <a:srgbClr val="143F3B"/>
                </a:solidFill>
                <a:latin typeface="Malgun Gothic"/>
                <a:ea typeface="Malgun Gothic"/>
                <a:cs typeface="Malgun Gothic"/>
              </a:rPr>
              <a:t>프로퍼티 연동</a:t>
            </a:r>
          </a:p>
        </p:txBody>
      </p:sp>
      <p:sp>
        <p:nvSpPr>
          <p:cNvPr id="6" name="">
            <a:extLst xmlns:a="http://schemas.openxmlformats.org/drawingml/2006/main">
              <a:ext uri="{FF2B5EF4-FFF2-40B4-BE49-F238E27FC236}">
                <a16:creationId xmlns:a16="http://schemas.microsoft.com/office/drawing/2014/main" id="{9307F56F-FF32-4A1A-8D31-1D9BFCC8B325}"/>
              </a:ext>
            </a:extLst>
          </p:cNvPr>
          <p:cNvSpPr>
            <a:spLocks xmlns:a="http://schemas.openxmlformats.org/drawingml/2006/main" noGrp="1"/>
          </p:cNvSpPr>
          <p:nvPr/>
        </p:nvSpPr>
        <p:spPr>
          <a:xfrm xmlns:a="http://schemas.openxmlformats.org/drawingml/2006/main">
            <a:off x="609600" y="4476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3F3B"/>
                </a:solidFill>
                <a:latin typeface="Malgun Gothic"/>
                <a:ea typeface="Malgun Gothic"/>
                <a:cs typeface="Malgun Gothic"/>
              </a:defRPr>
            </a:defPPr>
          </a:lstStyle>
          <a:p xmlns:a="http://schemas.openxmlformats.org/drawingml/2006/main">
            <a:pPr>
              <a:defRPr sz="2250" b="0">
                <a:solidFill>
                  <a:srgbClr val="143F3B"/>
                </a:solidFill>
                <a:latin typeface="Malgun Gothic"/>
                <a:ea typeface="Malgun Gothic"/>
                <a:cs typeface="Malgun Gothic"/>
              </a:defRPr>
            </a:pPr>
            <a:r>
              <a:rPr sz="2250" b="0">
                <a:solidFill>
                  <a:srgbClr val="143F3B"/>
                </a:solidFill>
                <a:latin typeface="Malgun Gothic"/>
                <a:ea typeface="Malgun Gothic"/>
                <a:cs typeface="Malgun Gothic"/>
              </a:rPr>
              <a:t>구현 구조 · 승인 및 잠금 방식 · 시연과 검증 증거</a:t>
            </a:r>
          </a:p>
        </p:txBody>
      </p:sp>
      <p:sp>
        <p:nvSpPr>
          <p:cNvPr id="7" name="">
            <a:extLst xmlns:a="http://schemas.openxmlformats.org/drawingml/2006/main">
              <a:ext uri="{FF2B5EF4-FFF2-40B4-BE49-F238E27FC236}">
                <a16:creationId xmlns:a16="http://schemas.microsoft.com/office/drawing/2014/main" id="{A3085DF9-D5EB-4171-A80F-B63466B83987}"/>
              </a:ext>
            </a:extLst>
          </p:cNvPr>
          <p:cNvSpPr>
            <a:spLocks xmlns:a="http://schemas.openxmlformats.org/drawingml/2006/main" noGrp="1"/>
          </p:cNvSpPr>
          <p:nvPr/>
        </p:nvSpPr>
        <p:spPr>
          <a:xfrm xmlns:a="http://schemas.openxmlformats.org/drawingml/2006/main">
            <a:off x="609600" y="54768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36663"/>
                </a:solidFill>
                <a:latin typeface="Malgun Gothic"/>
                <a:ea typeface="Malgun Gothic"/>
                <a:cs typeface="Malgun Gothic"/>
              </a:defRPr>
            </a:defPPr>
          </a:lstStyle>
          <a:p xmlns:a="http://schemas.openxmlformats.org/drawingml/2006/main">
            <a:pPr>
              <a:defRPr sz="1650" b="0">
                <a:solidFill>
                  <a:srgbClr val="536663"/>
                </a:solidFill>
                <a:latin typeface="Malgun Gothic"/>
                <a:ea typeface="Malgun Gothic"/>
                <a:cs typeface="Malgun Gothic"/>
              </a:defRPr>
            </a:pPr>
            <a:r>
              <a:rPr sz="1650" b="0">
                <a:solidFill>
                  <a:srgbClr val="536663"/>
                </a:solidFill>
                <a:latin typeface="Malgun Gothic"/>
                <a:ea typeface="Malgun Gothic"/>
                <a:cs typeface="Malgun Gothic"/>
              </a:rPr>
              <a:t>2026-10-15   /   기술 제안 v1.0</a:t>
            </a:r>
          </a:p>
        </p:txBody>
      </p:sp>
    </p:spTree>
    <p:extLst>
      <p:ext uri="{BB962C8B-B14F-4D97-AF65-F5344CB8AC3E}">
        <p14:creationId xmlns:p14="http://schemas.microsoft.com/office/powerpoint/2010/main" val="18790982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53CDD94-3B49-4A53-A5E2-333C30873EDD}"/>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01  구현과 증명</a:t>
            </a:r>
          </a:p>
        </p:txBody>
      </p:sp>
      <p:sp>
        <p:nvSpPr>
          <p:cNvPr id="2" name="">
            <a:extLst xmlns:a="http://schemas.openxmlformats.org/drawingml/2006/main">
              <a:ext uri="{FF2B5EF4-FFF2-40B4-BE49-F238E27FC236}">
                <a16:creationId xmlns:a16="http://schemas.microsoft.com/office/drawing/2014/main" id="{E79155AE-124E-472D-B93E-A4072743919E}"/>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제안 범위와 구현 방향</a:t>
            </a:r>
          </a:p>
        </p:txBody>
      </p:sp>
      <p:sp>
        <p:nvSpPr>
          <p:cNvPr id="3" name="">
            <a:extLst xmlns:a="http://schemas.openxmlformats.org/drawingml/2006/main">
              <a:ext uri="{FF2B5EF4-FFF2-40B4-BE49-F238E27FC236}">
                <a16:creationId xmlns:a16="http://schemas.microsoft.com/office/drawing/2014/main" id="{742F6AC9-DD88-4931-90D1-D30E0A5CCD80}"/>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B13C8B6E-8238-4C87-9C19-6A73B61BF138}"/>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02</a:t>
            </a:r>
          </a:p>
        </p:txBody>
      </p:sp>
      <p:sp>
        <p:nvSpPr>
          <p:cNvPr id="5" name="">
            <a:extLst xmlns:a="http://schemas.openxmlformats.org/drawingml/2006/main">
              <a:ext uri="{FF2B5EF4-FFF2-40B4-BE49-F238E27FC236}">
                <a16:creationId xmlns:a16="http://schemas.microsoft.com/office/drawing/2014/main" id="{B052FE30-54BC-447D-B9E1-40F62D7B73FF}"/>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Moves Workforce와 Moves Approval 두 앱을 함께 제공하고, 서명된 Jira entity property로 조직·통제 규칙·승인 결과를 교환합니다.</a:t>
            </a:r>
          </a:p>
        </p:txBody>
      </p:sp>
      <p:sp>
        <p:nvSpPr>
          <p:cNvPr id="6" name="">
            <a:extLst xmlns:a="http://schemas.openxmlformats.org/drawingml/2006/main">
              <a:ext uri="{FF2B5EF4-FFF2-40B4-BE49-F238E27FC236}">
                <a16:creationId xmlns:a16="http://schemas.microsoft.com/office/drawing/2014/main" id="{2FA4C37A-D4DD-4EC6-A262-22C0BB86F9DB}"/>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29CC4784-2EDD-46B7-AFBE-57AA8171985F}"/>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Workforce는 인력·프로젝트·입력·집계를 담당합니다.</a:t>
            </a:r>
          </a:p>
        </p:txBody>
      </p:sp>
      <p:sp>
        <p:nvSpPr>
          <p:cNvPr id="8" name="">
            <a:extLst xmlns:a="http://schemas.openxmlformats.org/drawingml/2006/main">
              <a:ext uri="{FF2B5EF4-FFF2-40B4-BE49-F238E27FC236}">
                <a16:creationId xmlns:a16="http://schemas.microsoft.com/office/drawing/2014/main" id="{37E12387-F751-4F59-9E14-6F46F6F6D9BF}"/>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6796895A-1E05-4031-90BD-3AC08F870112}"/>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Approval은 건별 승인·기간 마감·잠금·감사를 담당합니다.</a:t>
            </a:r>
          </a:p>
        </p:txBody>
      </p:sp>
      <p:sp>
        <p:nvSpPr>
          <p:cNvPr id="10" name="">
            <a:extLst xmlns:a="http://schemas.openxmlformats.org/drawingml/2006/main">
              <a:ext uri="{FF2B5EF4-FFF2-40B4-BE49-F238E27FC236}">
                <a16:creationId xmlns:a16="http://schemas.microsoft.com/office/drawing/2014/main" id="{B48914C8-6ADF-4DC5-BFE4-8B420886BCCC}"/>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5FC004E9-1FC7-4EC0-814F-DC0110A9C9D3}"/>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내부 통신은 서명된 프로퍼티로 수행하며 승인 원장은 SQL에 보관합니다.</a:t>
            </a:r>
          </a:p>
        </p:txBody>
      </p:sp>
    </p:spTree>
    <p:extLst>
      <p:ext uri="{BB962C8B-B14F-4D97-AF65-F5344CB8AC3E}">
        <p14:creationId xmlns:p14="http://schemas.microsoft.com/office/powerpoint/2010/main" val="358612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DA66DF-CA81-4058-9C26-629E6EBED5FA}"/>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02  구현과 증명</a:t>
            </a:r>
          </a:p>
        </p:txBody>
      </p:sp>
      <p:sp>
        <p:nvSpPr>
          <p:cNvPr id="2" name="">
            <a:extLst xmlns:a="http://schemas.openxmlformats.org/drawingml/2006/main">
              <a:ext uri="{FF2B5EF4-FFF2-40B4-BE49-F238E27FC236}">
                <a16:creationId xmlns:a16="http://schemas.microsoft.com/office/drawing/2014/main" id="{8AC48EDA-5B9A-4384-92BE-9FC1FE8BC2FA}"/>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요구사항별 수행 방안</a:t>
            </a:r>
          </a:p>
        </p:txBody>
      </p:sp>
      <p:sp>
        <p:nvSpPr>
          <p:cNvPr id="3" name="">
            <a:extLst xmlns:a="http://schemas.openxmlformats.org/drawingml/2006/main">
              <a:ext uri="{FF2B5EF4-FFF2-40B4-BE49-F238E27FC236}">
                <a16:creationId xmlns:a16="http://schemas.microsoft.com/office/drawing/2014/main" id="{0FB09CF0-3599-4365-8E25-6A4CF71F3F0F}"/>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FE671624-99A3-442C-AAEA-77C43DA7739A}"/>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03</a:t>
            </a:r>
          </a:p>
        </p:txBody>
      </p:sp>
      <p:sp>
        <p:nvSpPr>
          <p:cNvPr id="5" name="">
            <a:extLst xmlns:a="http://schemas.openxmlformats.org/drawingml/2006/main">
              <a:ext uri="{FF2B5EF4-FFF2-40B4-BE49-F238E27FC236}">
                <a16:creationId xmlns:a16="http://schemas.microsoft.com/office/drawing/2014/main" id="{EF9125D7-846C-4921-B5A2-9350BE0FDA1F}"/>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승인·잠금·감사는 Approval이, 인력·프로젝트·보고는 Workforce가 담당합니다.</a:t>
            </a:r>
          </a:p>
        </p:txBody>
      </p:sp>
      <p:sp>
        <p:nvSpPr>
          <p:cNvPr id="6" name="">
            <a:extLst xmlns:a="http://schemas.openxmlformats.org/drawingml/2006/main">
              <a:ext uri="{FF2B5EF4-FFF2-40B4-BE49-F238E27FC236}">
                <a16:creationId xmlns:a16="http://schemas.microsoft.com/office/drawing/2014/main" id="{6915FF8B-5FC9-4B15-B627-AB24CDC3BDDA}"/>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5DA834B6-CD6C-4AC5-884B-38460B8B9C09}"/>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승인·잠금·감사: 기존 구현을 기반으로 권한·직접 경로 시험을 완료합니다.</a:t>
            </a:r>
          </a:p>
        </p:txBody>
      </p:sp>
      <p:sp>
        <p:nvSpPr>
          <p:cNvPr id="8" name="">
            <a:extLst xmlns:a="http://schemas.openxmlformats.org/drawingml/2006/main">
              <a:ext uri="{FF2B5EF4-FFF2-40B4-BE49-F238E27FC236}">
                <a16:creationId xmlns:a16="http://schemas.microsoft.com/office/drawing/2014/main" id="{E1F0FD00-B432-4F21-94D5-0DA9AC335D20}"/>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A52F6C68-2D81-4E9E-889A-A1B746EB41FC}"/>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SAP·사용자 관리: 파일 기능을 활용하고 자동화는 별도 구현합니다.</a:t>
            </a:r>
          </a:p>
        </p:txBody>
      </p:sp>
      <p:sp>
        <p:nvSpPr>
          <p:cNvPr id="10" name="">
            <a:extLst xmlns:a="http://schemas.openxmlformats.org/drawingml/2006/main">
              <a:ext uri="{FF2B5EF4-FFF2-40B4-BE49-F238E27FC236}">
                <a16:creationId xmlns:a16="http://schemas.microsoft.com/office/drawing/2014/main" id="{8168C8D3-0E33-4109-B734-BA9C65535C2C}"/>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B11BFC7C-25F5-48E0-8A08-F5394C14F734}"/>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미소속 제한·계획 초과 알림: 권한과 이벤트 처리 경로를 보강합니다.</a:t>
            </a:r>
          </a:p>
        </p:txBody>
      </p:sp>
    </p:spTree>
    <p:extLst>
      <p:ext uri="{BB962C8B-B14F-4D97-AF65-F5344CB8AC3E}">
        <p14:creationId xmlns:p14="http://schemas.microsoft.com/office/powerpoint/2010/main" val="4964873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47A5E81-AF5F-4502-9853-29FA64EC068D}"/>
              </a:ext>
            </a:extLst>
          </p:cNvPr>
          <p:cNvCxnSpPr>
            <a:stCxn xmlns:a="http://schemas.openxmlformats.org/drawingml/2006/main" id="7" idx="3"/>
            <a:endCxn xmlns:a="http://schemas.openxmlformats.org/drawingml/2006/main" id="8" idx="1"/>
          </p:cNvCxnSpPr>
          <p:nvPr/>
        </p:nvCxnSpPr>
        <p:spPr>
          <a:xfrm xmlns:a="http://schemas.openxmlformats.org/drawingml/2006/main">
            <a:off x="7715250" y="3095625"/>
            <a:ext cx="628650" cy="0"/>
          </a:xfrm>
          <a:prstGeom xmlns:a="http://schemas.openxmlformats.org/drawingml/2006/main" prst="straightConnector1">
            <a:avLst/>
          </a:prstGeom>
          <a:ln xmlns:a="http://schemas.openxmlformats.org/drawingml/2006/main" w="19050">
            <a:solidFill>
              <a:srgbClr val="147D73"/>
            </a:solidFill>
            <a:headEnd type="arrow" w="med" len="med"/>
            <a:tailEnd type="arrow" w="med" len="med"/>
          </a:ln>
        </p:spPr>
      </p:cxnSp>
      <p:cxnSp>
        <p:nvCxnSpPr>
          <p:cNvPr id="9" name="">
            <a:extLst xmlns:a="http://schemas.openxmlformats.org/drawingml/2006/main">
              <a:ext uri="{FF2B5EF4-FFF2-40B4-BE49-F238E27FC236}">
                <a16:creationId xmlns:a16="http://schemas.microsoft.com/office/drawing/2014/main" id="{236AA04C-3AA0-4F81-90BA-35F6BF4DB57E}"/>
              </a:ext>
            </a:extLst>
          </p:cNvPr>
          <p:cNvCxnSpPr>
            <a:stCxn xmlns:a="http://schemas.openxmlformats.org/drawingml/2006/main" id="6" idx="3"/>
            <a:endCxn xmlns:a="http://schemas.openxmlformats.org/drawingml/2006/main" id="7" idx="1"/>
          </p:cNvCxnSpPr>
          <p:nvPr/>
        </p:nvCxnSpPr>
        <p:spPr>
          <a:xfrm xmlns:a="http://schemas.openxmlformats.org/drawingml/2006/main">
            <a:off x="3848100" y="3095625"/>
            <a:ext cx="628650" cy="0"/>
          </a:xfrm>
          <a:prstGeom xmlns:a="http://schemas.openxmlformats.org/drawingml/2006/main" prst="straightConnector1">
            <a:avLst/>
          </a:prstGeom>
          <a:ln xmlns:a="http://schemas.openxmlformats.org/drawingml/2006/main" w="19050">
            <a:solidFill>
              <a:srgbClr val="147D73"/>
            </a:solidFill>
            <a:headEnd type="arrow" w="med" len="med"/>
            <a:tailEnd type="arrow" w="med" len="med"/>
          </a:ln>
        </p:spPr>
      </p:cxnSp>
      <p:sp>
        <p:nvSpPr>
          <p:cNvPr id="15" name="">
            <a:extLst xmlns:a="http://schemas.openxmlformats.org/drawingml/2006/main">
              <a:ext uri="{FF2B5EF4-FFF2-40B4-BE49-F238E27FC236}">
                <a16:creationId xmlns:a16="http://schemas.microsoft.com/office/drawing/2014/main" id="{3053EDAE-27C0-4E41-9364-727CBA4353DB}"/>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03  구현과 증명</a:t>
            </a:r>
          </a:p>
        </p:txBody>
      </p:sp>
      <p:sp>
        <p:nvSpPr>
          <p:cNvPr id="2" name="">
            <a:extLst xmlns:a="http://schemas.openxmlformats.org/drawingml/2006/main">
              <a:ext uri="{FF2B5EF4-FFF2-40B4-BE49-F238E27FC236}">
                <a16:creationId xmlns:a16="http://schemas.microsoft.com/office/drawing/2014/main" id="{472D37F1-EF56-4983-83E4-D5DEB13AC805}"/>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두 앱의 전체 아키텍처</a:t>
            </a:r>
          </a:p>
        </p:txBody>
      </p:sp>
      <p:sp>
        <p:nvSpPr>
          <p:cNvPr id="3" name="">
            <a:extLst xmlns:a="http://schemas.openxmlformats.org/drawingml/2006/main">
              <a:ext uri="{FF2B5EF4-FFF2-40B4-BE49-F238E27FC236}">
                <a16:creationId xmlns:a16="http://schemas.microsoft.com/office/drawing/2014/main" id="{54BFF84C-BBCC-4904-BCBF-CD7884AA32B9}"/>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20C17D0D-A242-435E-BD50-9DD95DE8B391}"/>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4744D546-592E-4E18-B7E3-9A925C8502FF}"/>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업무 원장과 교환 문서를 분리하여 프로퍼티 손상이 승인 결정을 바꾸지 않도록 구성합니다.</a:t>
            </a:r>
          </a:p>
        </p:txBody>
      </p:sp>
      <p:sp>
        <p:nvSpPr>
          <p:cNvPr id="6" name="">
            <a:extLst xmlns:a="http://schemas.openxmlformats.org/drawingml/2006/main">
              <a:ext uri="{FF2B5EF4-FFF2-40B4-BE49-F238E27FC236}">
                <a16:creationId xmlns:a16="http://schemas.microsoft.com/office/drawing/2014/main" id="{510DBB87-E6E3-4BC3-85D1-33AF8255848F}"/>
              </a:ext>
            </a:extLst>
          </p:cNvPr>
          <p:cNvSpPr>
            <a:spLocks xmlns:a="http://schemas.openxmlformats.org/drawingml/2006/main" noGrp="1"/>
          </p:cNvSpPr>
          <p:nvPr/>
        </p:nvSpPr>
        <p:spPr>
          <a:xfrm xmlns:a="http://schemas.openxmlformats.org/drawingml/2006/main">
            <a:off x="609600" y="2381250"/>
            <a:ext cx="3238500" cy="142875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Moves Workforce</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팀 · 프로젝트 · 입력 · 집계</a:t>
            </a:r>
          </a:p>
        </p:txBody>
      </p:sp>
      <p:sp>
        <p:nvSpPr>
          <p:cNvPr id="7" name="">
            <a:extLst xmlns:a="http://schemas.openxmlformats.org/drawingml/2006/main">
              <a:ext uri="{FF2B5EF4-FFF2-40B4-BE49-F238E27FC236}">
                <a16:creationId xmlns:a16="http://schemas.microsoft.com/office/drawing/2014/main" id="{C3C4906A-3F53-4503-BE8D-46D315E57990}"/>
              </a:ext>
            </a:extLst>
          </p:cNvPr>
          <p:cNvSpPr>
            <a:spLocks xmlns:a="http://schemas.openxmlformats.org/drawingml/2006/main" noGrp="1"/>
          </p:cNvSpPr>
          <p:nvPr/>
        </p:nvSpPr>
        <p:spPr>
          <a:xfrm xmlns:a="http://schemas.openxmlformats.org/drawingml/2006/main">
            <a:off x="4476750" y="2381250"/>
            <a:ext cx="3238500" cy="142875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Jira entity properties</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서명된 교환 문서</a:t>
            </a:r>
          </a:p>
        </p:txBody>
      </p:sp>
      <p:sp>
        <p:nvSpPr>
          <p:cNvPr id="8" name="">
            <a:extLst xmlns:a="http://schemas.openxmlformats.org/drawingml/2006/main">
              <a:ext uri="{FF2B5EF4-FFF2-40B4-BE49-F238E27FC236}">
                <a16:creationId xmlns:a16="http://schemas.microsoft.com/office/drawing/2014/main" id="{700E1D9F-4AE1-4108-AC5F-877CE669078F}"/>
              </a:ext>
            </a:extLst>
          </p:cNvPr>
          <p:cNvSpPr>
            <a:spLocks xmlns:a="http://schemas.openxmlformats.org/drawingml/2006/main" noGrp="1"/>
          </p:cNvSpPr>
          <p:nvPr/>
        </p:nvSpPr>
        <p:spPr>
          <a:xfrm xmlns:a="http://schemas.openxmlformats.org/drawingml/2006/main">
            <a:off x="8343900" y="2381250"/>
            <a:ext cx="3238500" cy="142875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Moves Approval</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승인 · 잠금 · 감사</a:t>
            </a:r>
          </a:p>
        </p:txBody>
      </p:sp>
      <p:sp>
        <p:nvSpPr>
          <p:cNvPr id="11" name="">
            <a:extLst xmlns:a="http://schemas.openxmlformats.org/drawingml/2006/main">
              <a:ext uri="{FF2B5EF4-FFF2-40B4-BE49-F238E27FC236}">
                <a16:creationId xmlns:a16="http://schemas.microsoft.com/office/drawing/2014/main" id="{9148D3C3-7506-4FD4-B1D6-595D3D01BCAD}"/>
              </a:ext>
            </a:extLst>
          </p:cNvPr>
          <p:cNvSpPr>
            <a:spLocks xmlns:a="http://schemas.openxmlformats.org/drawingml/2006/main" noGrp="1"/>
          </p:cNvSpPr>
          <p:nvPr/>
        </p:nvSpPr>
        <p:spPr>
          <a:xfrm xmlns:a="http://schemas.openxmlformats.org/drawingml/2006/main">
            <a:off x="609600" y="4048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43F3B"/>
                </a:solidFill>
                <a:latin typeface="Malgun Gothic"/>
                <a:ea typeface="Malgun Gothic"/>
                <a:cs typeface="Malgun Gothic"/>
              </a:defRPr>
            </a:defPPr>
          </a:lstStyle>
          <a:p xmlns:a="http://schemas.openxmlformats.org/drawingml/2006/main">
            <a:pPr>
              <a:defRPr sz="1875" b="1">
                <a:solidFill>
                  <a:srgbClr val="143F3B"/>
                </a:solidFill>
                <a:latin typeface="Malgun Gothic"/>
                <a:ea typeface="Malgun Gothic"/>
                <a:cs typeface="Malgun Gothic"/>
              </a:defRPr>
            </a:pPr>
            <a:r>
              <a:rPr sz="1875" b="1">
                <a:solidFill>
                  <a:srgbClr val="143F3B"/>
                </a:solidFill>
                <a:latin typeface="Malgun Gothic"/>
                <a:ea typeface="Malgun Gothic"/>
                <a:cs typeface="Malgun Gothic"/>
              </a:rPr>
              <a:t>Workforce SQL/KVS</a:t>
            </a:r>
          </a:p>
        </p:txBody>
      </p:sp>
      <p:sp>
        <p:nvSpPr>
          <p:cNvPr id="12" name="">
            <a:extLst xmlns:a="http://schemas.openxmlformats.org/drawingml/2006/main">
              <a:ext uri="{FF2B5EF4-FFF2-40B4-BE49-F238E27FC236}">
                <a16:creationId xmlns:a16="http://schemas.microsoft.com/office/drawing/2014/main" id="{B3191808-549E-4E24-A96A-C4C93DD3AE05}"/>
              </a:ext>
            </a:extLst>
          </p:cNvPr>
          <p:cNvSpPr>
            <a:spLocks xmlns:a="http://schemas.openxmlformats.org/drawingml/2006/main" noGrp="1"/>
          </p:cNvSpPr>
          <p:nvPr/>
        </p:nvSpPr>
        <p:spPr>
          <a:xfrm xmlns:a="http://schemas.openxmlformats.org/drawingml/2006/main">
            <a:off x="4476750" y="4048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43F3B"/>
                </a:solidFill>
                <a:latin typeface="Malgun Gothic"/>
                <a:ea typeface="Malgun Gothic"/>
                <a:cs typeface="Malgun Gothic"/>
              </a:defRPr>
            </a:defPPr>
          </a:lstStyle>
          <a:p xmlns:a="http://schemas.openxmlformats.org/drawingml/2006/main">
            <a:pPr>
              <a:defRPr sz="1875" b="1">
                <a:solidFill>
                  <a:srgbClr val="143F3B"/>
                </a:solidFill>
                <a:latin typeface="Malgun Gothic"/>
                <a:ea typeface="Malgun Gothic"/>
                <a:cs typeface="Malgun Gothic"/>
              </a:defRPr>
            </a:pPr>
            <a:r>
              <a:rPr sz="1875" b="1">
                <a:solidFill>
                  <a:srgbClr val="143F3B"/>
                </a:solidFill>
                <a:latin typeface="Malgun Gothic"/>
                <a:ea typeface="Malgun Gothic"/>
                <a:cs typeface="Malgun Gothic"/>
              </a:rPr>
              <a:t>Jira 워크로그 원본</a:t>
            </a:r>
          </a:p>
        </p:txBody>
      </p:sp>
      <p:sp>
        <p:nvSpPr>
          <p:cNvPr id="13" name="">
            <a:extLst xmlns:a="http://schemas.openxmlformats.org/drawingml/2006/main">
              <a:ext uri="{FF2B5EF4-FFF2-40B4-BE49-F238E27FC236}">
                <a16:creationId xmlns:a16="http://schemas.microsoft.com/office/drawing/2014/main" id="{9FD81001-BA0D-498C-8999-2BE094E36AE8}"/>
              </a:ext>
            </a:extLst>
          </p:cNvPr>
          <p:cNvSpPr>
            <a:spLocks xmlns:a="http://schemas.openxmlformats.org/drawingml/2006/main" noGrp="1"/>
          </p:cNvSpPr>
          <p:nvPr/>
        </p:nvSpPr>
        <p:spPr>
          <a:xfrm xmlns:a="http://schemas.openxmlformats.org/drawingml/2006/main">
            <a:off x="8343900" y="4048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43F3B"/>
                </a:solidFill>
                <a:latin typeface="Malgun Gothic"/>
                <a:ea typeface="Malgun Gothic"/>
                <a:cs typeface="Malgun Gothic"/>
              </a:defRPr>
            </a:defPPr>
          </a:lstStyle>
          <a:p xmlns:a="http://schemas.openxmlformats.org/drawingml/2006/main">
            <a:pPr>
              <a:defRPr sz="1875" b="1">
                <a:solidFill>
                  <a:srgbClr val="143F3B"/>
                </a:solidFill>
                <a:latin typeface="Malgun Gothic"/>
                <a:ea typeface="Malgun Gothic"/>
                <a:cs typeface="Malgun Gothic"/>
              </a:defRPr>
            </a:pPr>
            <a:r>
              <a:rPr sz="1875" b="1">
                <a:solidFill>
                  <a:srgbClr val="143F3B"/>
                </a:solidFill>
                <a:latin typeface="Malgun Gothic"/>
                <a:ea typeface="Malgun Gothic"/>
                <a:cs typeface="Malgun Gothic"/>
              </a:rPr>
              <a:t>Approval SQL 원장</a:t>
            </a:r>
          </a:p>
        </p:txBody>
      </p:sp>
      <p:sp>
        <p:nvSpPr>
          <p:cNvPr id="14" name="">
            <a:extLst xmlns:a="http://schemas.openxmlformats.org/drawingml/2006/main">
              <a:ext uri="{FF2B5EF4-FFF2-40B4-BE49-F238E27FC236}">
                <a16:creationId xmlns:a16="http://schemas.microsoft.com/office/drawing/2014/main" id="{33DD0ECE-6C79-414B-8337-74EC8E305646}"/>
              </a:ext>
            </a:extLst>
          </p:cNvPr>
          <p:cNvSpPr>
            <a:spLocks xmlns:a="http://schemas.openxmlformats.org/drawingml/2006/main" noGrp="1"/>
          </p:cNvSpPr>
          <p:nvPr/>
        </p:nvSpPr>
        <p:spPr>
          <a:xfrm xmlns:a="http://schemas.openxmlformats.org/drawingml/2006/main">
            <a:off x="609600" y="5048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663"/>
                </a:solidFill>
                <a:latin typeface="Malgun Gothic"/>
                <a:ea typeface="Malgun Gothic"/>
                <a:cs typeface="Malgun Gothic"/>
              </a:defRPr>
            </a:defPPr>
          </a:lstStyle>
          <a:p xmlns:a="http://schemas.openxmlformats.org/drawingml/2006/main">
            <a:pPr>
              <a:defRPr sz="2100" b="0">
                <a:solidFill>
                  <a:srgbClr val="536663"/>
                </a:solidFill>
                <a:latin typeface="Malgun Gothic"/>
                <a:ea typeface="Malgun Gothic"/>
                <a:cs typeface="Malgun Gothic"/>
              </a:defRPr>
            </a:pPr>
            <a:r>
              <a:rPr sz="2100" b="0">
                <a:solidFill>
                  <a:srgbClr val="536663"/>
                </a:solidFill>
                <a:latin typeface="Malgun Gothic"/>
                <a:ea typeface="Malgun Gothic"/>
                <a:cs typeface="Malgun Gothic"/>
              </a:rPr>
              <a:t>각 앱의 저장소는 분리합니다. 승인 결정은 Approval 원장에 남습니다.</a:t>
            </a:r>
          </a:p>
        </p:txBody>
      </p:sp>
    </p:spTree>
    <p:extLst>
      <p:ext uri="{BB962C8B-B14F-4D97-AF65-F5344CB8AC3E}">
        <p14:creationId xmlns:p14="http://schemas.microsoft.com/office/powerpoint/2010/main" val="3424888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F13796-4470-4D0A-A9E5-245433E01693}"/>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04  구현과 증명</a:t>
            </a:r>
          </a:p>
        </p:txBody>
      </p:sp>
      <p:sp>
        <p:nvSpPr>
          <p:cNvPr id="2" name="">
            <a:extLst xmlns:a="http://schemas.openxmlformats.org/drawingml/2006/main">
              <a:ext uri="{FF2B5EF4-FFF2-40B4-BE49-F238E27FC236}">
                <a16:creationId xmlns:a16="http://schemas.microsoft.com/office/drawing/2014/main" id="{1306FCE5-BDE2-467F-B546-0FC55ECC252B}"/>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프로퍼티의 위치와 책임</a:t>
            </a:r>
          </a:p>
        </p:txBody>
      </p:sp>
      <p:sp>
        <p:nvSpPr>
          <p:cNvPr id="3" name="">
            <a:extLst xmlns:a="http://schemas.openxmlformats.org/drawingml/2006/main">
              <a:ext uri="{FF2B5EF4-FFF2-40B4-BE49-F238E27FC236}">
                <a16:creationId xmlns:a16="http://schemas.microsoft.com/office/drawing/2014/main" id="{FD53CA26-83BA-4142-8A35-3C3365520F95}"/>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03BE3930-D3B7-400D-BE36-67BD38132791}"/>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05</a:t>
            </a:r>
          </a:p>
        </p:txBody>
      </p:sp>
      <p:sp>
        <p:nvSpPr>
          <p:cNvPr id="5" name="">
            <a:extLst xmlns:a="http://schemas.openxmlformats.org/drawingml/2006/main">
              <a:ext uri="{FF2B5EF4-FFF2-40B4-BE49-F238E27FC236}">
                <a16:creationId xmlns:a16="http://schemas.microsoft.com/office/drawing/2014/main" id="{CEF5E1B6-B963-4E9A-9DF3-B6A5CCC12A84}"/>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프로퍼티는 하나의 공용 데이터베이스가 아니라 Jira 대상별 교환 문서입니다.</a:t>
            </a:r>
          </a:p>
        </p:txBody>
      </p:sp>
      <p:sp>
        <p:nvSpPr>
          <p:cNvPr id="6" name="">
            <a:extLst xmlns:a="http://schemas.openxmlformats.org/drawingml/2006/main">
              <a:ext uri="{FF2B5EF4-FFF2-40B4-BE49-F238E27FC236}">
                <a16:creationId xmlns:a16="http://schemas.microsoft.com/office/drawing/2014/main" id="{D567AAF1-2B38-4FD2-848D-9A3A18C0DDCA}"/>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B16598FC-61AE-4AEE-953E-301E94AC5292}"/>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사용자: 팀·팀장과 월별 승인 결과를 교환합니다.</a:t>
            </a:r>
          </a:p>
        </p:txBody>
      </p:sp>
      <p:sp>
        <p:nvSpPr>
          <p:cNvPr id="8" name="">
            <a:extLst xmlns:a="http://schemas.openxmlformats.org/drawingml/2006/main">
              <a:ext uri="{FF2B5EF4-FFF2-40B4-BE49-F238E27FC236}">
                <a16:creationId xmlns:a16="http://schemas.microsoft.com/office/drawing/2014/main" id="{282E5DE0-5A1C-457C-8178-C8E036A267F8}"/>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65E2833F-35DC-44C4-8E29-8BC36E686F28}"/>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프로젝트·이슈: 연결 범위와 최종 통제 규칙을 전달합니다.</a:t>
            </a:r>
          </a:p>
        </p:txBody>
      </p:sp>
      <p:sp>
        <p:nvSpPr>
          <p:cNvPr id="10" name="">
            <a:extLst xmlns:a="http://schemas.openxmlformats.org/drawingml/2006/main">
              <a:ext uri="{FF2B5EF4-FFF2-40B4-BE49-F238E27FC236}">
                <a16:creationId xmlns:a16="http://schemas.microsoft.com/office/drawing/2014/main" id="{8874A27E-9C23-4AEC-ADA1-D089E351B50C}"/>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16167278-E105-46B4-8BC3-AF5A8F2FB6CD}"/>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워크로그: 출처·통제 작업 번호를 남깁니다. 감사 원장은 SQL에 보관합니다.</a:t>
            </a:r>
          </a:p>
        </p:txBody>
      </p:sp>
    </p:spTree>
    <p:extLst>
      <p:ext uri="{BB962C8B-B14F-4D97-AF65-F5344CB8AC3E}">
        <p14:creationId xmlns:p14="http://schemas.microsoft.com/office/powerpoint/2010/main" val="2920550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D26A42-EB23-4062-BA24-039A615ABF0A}"/>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05  구현과 증명</a:t>
            </a:r>
          </a:p>
        </p:txBody>
      </p:sp>
      <p:sp>
        <p:nvSpPr>
          <p:cNvPr id="2" name="">
            <a:extLst xmlns:a="http://schemas.openxmlformats.org/drawingml/2006/main">
              <a:ext uri="{FF2B5EF4-FFF2-40B4-BE49-F238E27FC236}">
                <a16:creationId xmlns:a16="http://schemas.microsoft.com/office/drawing/2014/main" id="{9348E0DA-C12C-47DD-A781-D2C67FC0A351}"/>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서명 검증과 장애 복구</a:t>
            </a:r>
          </a:p>
        </p:txBody>
      </p:sp>
      <p:sp>
        <p:nvSpPr>
          <p:cNvPr id="3" name="">
            <a:extLst xmlns:a="http://schemas.openxmlformats.org/drawingml/2006/main">
              <a:ext uri="{FF2B5EF4-FFF2-40B4-BE49-F238E27FC236}">
                <a16:creationId xmlns:a16="http://schemas.microsoft.com/office/drawing/2014/main" id="{09D63416-7330-45C7-98F3-50D6CBCDD2D6}"/>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6F763E81-0E22-4DF1-A74C-F0698027038B}"/>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06</a:t>
            </a:r>
          </a:p>
        </p:txBody>
      </p:sp>
      <p:sp>
        <p:nvSpPr>
          <p:cNvPr id="5" name="">
            <a:extLst xmlns:a="http://schemas.openxmlformats.org/drawingml/2006/main">
              <a:ext uri="{FF2B5EF4-FFF2-40B4-BE49-F238E27FC236}">
                <a16:creationId xmlns:a16="http://schemas.microsoft.com/office/drawing/2014/main" id="{79DBCCEC-923A-4028-BA7F-2F05CA5276DA}"/>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서명은 문서의 출처와 무결성을 확인하며, 최신성·복구는 별도 절차로 보강합니다.</a:t>
            </a:r>
          </a:p>
        </p:txBody>
      </p:sp>
      <p:sp>
        <p:nvSpPr>
          <p:cNvPr id="6" name="">
            <a:extLst xmlns:a="http://schemas.openxmlformats.org/drawingml/2006/main">
              <a:ext uri="{FF2B5EF4-FFF2-40B4-BE49-F238E27FC236}">
                <a16:creationId xmlns:a16="http://schemas.microsoft.com/office/drawing/2014/main" id="{3311C8B0-C0B8-4A5D-8049-661E5F7C145F}"/>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BA459409-6A6A-4DBC-B539-B0967D5EF199}"/>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서명·사이트·대상·버전을 검사한 문서만 반영합니다.</a:t>
            </a:r>
          </a:p>
        </p:txBody>
      </p:sp>
      <p:sp>
        <p:nvSpPr>
          <p:cNvPr id="8" name="">
            <a:extLst xmlns:a="http://schemas.openxmlformats.org/drawingml/2006/main">
              <a:ext uri="{FF2B5EF4-FFF2-40B4-BE49-F238E27FC236}">
                <a16:creationId xmlns:a16="http://schemas.microsoft.com/office/drawing/2014/main" id="{09998211-FAFC-4249-BB32-90FDD8B69B37}"/>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7974FC12-0912-4B6D-A553-05193A5712BF}"/>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삭제된 문서는 재PUT 후 확인하도록 복구 경로를 보완합니다.</a:t>
            </a:r>
          </a:p>
        </p:txBody>
      </p:sp>
      <p:sp>
        <p:nvSpPr>
          <p:cNvPr id="10" name="">
            <a:extLst xmlns:a="http://schemas.openxmlformats.org/drawingml/2006/main">
              <a:ext uri="{FF2B5EF4-FFF2-40B4-BE49-F238E27FC236}">
                <a16:creationId xmlns:a16="http://schemas.microsoft.com/office/drawing/2014/main" id="{1A5C8F05-A5CA-42A8-A36C-53FE1BE2C9AC}"/>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462F1583-8DA7-4A1F-A8B1-C30DA99C42DE}"/>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과거 정상 서명 재사용 시험으로 현재 권한이 확대되지 않음을 증명합니다.</a:t>
            </a:r>
          </a:p>
        </p:txBody>
      </p:sp>
    </p:spTree>
    <p:extLst>
      <p:ext uri="{BB962C8B-B14F-4D97-AF65-F5344CB8AC3E}">
        <p14:creationId xmlns:p14="http://schemas.microsoft.com/office/powerpoint/2010/main" val="2029015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52C135E2-1B8B-4107-BA41-DA4107A8AA46}"/>
              </a:ext>
            </a:extLst>
          </p:cNvPr>
          <p:cNvCxnSpPr>
            <a:stCxn xmlns:a="http://schemas.openxmlformats.org/drawingml/2006/main" id="8" idx="3"/>
            <a:endCxn xmlns:a="http://schemas.openxmlformats.org/drawingml/2006/main" id="9" idx="1"/>
          </p:cNvCxnSpPr>
          <p:nvPr/>
        </p:nvCxnSpPr>
        <p:spPr>
          <a:xfrm xmlns:a="http://schemas.openxmlformats.org/drawingml/2006/main">
            <a:off x="874395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cxnSp>
        <p:nvCxnSpPr>
          <p:cNvPr id="11" name="">
            <a:extLst xmlns:a="http://schemas.openxmlformats.org/drawingml/2006/main">
              <a:ext uri="{FF2B5EF4-FFF2-40B4-BE49-F238E27FC236}">
                <a16:creationId xmlns:a16="http://schemas.microsoft.com/office/drawing/2014/main" id="{8876593E-459C-4F9A-B157-DBA704BC6B31}"/>
              </a:ext>
            </a:extLst>
          </p:cNvPr>
          <p:cNvCxnSpPr>
            <a:stCxn xmlns:a="http://schemas.openxmlformats.org/drawingml/2006/main" id="7" idx="3"/>
            <a:endCxn xmlns:a="http://schemas.openxmlformats.org/drawingml/2006/main" id="8" idx="1"/>
          </p:cNvCxnSpPr>
          <p:nvPr/>
        </p:nvCxnSpPr>
        <p:spPr>
          <a:xfrm xmlns:a="http://schemas.openxmlformats.org/drawingml/2006/main">
            <a:off x="590550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cxnSp>
        <p:nvCxnSpPr>
          <p:cNvPr id="10" name="">
            <a:extLst xmlns:a="http://schemas.openxmlformats.org/drawingml/2006/main">
              <a:ext uri="{FF2B5EF4-FFF2-40B4-BE49-F238E27FC236}">
                <a16:creationId xmlns:a16="http://schemas.microsoft.com/office/drawing/2014/main" id="{352CD7B9-4BCC-49C1-A703-B98966B639CE}"/>
              </a:ext>
            </a:extLst>
          </p:cNvPr>
          <p:cNvCxnSpPr>
            <a:stCxn xmlns:a="http://schemas.openxmlformats.org/drawingml/2006/main" id="6" idx="3"/>
            <a:endCxn xmlns:a="http://schemas.openxmlformats.org/drawingml/2006/main" id="7" idx="1"/>
          </p:cNvCxnSpPr>
          <p:nvPr/>
        </p:nvCxnSpPr>
        <p:spPr>
          <a:xfrm xmlns:a="http://schemas.openxmlformats.org/drawingml/2006/main">
            <a:off x="306705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sp>
        <p:nvSpPr>
          <p:cNvPr id="14" name="">
            <a:extLst xmlns:a="http://schemas.openxmlformats.org/drawingml/2006/main">
              <a:ext uri="{FF2B5EF4-FFF2-40B4-BE49-F238E27FC236}">
                <a16:creationId xmlns:a16="http://schemas.microsoft.com/office/drawing/2014/main" id="{E664DE5B-1557-4C7A-AC07-FA1BBB504C9A}"/>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06  구현과 증명</a:t>
            </a:r>
          </a:p>
        </p:txBody>
      </p:sp>
      <p:sp>
        <p:nvSpPr>
          <p:cNvPr id="2" name="">
            <a:extLst xmlns:a="http://schemas.openxmlformats.org/drawingml/2006/main">
              <a:ext uri="{FF2B5EF4-FFF2-40B4-BE49-F238E27FC236}">
                <a16:creationId xmlns:a16="http://schemas.microsoft.com/office/drawing/2014/main" id="{50DC64AA-6E8E-4070-B482-2457C9A09246}"/>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등록부터 팀장 승인까지</a:t>
            </a:r>
          </a:p>
        </p:txBody>
      </p:sp>
      <p:sp>
        <p:nvSpPr>
          <p:cNvPr id="3" name="">
            <a:extLst xmlns:a="http://schemas.openxmlformats.org/drawingml/2006/main">
              <a:ext uri="{FF2B5EF4-FFF2-40B4-BE49-F238E27FC236}">
                <a16:creationId xmlns:a16="http://schemas.microsoft.com/office/drawing/2014/main" id="{C861B22E-9B8E-4F51-BF63-C0092FEC61EA}"/>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5E5DE0BE-712D-4B22-B5B5-7E34B326CCC9}"/>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07</a:t>
            </a:r>
          </a:p>
        </p:txBody>
      </p:sp>
      <p:sp>
        <p:nvSpPr>
          <p:cNvPr id="5" name="">
            <a:extLst xmlns:a="http://schemas.openxmlformats.org/drawingml/2006/main">
              <a:ext uri="{FF2B5EF4-FFF2-40B4-BE49-F238E27FC236}">
                <a16:creationId xmlns:a16="http://schemas.microsoft.com/office/drawing/2014/main" id="{10F0F621-B7C5-4A18-A4BF-BE51F335D35D}"/>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자동 요청은 승인 대기 접수이며 승인 결정을 대신하지 않습니다.</a:t>
            </a:r>
          </a:p>
        </p:txBody>
      </p:sp>
      <p:sp>
        <p:nvSpPr>
          <p:cNvPr id="6" name="">
            <a:extLst xmlns:a="http://schemas.openxmlformats.org/drawingml/2006/main">
              <a:ext uri="{FF2B5EF4-FFF2-40B4-BE49-F238E27FC236}">
                <a16:creationId xmlns:a16="http://schemas.microsoft.com/office/drawing/2014/main" id="{EAA6806C-F424-4F07-8804-9310A9DE99ED}"/>
              </a:ext>
            </a:extLst>
          </p:cNvPr>
          <p:cNvSpPr>
            <a:spLocks xmlns:a="http://schemas.openxmlformats.org/drawingml/2006/main" noGrp="1"/>
          </p:cNvSpPr>
          <p:nvPr/>
        </p:nvSpPr>
        <p:spPr>
          <a:xfrm xmlns:a="http://schemas.openxmlformats.org/drawingml/2006/main">
            <a:off x="6096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기록 등록</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출처 확인</a:t>
            </a:r>
          </a:p>
        </p:txBody>
      </p:sp>
      <p:sp>
        <p:nvSpPr>
          <p:cNvPr id="7" name="">
            <a:extLst xmlns:a="http://schemas.openxmlformats.org/drawingml/2006/main">
              <a:ext uri="{FF2B5EF4-FFF2-40B4-BE49-F238E27FC236}">
                <a16:creationId xmlns:a16="http://schemas.microsoft.com/office/drawing/2014/main" id="{2131160B-6AEE-403C-9384-718920B9AC23}"/>
              </a:ext>
            </a:extLst>
          </p:cNvPr>
          <p:cNvSpPr>
            <a:spLocks xmlns:a="http://schemas.openxmlformats.org/drawingml/2006/main" noGrp="1"/>
          </p:cNvSpPr>
          <p:nvPr/>
        </p:nvSpPr>
        <p:spPr>
          <a:xfrm xmlns:a="http://schemas.openxmlformats.org/drawingml/2006/main">
            <a:off x="34480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팀장 승인</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대상 재확인</a:t>
            </a:r>
          </a:p>
        </p:txBody>
      </p:sp>
      <p:sp>
        <p:nvSpPr>
          <p:cNvPr id="8" name="">
            <a:extLst xmlns:a="http://schemas.openxmlformats.org/drawingml/2006/main">
              <a:ext uri="{FF2B5EF4-FFF2-40B4-BE49-F238E27FC236}">
                <a16:creationId xmlns:a16="http://schemas.microsoft.com/office/drawing/2014/main" id="{4C295494-41FE-48E6-BCAF-4C47D20CAAE2}"/>
              </a:ext>
            </a:extLst>
          </p:cNvPr>
          <p:cNvSpPr>
            <a:spLocks xmlns:a="http://schemas.openxmlformats.org/drawingml/2006/main" noGrp="1"/>
          </p:cNvSpPr>
          <p:nvPr/>
        </p:nvSpPr>
        <p:spPr>
          <a:xfrm xmlns:a="http://schemas.openxmlformats.org/drawingml/2006/main">
            <a:off x="62865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원장 확정</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승인 값 고정</a:t>
            </a:r>
          </a:p>
        </p:txBody>
      </p:sp>
      <p:sp>
        <p:nvSpPr>
          <p:cNvPr id="9" name="">
            <a:extLst xmlns:a="http://schemas.openxmlformats.org/drawingml/2006/main">
              <a:ext uri="{FF2B5EF4-FFF2-40B4-BE49-F238E27FC236}">
                <a16:creationId xmlns:a16="http://schemas.microsoft.com/office/drawing/2014/main" id="{20D786F8-4DBE-40D5-A50B-C3A07B22B362}"/>
              </a:ext>
            </a:extLst>
          </p:cNvPr>
          <p:cNvSpPr>
            <a:spLocks xmlns:a="http://schemas.openxmlformats.org/drawingml/2006/main" noGrp="1"/>
          </p:cNvSpPr>
          <p:nvPr/>
        </p:nvSpPr>
        <p:spPr>
          <a:xfrm xmlns:a="http://schemas.openxmlformats.org/drawingml/2006/main">
            <a:off x="91249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통제 · 게시</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후속 결과 확인</a:t>
            </a:r>
          </a:p>
        </p:txBody>
      </p:sp>
      <p:sp>
        <p:nvSpPr>
          <p:cNvPr id="13" name="">
            <a:extLst xmlns:a="http://schemas.openxmlformats.org/drawingml/2006/main">
              <a:ext uri="{FF2B5EF4-FFF2-40B4-BE49-F238E27FC236}">
                <a16:creationId xmlns:a16="http://schemas.microsoft.com/office/drawing/2014/main" id="{9659A736-0FA1-4769-94F9-054272D8490D}"/>
              </a:ext>
            </a:extLst>
          </p:cNvPr>
          <p:cNvSpPr>
            <a:spLocks xmlns:a="http://schemas.openxmlformats.org/drawingml/2006/main" noGrp="1"/>
          </p:cNvSpPr>
          <p:nvPr/>
        </p:nvSpPr>
        <p:spPr>
          <a:xfrm xmlns:a="http://schemas.openxmlformats.org/drawingml/2006/main">
            <a:off x="609600" y="48577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663"/>
                </a:solidFill>
                <a:latin typeface="Malgun Gothic"/>
                <a:ea typeface="Malgun Gothic"/>
                <a:cs typeface="Malgun Gothic"/>
              </a:defRPr>
            </a:defPPr>
          </a:lstStyle>
          <a:p xmlns:a="http://schemas.openxmlformats.org/drawingml/2006/main">
            <a:pPr>
              <a:defRPr sz="2100" b="0">
                <a:solidFill>
                  <a:srgbClr val="536663"/>
                </a:solidFill>
                <a:latin typeface="Malgun Gothic"/>
                <a:ea typeface="Malgun Gothic"/>
                <a:cs typeface="Malgun Gothic"/>
              </a:defRPr>
            </a:pPr>
            <a:r>
              <a:rPr sz="2100" b="0">
                <a:solidFill>
                  <a:srgbClr val="536663"/>
                </a:solidFill>
                <a:latin typeface="Malgun Gothic"/>
                <a:ea typeface="Malgun Gothic"/>
                <a:cs typeface="Malgun Gothic"/>
              </a:rPr>
              <a:t>자동 접수는 승인 대기 생성입니다. 결정은 승인자가 수행합니다.</a:t>
            </a:r>
          </a:p>
        </p:txBody>
      </p:sp>
    </p:spTree>
    <p:extLst>
      <p:ext uri="{BB962C8B-B14F-4D97-AF65-F5344CB8AC3E}">
        <p14:creationId xmlns:p14="http://schemas.microsoft.com/office/powerpoint/2010/main" val="2092104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1CDF8C-10EC-49ED-A722-0EB3C2DCC0D2}"/>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07  구현과 증명</a:t>
            </a:r>
          </a:p>
        </p:txBody>
      </p:sp>
      <p:sp>
        <p:nvSpPr>
          <p:cNvPr id="2" name="">
            <a:extLst xmlns:a="http://schemas.openxmlformats.org/drawingml/2006/main">
              <a:ext uri="{FF2B5EF4-FFF2-40B4-BE49-F238E27FC236}">
                <a16:creationId xmlns:a16="http://schemas.microsoft.com/office/drawing/2014/main" id="{0F209711-6F97-4401-B0C1-8690AD6514AD}"/>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일괄 승인과 권한 검증</a:t>
            </a:r>
          </a:p>
        </p:txBody>
      </p:sp>
      <p:sp>
        <p:nvSpPr>
          <p:cNvPr id="3" name="">
            <a:extLst xmlns:a="http://schemas.openxmlformats.org/drawingml/2006/main">
              <a:ext uri="{FF2B5EF4-FFF2-40B4-BE49-F238E27FC236}">
                <a16:creationId xmlns:a16="http://schemas.microsoft.com/office/drawing/2014/main" id="{0FF2D367-103A-4E2A-9A0B-012443588647}"/>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B16101ED-E7EE-4838-B1F1-CCCEECAD3930}"/>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08</a:t>
            </a:r>
          </a:p>
        </p:txBody>
      </p:sp>
      <p:sp>
        <p:nvSpPr>
          <p:cNvPr id="5" name="">
            <a:extLst xmlns:a="http://schemas.openxmlformats.org/drawingml/2006/main">
              <a:ext uri="{FF2B5EF4-FFF2-40B4-BE49-F238E27FC236}">
                <a16:creationId xmlns:a16="http://schemas.microsoft.com/office/drawing/2014/main" id="{2615F8F9-CCA1-43F6-AE61-66398CBB8139}"/>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일괄 처리에서도 각 워크로그의 권한과 결정 상태를 개별 검증합니다.</a:t>
            </a:r>
          </a:p>
        </p:txBody>
      </p:sp>
      <p:sp>
        <p:nvSpPr>
          <p:cNvPr id="6" name="">
            <a:extLst xmlns:a="http://schemas.openxmlformats.org/drawingml/2006/main">
              <a:ext uri="{FF2B5EF4-FFF2-40B4-BE49-F238E27FC236}">
                <a16:creationId xmlns:a16="http://schemas.microsoft.com/office/drawing/2014/main" id="{B25D8D93-DCED-4EAD-8272-4C966132D426}"/>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7828A1D2-FF7F-4991-AE7D-D12FEC1EEBF5}"/>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현재 일괄 승인은 지정 결재자 기준으로 구현되어 있습니다.</a:t>
            </a:r>
          </a:p>
        </p:txBody>
      </p:sp>
      <p:sp>
        <p:nvSpPr>
          <p:cNvPr id="8" name="">
            <a:extLst xmlns:a="http://schemas.openxmlformats.org/drawingml/2006/main">
              <a:ext uri="{FF2B5EF4-FFF2-40B4-BE49-F238E27FC236}">
                <a16:creationId xmlns:a16="http://schemas.microsoft.com/office/drawing/2014/main" id="{C6749587-D20A-453E-9D16-06BECDC64590}"/>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A6358985-8F7D-4901-B338-5D7CA5C340E9}"/>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팀장 전용 요구에는 최신 팀장 자격과 팀원 범위를 추가 강제합니다.</a:t>
            </a:r>
          </a:p>
        </p:txBody>
      </p:sp>
      <p:sp>
        <p:nvSpPr>
          <p:cNvPr id="10" name="">
            <a:extLst xmlns:a="http://schemas.openxmlformats.org/drawingml/2006/main">
              <a:ext uri="{FF2B5EF4-FFF2-40B4-BE49-F238E27FC236}">
                <a16:creationId xmlns:a16="http://schemas.microsoft.com/office/drawing/2014/main" id="{1F1CBCAF-5EAD-4858-BE59-B252E080F689}"/>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2A205956-6861-4310-AB80-1E73A36EBFE5}"/>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정상 2건·권한 밖 1건을 섞어 건별 성공과 거부를 증명합니다.</a:t>
            </a:r>
          </a:p>
        </p:txBody>
      </p:sp>
    </p:spTree>
    <p:extLst>
      <p:ext uri="{BB962C8B-B14F-4D97-AF65-F5344CB8AC3E}">
        <p14:creationId xmlns:p14="http://schemas.microsoft.com/office/powerpoint/2010/main" val="6232868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E4F82363-AFA6-4CA7-8723-42AE91419DF1}"/>
              </a:ext>
            </a:extLst>
          </p:cNvPr>
          <p:cNvCxnSpPr>
            <a:stCxn xmlns:a="http://schemas.openxmlformats.org/drawingml/2006/main" id="7" idx="3"/>
            <a:endCxn xmlns:a="http://schemas.openxmlformats.org/drawingml/2006/main" id="8" idx="1"/>
          </p:cNvCxnSpPr>
          <p:nvPr/>
        </p:nvCxnSpPr>
        <p:spPr>
          <a:xfrm xmlns:a="http://schemas.openxmlformats.org/drawingml/2006/main">
            <a:off x="590550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cxnSp>
        <p:nvCxnSpPr>
          <p:cNvPr id="10" name="">
            <a:extLst xmlns:a="http://schemas.openxmlformats.org/drawingml/2006/main">
              <a:ext uri="{FF2B5EF4-FFF2-40B4-BE49-F238E27FC236}">
                <a16:creationId xmlns:a16="http://schemas.microsoft.com/office/drawing/2014/main" id="{7F6BC4DA-1EDD-4183-80A7-7F0CBC638897}"/>
              </a:ext>
            </a:extLst>
          </p:cNvPr>
          <p:cNvCxnSpPr>
            <a:stCxn xmlns:a="http://schemas.openxmlformats.org/drawingml/2006/main" id="6" idx="3"/>
            <a:endCxn xmlns:a="http://schemas.openxmlformats.org/drawingml/2006/main" id="7" idx="1"/>
          </p:cNvCxnSpPr>
          <p:nvPr/>
        </p:nvCxnSpPr>
        <p:spPr>
          <a:xfrm xmlns:a="http://schemas.openxmlformats.org/drawingml/2006/main">
            <a:off x="306705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sp>
        <p:nvSpPr>
          <p:cNvPr id="13" name="">
            <a:extLst xmlns:a="http://schemas.openxmlformats.org/drawingml/2006/main">
              <a:ext uri="{FF2B5EF4-FFF2-40B4-BE49-F238E27FC236}">
                <a16:creationId xmlns:a16="http://schemas.microsoft.com/office/drawing/2014/main" id="{D26FECAA-226F-41E7-B929-8A9995EA3130}"/>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08  구현과 증명</a:t>
            </a:r>
          </a:p>
        </p:txBody>
      </p:sp>
      <p:sp>
        <p:nvSpPr>
          <p:cNvPr id="2" name="">
            <a:extLst xmlns:a="http://schemas.openxmlformats.org/drawingml/2006/main">
              <a:ext uri="{FF2B5EF4-FFF2-40B4-BE49-F238E27FC236}">
                <a16:creationId xmlns:a16="http://schemas.microsoft.com/office/drawing/2014/main" id="{6C126A79-E680-4934-936A-6FC48C4F8791}"/>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승인 후 앱 경로의 수정과 삭제 차단</a:t>
            </a:r>
          </a:p>
        </p:txBody>
      </p:sp>
      <p:sp>
        <p:nvSpPr>
          <p:cNvPr id="3" name="">
            <a:extLst xmlns:a="http://schemas.openxmlformats.org/drawingml/2006/main">
              <a:ext uri="{FF2B5EF4-FFF2-40B4-BE49-F238E27FC236}">
                <a16:creationId xmlns:a16="http://schemas.microsoft.com/office/drawing/2014/main" id="{C30E1F4E-D8D1-4C14-B9C2-F825D8750260}"/>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F0B9F3EE-ED9C-44A6-A1FC-1CCBC5DAD0FB}"/>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09</a:t>
            </a:r>
          </a:p>
        </p:txBody>
      </p:sp>
      <p:sp>
        <p:nvSpPr>
          <p:cNvPr id="5" name="">
            <a:extLst xmlns:a="http://schemas.openxmlformats.org/drawingml/2006/main">
              <a:ext uri="{FF2B5EF4-FFF2-40B4-BE49-F238E27FC236}">
                <a16:creationId xmlns:a16="http://schemas.microsoft.com/office/drawing/2014/main" id="{19D0D77A-150E-4166-B25C-E5D307AF63A4}"/>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Approval 서버가 승인 원장을 검사하여 실제 Jira 변경 호출 전에 거부합니다.</a:t>
            </a:r>
          </a:p>
        </p:txBody>
      </p:sp>
      <p:sp>
        <p:nvSpPr>
          <p:cNvPr id="6" name="">
            <a:extLst xmlns:a="http://schemas.openxmlformats.org/drawingml/2006/main">
              <a:ext uri="{FF2B5EF4-FFF2-40B4-BE49-F238E27FC236}">
                <a16:creationId xmlns:a16="http://schemas.microsoft.com/office/drawing/2014/main" id="{F14DE235-92ED-406C-9A75-E2F35C11E83C}"/>
              </a:ext>
            </a:extLst>
          </p:cNvPr>
          <p:cNvSpPr>
            <a:spLocks xmlns:a="http://schemas.openxmlformats.org/drawingml/2006/main" noGrp="1"/>
          </p:cNvSpPr>
          <p:nvPr/>
        </p:nvSpPr>
        <p:spPr>
          <a:xfrm xmlns:a="http://schemas.openxmlformats.org/drawingml/2006/main">
            <a:off x="6096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수정·삭제 요청</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작성자 확인</a:t>
            </a:r>
          </a:p>
        </p:txBody>
      </p:sp>
      <p:sp>
        <p:nvSpPr>
          <p:cNvPr id="7" name="">
            <a:extLst xmlns:a="http://schemas.openxmlformats.org/drawingml/2006/main">
              <a:ext uri="{FF2B5EF4-FFF2-40B4-BE49-F238E27FC236}">
                <a16:creationId xmlns:a16="http://schemas.microsoft.com/office/drawing/2014/main" id="{A2AD5139-C432-452A-982C-505F98571129}"/>
              </a:ext>
            </a:extLst>
          </p:cNvPr>
          <p:cNvSpPr>
            <a:spLocks xmlns:a="http://schemas.openxmlformats.org/drawingml/2006/main" noGrp="1"/>
          </p:cNvSpPr>
          <p:nvPr/>
        </p:nvSpPr>
        <p:spPr>
          <a:xfrm xmlns:a="http://schemas.openxmlformats.org/drawingml/2006/main">
            <a:off x="34480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현재 원장 검사</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승인 · 기간 잠금</a:t>
            </a:r>
          </a:p>
        </p:txBody>
      </p:sp>
      <p:sp>
        <p:nvSpPr>
          <p:cNvPr id="8" name="">
            <a:extLst xmlns:a="http://schemas.openxmlformats.org/drawingml/2006/main">
              <a:ext uri="{FF2B5EF4-FFF2-40B4-BE49-F238E27FC236}">
                <a16:creationId xmlns:a16="http://schemas.microsoft.com/office/drawing/2014/main" id="{892605D1-1D9F-4EFB-8882-3704F857184B}"/>
              </a:ext>
            </a:extLst>
          </p:cNvPr>
          <p:cNvSpPr>
            <a:spLocks xmlns:a="http://schemas.openxmlformats.org/drawingml/2006/main" noGrp="1"/>
          </p:cNvSpPr>
          <p:nvPr/>
        </p:nvSpPr>
        <p:spPr>
          <a:xfrm xmlns:a="http://schemas.openxmlformats.org/drawingml/2006/main">
            <a:off x="62865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잠금이면 거부</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Jira 변경 안 함</a:t>
            </a:r>
          </a:p>
        </p:txBody>
      </p:sp>
      <p:sp>
        <p:nvSpPr>
          <p:cNvPr id="9" name="">
            <a:extLst xmlns:a="http://schemas.openxmlformats.org/drawingml/2006/main">
              <a:ext uri="{FF2B5EF4-FFF2-40B4-BE49-F238E27FC236}">
                <a16:creationId xmlns:a16="http://schemas.microsoft.com/office/drawing/2014/main" id="{450A6392-4640-40E0-9F3A-85EC4A42F6D0}"/>
              </a:ext>
            </a:extLst>
          </p:cNvPr>
          <p:cNvSpPr>
            <a:spLocks xmlns:a="http://schemas.openxmlformats.org/drawingml/2006/main" noGrp="1"/>
          </p:cNvSpPr>
          <p:nvPr/>
        </p:nvSpPr>
        <p:spPr>
          <a:xfrm xmlns:a="http://schemas.openxmlformats.org/drawingml/2006/main">
            <a:off x="91249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직접 경로 통제</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visibility 검증</a:t>
            </a:r>
          </a:p>
        </p:txBody>
      </p:sp>
      <p:sp>
        <p:nvSpPr>
          <p:cNvPr id="12" name="">
            <a:extLst xmlns:a="http://schemas.openxmlformats.org/drawingml/2006/main">
              <a:ext uri="{FF2B5EF4-FFF2-40B4-BE49-F238E27FC236}">
                <a16:creationId xmlns:a16="http://schemas.microsoft.com/office/drawing/2014/main" id="{66BE4A05-B6F4-4A8C-9F72-EF3F06E752A7}"/>
              </a:ext>
            </a:extLst>
          </p:cNvPr>
          <p:cNvSpPr>
            <a:spLocks xmlns:a="http://schemas.openxmlformats.org/drawingml/2006/main" noGrp="1"/>
          </p:cNvSpPr>
          <p:nvPr/>
        </p:nvSpPr>
        <p:spPr>
          <a:xfrm xmlns:a="http://schemas.openxmlformats.org/drawingml/2006/main">
            <a:off x="609600" y="48577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663"/>
                </a:solidFill>
                <a:latin typeface="Malgun Gothic"/>
                <a:ea typeface="Malgun Gothic"/>
                <a:cs typeface="Malgun Gothic"/>
              </a:defRPr>
            </a:defPPr>
          </a:lstStyle>
          <a:p xmlns:a="http://schemas.openxmlformats.org/drawingml/2006/main">
            <a:pPr>
              <a:defRPr sz="2100" b="0">
                <a:solidFill>
                  <a:srgbClr val="536663"/>
                </a:solidFill>
                <a:latin typeface="Malgun Gothic"/>
                <a:ea typeface="Malgun Gothic"/>
                <a:cs typeface="Malgun Gothic"/>
              </a:defRPr>
            </a:pPr>
            <a:r>
              <a:rPr sz="2100" b="0">
                <a:solidFill>
                  <a:srgbClr val="536663"/>
                </a:solidFill>
                <a:latin typeface="Malgun Gothic"/>
                <a:ea typeface="Malgun Gothic"/>
                <a:cs typeface="Malgun Gothic"/>
              </a:rPr>
              <a:t>승인 저장과 Jira 제한 적용은 비동기입니다. 동시 수정 시험을 별도로 수행합니다.</a:t>
            </a:r>
          </a:p>
        </p:txBody>
      </p:sp>
    </p:spTree>
    <p:extLst>
      <p:ext uri="{BB962C8B-B14F-4D97-AF65-F5344CB8AC3E}">
        <p14:creationId xmlns:p14="http://schemas.microsoft.com/office/powerpoint/2010/main" val="11721602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360111-055F-4B3E-A871-40B6DFE7BBB5}"/>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09  구현과 증명</a:t>
            </a:r>
          </a:p>
        </p:txBody>
      </p:sp>
      <p:sp>
        <p:nvSpPr>
          <p:cNvPr id="2" name="">
            <a:extLst xmlns:a="http://schemas.openxmlformats.org/drawingml/2006/main">
              <a:ext uri="{FF2B5EF4-FFF2-40B4-BE49-F238E27FC236}">
                <a16:creationId xmlns:a16="http://schemas.microsoft.com/office/drawing/2014/main" id="{2A39636A-78A8-47EF-A9BE-3BBAA172B921}"/>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Jira 직접 경로의 수정과 삭제 통제</a:t>
            </a:r>
          </a:p>
        </p:txBody>
      </p:sp>
      <p:sp>
        <p:nvSpPr>
          <p:cNvPr id="3" name="">
            <a:extLst xmlns:a="http://schemas.openxmlformats.org/drawingml/2006/main">
              <a:ext uri="{FF2B5EF4-FFF2-40B4-BE49-F238E27FC236}">
                <a16:creationId xmlns:a16="http://schemas.microsoft.com/office/drawing/2014/main" id="{F7106D14-51E7-4E69-A5C5-5405C77A0B48}"/>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D1CCD2BA-CBB5-4849-81B7-D13DD50D239F}"/>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10</a:t>
            </a:r>
          </a:p>
        </p:txBody>
      </p:sp>
      <p:sp>
        <p:nvSpPr>
          <p:cNvPr id="5" name="">
            <a:extLst xmlns:a="http://schemas.openxmlformats.org/drawingml/2006/main">
              <a:ext uri="{FF2B5EF4-FFF2-40B4-BE49-F238E27FC236}">
                <a16:creationId xmlns:a16="http://schemas.microsoft.com/office/drawing/2014/main" id="{F2268A2D-3BC5-4D7B-8202-11E17502A202}"/>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기존 승인 기록의 visibility를 제한하고 사용자 계정의 직접 요청으로 차단 효과를 검증합니다.</a:t>
            </a:r>
          </a:p>
        </p:txBody>
      </p:sp>
      <p:sp>
        <p:nvSpPr>
          <p:cNvPr id="6" name="">
            <a:extLst xmlns:a="http://schemas.openxmlformats.org/drawingml/2006/main">
              <a:ext uri="{FF2B5EF4-FFF2-40B4-BE49-F238E27FC236}">
                <a16:creationId xmlns:a16="http://schemas.microsoft.com/office/drawing/2014/main" id="{AA178152-CCFC-47BE-89A9-C5AB80529871}"/>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42C31E91-3C55-4436-90A3-5166D78C69A0}"/>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워크로그 visibility를 앱 접근 역할로 제한합니다.</a:t>
            </a:r>
          </a:p>
        </p:txBody>
      </p:sp>
      <p:sp>
        <p:nvSpPr>
          <p:cNvPr id="8" name="">
            <a:extLst xmlns:a="http://schemas.openxmlformats.org/drawingml/2006/main">
              <a:ext uri="{FF2B5EF4-FFF2-40B4-BE49-F238E27FC236}">
                <a16:creationId xmlns:a16="http://schemas.microsoft.com/office/drawing/2014/main" id="{CCD75EE8-617F-43B0-9020-74B6E474A278}"/>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B4C01C53-478C-49DF-A0AB-ED74120DA16E}"/>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일반 작성자의 PUT·DELETE·제한 해제 요청으로 시험합니다.</a:t>
            </a:r>
          </a:p>
        </p:txBody>
      </p:sp>
      <p:sp>
        <p:nvSpPr>
          <p:cNvPr id="10" name="">
            <a:extLst xmlns:a="http://schemas.openxmlformats.org/drawingml/2006/main">
              <a:ext uri="{FF2B5EF4-FFF2-40B4-BE49-F238E27FC236}">
                <a16:creationId xmlns:a16="http://schemas.microsoft.com/office/drawing/2014/main" id="{35EBC4D3-1DD1-4A22-A5DE-6E42A2DE7B02}"/>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22C6EB01-FCAE-47C5-86F2-482793F45AE8}"/>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권한 거부와 원본 유지를 함께 확인합니다. 404 하나로 합격하지 않습니다.</a:t>
            </a:r>
          </a:p>
        </p:txBody>
      </p:sp>
    </p:spTree>
    <p:extLst>
      <p:ext uri="{BB962C8B-B14F-4D97-AF65-F5344CB8AC3E}">
        <p14:creationId xmlns:p14="http://schemas.microsoft.com/office/powerpoint/2010/main" val="8563176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45ACA0-850D-4569-8560-6CE486654487}"/>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10  구현과 증명</a:t>
            </a:r>
          </a:p>
        </p:txBody>
      </p:sp>
      <p:sp>
        <p:nvSpPr>
          <p:cNvPr id="2" name="">
            <a:extLst xmlns:a="http://schemas.openxmlformats.org/drawingml/2006/main">
              <a:ext uri="{FF2B5EF4-FFF2-40B4-BE49-F238E27FC236}">
                <a16:creationId xmlns:a16="http://schemas.microsoft.com/office/drawing/2014/main" id="{3E74DDAA-C5F3-443B-8B1C-364C6F106C1F}"/>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기간 마감과 외부 신규 입력 처리</a:t>
            </a:r>
          </a:p>
        </p:txBody>
      </p:sp>
      <p:sp>
        <p:nvSpPr>
          <p:cNvPr id="3" name="">
            <a:extLst xmlns:a="http://schemas.openxmlformats.org/drawingml/2006/main">
              <a:ext uri="{FF2B5EF4-FFF2-40B4-BE49-F238E27FC236}">
                <a16:creationId xmlns:a16="http://schemas.microsoft.com/office/drawing/2014/main" id="{BC132127-6B60-40A8-AE4B-C432DBA7A87A}"/>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59A9F10E-F090-40E2-9317-8037B7A81B58}"/>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11</a:t>
            </a:r>
          </a:p>
        </p:txBody>
      </p:sp>
      <p:sp>
        <p:nvSpPr>
          <p:cNvPr id="5" name="">
            <a:extLst xmlns:a="http://schemas.openxmlformats.org/drawingml/2006/main">
              <a:ext uri="{FF2B5EF4-FFF2-40B4-BE49-F238E27FC236}">
                <a16:creationId xmlns:a16="http://schemas.microsoft.com/office/drawing/2014/main" id="{52C3A6FF-E31A-4D3E-A6ED-F52A92BB814C}"/>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건별 승인은 해당 기록을 잠그고, 기간 마감은 기간 내 앱 쓰기를 제한합니다.</a:t>
            </a:r>
          </a:p>
        </p:txBody>
      </p:sp>
      <p:sp>
        <p:nvSpPr>
          <p:cNvPr id="6" name="">
            <a:extLst xmlns:a="http://schemas.openxmlformats.org/drawingml/2006/main">
              <a:ext uri="{FF2B5EF4-FFF2-40B4-BE49-F238E27FC236}">
                <a16:creationId xmlns:a16="http://schemas.microsoft.com/office/drawing/2014/main" id="{F9CF7814-B0F6-4178-A3DC-125DC420D741}"/>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95119C2C-20CC-418C-AC7A-386F138109FE}"/>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앱 경로: 마감 기간의 추가·수정·삭제를 서버가 거부합니다.</a:t>
            </a:r>
          </a:p>
        </p:txBody>
      </p:sp>
      <p:sp>
        <p:nvSpPr>
          <p:cNvPr id="8" name="">
            <a:extLst xmlns:a="http://schemas.openxmlformats.org/drawingml/2006/main">
              <a:ext uri="{FF2B5EF4-FFF2-40B4-BE49-F238E27FC236}">
                <a16:creationId xmlns:a16="http://schemas.microsoft.com/office/drawing/2014/main" id="{BC037AFA-2E95-4F2F-B1CA-B6FFA6973CBE}"/>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78E17F14-36F2-43DA-BF15-072796061BD4}"/>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기본 UI: 시간 추적 제공자로 대체합니다. REST 차단과는 별개입니다.</a:t>
            </a:r>
          </a:p>
        </p:txBody>
      </p:sp>
      <p:sp>
        <p:nvSpPr>
          <p:cNvPr id="10" name="">
            <a:extLst xmlns:a="http://schemas.openxmlformats.org/drawingml/2006/main">
              <a:ext uri="{FF2B5EF4-FFF2-40B4-BE49-F238E27FC236}">
                <a16:creationId xmlns:a16="http://schemas.microsoft.com/office/drawing/2014/main" id="{56C5F163-6D04-43A6-8F8F-8D25D87134F8}"/>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0433AB94-64AA-427D-BEEC-C5B8F243CB49}"/>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외부 신규 입력: 생성 후 감지·조치입니다. 전 경로 사전 차단으로 약속하지 않습니다.</a:t>
            </a:r>
          </a:p>
        </p:txBody>
      </p:sp>
    </p:spTree>
    <p:extLst>
      <p:ext uri="{BB962C8B-B14F-4D97-AF65-F5344CB8AC3E}">
        <p14:creationId xmlns:p14="http://schemas.microsoft.com/office/powerpoint/2010/main" val="2464893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EFA202-988C-4B1A-9533-E467FA61B6AD}"/>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11  구현과 증명</a:t>
            </a:r>
          </a:p>
        </p:txBody>
      </p:sp>
      <p:sp>
        <p:nvSpPr>
          <p:cNvPr id="2" name="">
            <a:extLst xmlns:a="http://schemas.openxmlformats.org/drawingml/2006/main">
              <a:ext uri="{FF2B5EF4-FFF2-40B4-BE49-F238E27FC236}">
                <a16:creationId xmlns:a16="http://schemas.microsoft.com/office/drawing/2014/main" id="{42CF0BFB-06E1-4F2A-8FA9-79CD7FDDD3FF}"/>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변경 이력과 승인 증거 보존</a:t>
            </a:r>
          </a:p>
        </p:txBody>
      </p:sp>
      <p:sp>
        <p:nvSpPr>
          <p:cNvPr id="3" name="">
            <a:extLst xmlns:a="http://schemas.openxmlformats.org/drawingml/2006/main">
              <a:ext uri="{FF2B5EF4-FFF2-40B4-BE49-F238E27FC236}">
                <a16:creationId xmlns:a16="http://schemas.microsoft.com/office/drawing/2014/main" id="{63B0D8EC-6D1C-4A4F-B182-0C3CD851EB3E}"/>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CB346397-AFFD-4BD2-9E2B-270193636ABE}"/>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12</a:t>
            </a:r>
          </a:p>
        </p:txBody>
      </p:sp>
      <p:sp>
        <p:nvSpPr>
          <p:cNvPr id="5" name="">
            <a:extLst xmlns:a="http://schemas.openxmlformats.org/drawingml/2006/main">
              <a:ext uri="{FF2B5EF4-FFF2-40B4-BE49-F238E27FC236}">
                <a16:creationId xmlns:a16="http://schemas.microsoft.com/office/drawing/2014/main" id="{B45F1413-7D54-4549-B4BA-22066CDAD780}"/>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현재 Jira 값과 승인 당시 값을 함께 보관하여 누가 무엇을 바꾸었는지 설명합니다.</a:t>
            </a:r>
          </a:p>
        </p:txBody>
      </p:sp>
      <p:sp>
        <p:nvSpPr>
          <p:cNvPr id="6" name="">
            <a:extLst xmlns:a="http://schemas.openxmlformats.org/drawingml/2006/main">
              <a:ext uri="{FF2B5EF4-FFF2-40B4-BE49-F238E27FC236}">
                <a16:creationId xmlns:a16="http://schemas.microsoft.com/office/drawing/2014/main" id="{963A6923-A6D3-4009-8B45-02A3A5FB5F73}"/>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83C1832B-5E07-4CDE-ACCB-C959B62D4D0D}"/>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앱 쓰기·Jira 이벤트·누락 보정으로 변경 전후 값을 기록합니다.</a:t>
            </a:r>
          </a:p>
        </p:txBody>
      </p:sp>
      <p:sp>
        <p:nvSpPr>
          <p:cNvPr id="8" name="">
            <a:extLst xmlns:a="http://schemas.openxmlformats.org/drawingml/2006/main">
              <a:ext uri="{FF2B5EF4-FFF2-40B4-BE49-F238E27FC236}">
                <a16:creationId xmlns:a16="http://schemas.microsoft.com/office/drawing/2014/main" id="{BA446ED7-7726-4DC3-8A51-978B4A13A703}"/>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DC94C807-08B1-4C71-8FFE-3385E4220CFC}"/>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2시간 → 3시간 → 2시간 → 삭제를 실행하여 행위자와 수정 2회를 확인합니다.</a:t>
            </a:r>
          </a:p>
        </p:txBody>
      </p:sp>
      <p:sp>
        <p:nvSpPr>
          <p:cNvPr id="10" name="">
            <a:extLst xmlns:a="http://schemas.openxmlformats.org/drawingml/2006/main">
              <a:ext uri="{FF2B5EF4-FFF2-40B4-BE49-F238E27FC236}">
                <a16:creationId xmlns:a16="http://schemas.microsoft.com/office/drawing/2014/main" id="{DC854922-5961-4052-8AB5-8A972E729423}"/>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DE9396CC-D064-46D5-8275-50D11F1AE92C}"/>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승인 당시 값은 유지합니다. 관측 이전·중간 누락 변경의 복원은 보장하지 않습니다.</a:t>
            </a:r>
          </a:p>
        </p:txBody>
      </p:sp>
    </p:spTree>
    <p:extLst>
      <p:ext uri="{BB962C8B-B14F-4D97-AF65-F5344CB8AC3E}">
        <p14:creationId xmlns:p14="http://schemas.microsoft.com/office/powerpoint/2010/main" val="1433168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D5D0D760-DE8F-424D-8247-12ED5E6A3493}"/>
              </a:ext>
            </a:extLst>
          </p:cNvPr>
          <p:cNvCxnSpPr>
            <a:stCxn xmlns:a="http://schemas.openxmlformats.org/drawingml/2006/main" id="8" idx="3"/>
            <a:endCxn xmlns:a="http://schemas.openxmlformats.org/drawingml/2006/main" id="9" idx="1"/>
          </p:cNvCxnSpPr>
          <p:nvPr/>
        </p:nvCxnSpPr>
        <p:spPr>
          <a:xfrm xmlns:a="http://schemas.openxmlformats.org/drawingml/2006/main">
            <a:off x="874395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cxnSp>
        <p:nvCxnSpPr>
          <p:cNvPr id="11" name="">
            <a:extLst xmlns:a="http://schemas.openxmlformats.org/drawingml/2006/main">
              <a:ext uri="{FF2B5EF4-FFF2-40B4-BE49-F238E27FC236}">
                <a16:creationId xmlns:a16="http://schemas.microsoft.com/office/drawing/2014/main" id="{DE52713D-4736-4871-BE81-8D08690D738F}"/>
              </a:ext>
            </a:extLst>
          </p:cNvPr>
          <p:cNvCxnSpPr>
            <a:stCxn xmlns:a="http://schemas.openxmlformats.org/drawingml/2006/main" id="7" idx="3"/>
            <a:endCxn xmlns:a="http://schemas.openxmlformats.org/drawingml/2006/main" id="8" idx="1"/>
          </p:cNvCxnSpPr>
          <p:nvPr/>
        </p:nvCxnSpPr>
        <p:spPr>
          <a:xfrm xmlns:a="http://schemas.openxmlformats.org/drawingml/2006/main">
            <a:off x="590550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cxnSp>
        <p:nvCxnSpPr>
          <p:cNvPr id="10" name="">
            <a:extLst xmlns:a="http://schemas.openxmlformats.org/drawingml/2006/main">
              <a:ext uri="{FF2B5EF4-FFF2-40B4-BE49-F238E27FC236}">
                <a16:creationId xmlns:a16="http://schemas.microsoft.com/office/drawing/2014/main" id="{4570D4D2-E5BF-4738-B934-1FBE3A0E89CF}"/>
              </a:ext>
            </a:extLst>
          </p:cNvPr>
          <p:cNvCxnSpPr>
            <a:stCxn xmlns:a="http://schemas.openxmlformats.org/drawingml/2006/main" id="6" idx="3"/>
            <a:endCxn xmlns:a="http://schemas.openxmlformats.org/drawingml/2006/main" id="7" idx="1"/>
          </p:cNvCxnSpPr>
          <p:nvPr/>
        </p:nvCxnSpPr>
        <p:spPr>
          <a:xfrm xmlns:a="http://schemas.openxmlformats.org/drawingml/2006/main">
            <a:off x="3067050" y="3295650"/>
            <a:ext cx="381000" cy="0"/>
          </a:xfrm>
          <a:prstGeom xmlns:a="http://schemas.openxmlformats.org/drawingml/2006/main" prst="straightConnector1">
            <a:avLst/>
          </a:prstGeom>
          <a:ln xmlns:a="http://schemas.openxmlformats.org/drawingml/2006/main" w="19050">
            <a:solidFill>
              <a:srgbClr val="147D73"/>
            </a:solidFill>
            <a:headEnd type="none" w="med" len="med"/>
            <a:tailEnd type="arrow" w="med" len="med"/>
          </a:ln>
        </p:spPr>
      </p:cxnSp>
      <p:sp>
        <p:nvSpPr>
          <p:cNvPr id="14" name="">
            <a:extLst xmlns:a="http://schemas.openxmlformats.org/drawingml/2006/main">
              <a:ext uri="{FF2B5EF4-FFF2-40B4-BE49-F238E27FC236}">
                <a16:creationId xmlns:a16="http://schemas.microsoft.com/office/drawing/2014/main" id="{3EC7A1B8-1B1C-49EA-8CC8-BCE7E0E5D8EE}"/>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12  구현과 증명</a:t>
            </a:r>
          </a:p>
        </p:txBody>
      </p:sp>
      <p:sp>
        <p:nvSpPr>
          <p:cNvPr id="2" name="">
            <a:extLst xmlns:a="http://schemas.openxmlformats.org/drawingml/2006/main">
              <a:ext uri="{FF2B5EF4-FFF2-40B4-BE49-F238E27FC236}">
                <a16:creationId xmlns:a16="http://schemas.microsoft.com/office/drawing/2014/main" id="{2D237872-0E81-409F-ADDE-C97996A8D305}"/>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Workforce 집계와 정산 반영</a:t>
            </a:r>
          </a:p>
        </p:txBody>
      </p:sp>
      <p:sp>
        <p:nvSpPr>
          <p:cNvPr id="3" name="">
            <a:extLst xmlns:a="http://schemas.openxmlformats.org/drawingml/2006/main">
              <a:ext uri="{FF2B5EF4-FFF2-40B4-BE49-F238E27FC236}">
                <a16:creationId xmlns:a16="http://schemas.microsoft.com/office/drawing/2014/main" id="{89130398-5629-4675-94F7-55652285F310}"/>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B636F1B7-65D3-4013-9941-5AF54BF83618}"/>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13</a:t>
            </a:r>
          </a:p>
        </p:txBody>
      </p:sp>
      <p:sp>
        <p:nvSpPr>
          <p:cNvPr id="5" name="">
            <a:extLst xmlns:a="http://schemas.openxmlformats.org/drawingml/2006/main">
              <a:ext uri="{FF2B5EF4-FFF2-40B4-BE49-F238E27FC236}">
                <a16:creationId xmlns:a16="http://schemas.microsoft.com/office/drawing/2014/main" id="{341322AB-C3D2-41B9-BA84-FA5A033030D3}"/>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기록된 시간과 승인 인정 시간을 구분하고 원장·프로퍼티·집계를 대조합니다.</a:t>
            </a:r>
          </a:p>
        </p:txBody>
      </p:sp>
      <p:sp>
        <p:nvSpPr>
          <p:cNvPr id="6" name="">
            <a:extLst xmlns:a="http://schemas.openxmlformats.org/drawingml/2006/main">
              <a:ext uri="{FF2B5EF4-FFF2-40B4-BE49-F238E27FC236}">
                <a16:creationId xmlns:a16="http://schemas.microsoft.com/office/drawing/2014/main" id="{23BB5681-2856-4D11-B1F2-DF8BDD623F0F}"/>
              </a:ext>
            </a:extLst>
          </p:cNvPr>
          <p:cNvSpPr>
            <a:spLocks xmlns:a="http://schemas.openxmlformats.org/drawingml/2006/main" noGrp="1"/>
          </p:cNvSpPr>
          <p:nvPr/>
        </p:nvSpPr>
        <p:spPr>
          <a:xfrm xmlns:a="http://schemas.openxmlformats.org/drawingml/2006/main">
            <a:off x="6096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Approval 원장</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결정 · 확정 시간</a:t>
            </a:r>
          </a:p>
        </p:txBody>
      </p:sp>
      <p:sp>
        <p:nvSpPr>
          <p:cNvPr id="7" name="">
            <a:extLst xmlns:a="http://schemas.openxmlformats.org/drawingml/2006/main">
              <a:ext uri="{FF2B5EF4-FFF2-40B4-BE49-F238E27FC236}">
                <a16:creationId xmlns:a16="http://schemas.microsoft.com/office/drawing/2014/main" id="{5D377062-9B92-4764-9FBD-B60F7408AB9A}"/>
              </a:ext>
            </a:extLst>
          </p:cNvPr>
          <p:cNvSpPr>
            <a:spLocks xmlns:a="http://schemas.openxmlformats.org/drawingml/2006/main" noGrp="1"/>
          </p:cNvSpPr>
          <p:nvPr/>
        </p:nvSpPr>
        <p:spPr>
          <a:xfrm xmlns:a="http://schemas.openxmlformats.org/drawingml/2006/main">
            <a:off x="34480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서명 문서 게시</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사용자 × 월</a:t>
            </a:r>
          </a:p>
        </p:txBody>
      </p:sp>
      <p:sp>
        <p:nvSpPr>
          <p:cNvPr id="8" name="">
            <a:extLst xmlns:a="http://schemas.openxmlformats.org/drawingml/2006/main">
              <a:ext uri="{FF2B5EF4-FFF2-40B4-BE49-F238E27FC236}">
                <a16:creationId xmlns:a16="http://schemas.microsoft.com/office/drawing/2014/main" id="{836FA79B-0B1C-4BF2-A93C-C9937F0AE628}"/>
              </a:ext>
            </a:extLst>
          </p:cNvPr>
          <p:cNvSpPr>
            <a:spLocks xmlns:a="http://schemas.openxmlformats.org/drawingml/2006/main" noGrp="1"/>
          </p:cNvSpPr>
          <p:nvPr/>
        </p:nvSpPr>
        <p:spPr>
          <a:xfrm xmlns:a="http://schemas.openxmlformats.org/drawingml/2006/main">
            <a:off x="628650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Workforce 검증</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범위 · 완전성</a:t>
            </a:r>
          </a:p>
        </p:txBody>
      </p:sp>
      <p:sp>
        <p:nvSpPr>
          <p:cNvPr id="9" name="">
            <a:extLst xmlns:a="http://schemas.openxmlformats.org/drawingml/2006/main">
              <a:ext uri="{FF2B5EF4-FFF2-40B4-BE49-F238E27FC236}">
                <a16:creationId xmlns:a16="http://schemas.microsoft.com/office/drawing/2014/main" id="{F886ABB6-2062-475A-ABDC-CF84449ADF79}"/>
              </a:ext>
            </a:extLst>
          </p:cNvPr>
          <p:cNvSpPr>
            <a:spLocks xmlns:a="http://schemas.openxmlformats.org/drawingml/2006/main" noGrp="1"/>
          </p:cNvSpPr>
          <p:nvPr/>
        </p:nvSpPr>
        <p:spPr>
          <a:xfrm xmlns:a="http://schemas.openxmlformats.org/drawingml/2006/main">
            <a:off x="9124950" y="2571750"/>
            <a:ext cx="2457450" cy="1447800"/>
          </a:xfrm>
          <a:prstGeom xmlns:a="http://schemas.openxmlformats.org/drawingml/2006/main" prst="rect">
            <a:avLst/>
          </a:prstGeom>
          <a:solidFill xmlns:a="http://schemas.openxmlformats.org/drawingml/2006/main">
            <a:srgbClr val="EFF6F4"/>
          </a:solidFill>
          <a:ln xmlns:a="http://schemas.openxmlformats.org/drawingml/2006/main" w="14288">
            <a:solidFill>
              <a:srgbClr val="147D73"/>
            </a:solidFill>
          </a:ln>
        </p:spPr>
        <p:txBody>
          <a:bodyPr xmlns:a="http://schemas.openxmlformats.org/drawingml/2006/main" lIns="152400" tIns="152400" rIns="152400" bIns="152400" anchor="ctr"/>
          <a:lstStyle xmlns:a="http://schemas.openxmlformats.org/drawingml/2006/main">
            <a:defPPr algn="ctr">
              <a:defRPr sz="1950" b="1">
                <a:solidFill>
                  <a:srgbClr val="143F3B"/>
                </a:solidFill>
                <a:latin typeface="Malgun Gothic"/>
                <a:ea typeface="Malgun Gothic"/>
                <a:cs typeface="Malgun Gothic"/>
              </a:defRPr>
            </a:defPPr>
          </a:lstStyle>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집계 대사</a:t>
            </a:r>
          </a:p>
          <a:p xmlns:a="http://schemas.openxmlformats.org/drawingml/2006/main">
            <a:pPr algn="ctr">
              <a:defRPr sz="1950" b="1">
                <a:solidFill>
                  <a:srgbClr val="143F3B"/>
                </a:solidFill>
                <a:latin typeface="Malgun Gothic"/>
                <a:ea typeface="Malgun Gothic"/>
                <a:cs typeface="Malgun Gothic"/>
              </a:defRPr>
            </a:pPr>
            <a:r>
              <a:rPr sz="1950" b="1">
                <a:solidFill>
                  <a:srgbClr val="143F3B"/>
                </a:solidFill>
                <a:latin typeface="Malgun Gothic"/>
                <a:ea typeface="Malgun Gothic"/>
                <a:cs typeface="Malgun Gothic"/>
              </a:rPr>
              <a:t>건수 · 승인 시간</a:t>
            </a:r>
          </a:p>
        </p:txBody>
      </p:sp>
      <p:sp>
        <p:nvSpPr>
          <p:cNvPr id="13" name="">
            <a:extLst xmlns:a="http://schemas.openxmlformats.org/drawingml/2006/main">
              <a:ext uri="{FF2B5EF4-FFF2-40B4-BE49-F238E27FC236}">
                <a16:creationId xmlns:a16="http://schemas.microsoft.com/office/drawing/2014/main" id="{7DD2F341-A319-4FFE-B704-5420C7765B53}"/>
              </a:ext>
            </a:extLst>
          </p:cNvPr>
          <p:cNvSpPr>
            <a:spLocks xmlns:a="http://schemas.openxmlformats.org/drawingml/2006/main" noGrp="1"/>
          </p:cNvSpPr>
          <p:nvPr/>
        </p:nvSpPr>
        <p:spPr>
          <a:xfrm xmlns:a="http://schemas.openxmlformats.org/drawingml/2006/main">
            <a:off x="609600" y="48577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663"/>
                </a:solidFill>
                <a:latin typeface="Malgun Gothic"/>
                <a:ea typeface="Malgun Gothic"/>
                <a:cs typeface="Malgun Gothic"/>
              </a:defRPr>
            </a:defPPr>
          </a:lstStyle>
          <a:p xmlns:a="http://schemas.openxmlformats.org/drawingml/2006/main">
            <a:pPr>
              <a:defRPr sz="2100" b="0">
                <a:solidFill>
                  <a:srgbClr val="536663"/>
                </a:solidFill>
                <a:latin typeface="Malgun Gothic"/>
                <a:ea typeface="Malgun Gothic"/>
                <a:cs typeface="Malgun Gothic"/>
              </a:defRPr>
            </a:pPr>
            <a:r>
              <a:rPr sz="2100" b="0">
                <a:solidFill>
                  <a:srgbClr val="536663"/>
                </a:solidFill>
                <a:latin typeface="Malgun Gothic"/>
                <a:ea typeface="Malgun Gothic"/>
                <a:cs typeface="Malgun Gothic"/>
              </a:rPr>
              <a:t>문서 누락·잘림·검증 실패를 승인된 값으로 추정하지 않습니다.</a:t>
            </a:r>
          </a:p>
        </p:txBody>
      </p:sp>
    </p:spTree>
    <p:extLst>
      <p:ext uri="{BB962C8B-B14F-4D97-AF65-F5344CB8AC3E}">
        <p14:creationId xmlns:p14="http://schemas.microsoft.com/office/powerpoint/2010/main" val="4320305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7227AF-4A70-446E-8A3E-DB3FB4E19CF4}"/>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13  구현과 증명</a:t>
            </a:r>
          </a:p>
        </p:txBody>
      </p:sp>
      <p:sp>
        <p:nvSpPr>
          <p:cNvPr id="2" name="">
            <a:extLst xmlns:a="http://schemas.openxmlformats.org/drawingml/2006/main">
              <a:ext uri="{FF2B5EF4-FFF2-40B4-BE49-F238E27FC236}">
                <a16:creationId xmlns:a16="http://schemas.microsoft.com/office/drawing/2014/main" id="{A9D54241-9963-42D6-9F55-C61A80F6E8FC}"/>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SAP 및 사용자 관리 요구의 구현</a:t>
            </a:r>
          </a:p>
        </p:txBody>
      </p:sp>
      <p:sp>
        <p:nvSpPr>
          <p:cNvPr id="3" name="">
            <a:extLst xmlns:a="http://schemas.openxmlformats.org/drawingml/2006/main">
              <a:ext uri="{FF2B5EF4-FFF2-40B4-BE49-F238E27FC236}">
                <a16:creationId xmlns:a16="http://schemas.microsoft.com/office/drawing/2014/main" id="{43D65FE5-CF71-4CFF-A835-FCF6C780B1CA}"/>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DBDF5B04-2878-4645-8795-529148A6DE51}"/>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14</a:t>
            </a:r>
          </a:p>
        </p:txBody>
      </p:sp>
      <p:sp>
        <p:nvSpPr>
          <p:cNvPr id="5" name="">
            <a:extLst xmlns:a="http://schemas.openxmlformats.org/drawingml/2006/main">
              <a:ext uri="{FF2B5EF4-FFF2-40B4-BE49-F238E27FC236}">
                <a16:creationId xmlns:a16="http://schemas.microsoft.com/office/drawing/2014/main" id="{4F26F229-D2E1-4D57-BC0B-32DF7BC9F306}"/>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기존 파일 기능을 먼저 활용하고 자동화 경로는 별도 구현 단위로 제공합니다.</a:t>
            </a:r>
          </a:p>
        </p:txBody>
      </p:sp>
      <p:sp>
        <p:nvSpPr>
          <p:cNvPr id="6" name="">
            <a:extLst xmlns:a="http://schemas.openxmlformats.org/drawingml/2006/main">
              <a:ext uri="{FF2B5EF4-FFF2-40B4-BE49-F238E27FC236}">
                <a16:creationId xmlns:a16="http://schemas.microsoft.com/office/drawing/2014/main" id="{157791D5-69D4-4CF4-ACC7-27BD88802CF4}"/>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9F018B03-BDCB-418D-BEEE-9076CFC2BB60}"/>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SAP: 기존 xlsx 추출에 필드 매핑과 승인 결과 대사를 추가합니다.</a:t>
            </a:r>
          </a:p>
        </p:txBody>
      </p:sp>
      <p:sp>
        <p:nvSpPr>
          <p:cNvPr id="8" name="">
            <a:extLst xmlns:a="http://schemas.openxmlformats.org/drawingml/2006/main">
              <a:ext uri="{FF2B5EF4-FFF2-40B4-BE49-F238E27FC236}">
                <a16:creationId xmlns:a16="http://schemas.microsoft.com/office/drawing/2014/main" id="{AB66C39C-69F2-420C-B6B7-F87F4C0A2848}"/>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A114857A-338D-4125-A112-BA7420E3FB50}"/>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자동 API: 외부 소비자용 별도 구현입니다. 내부 프로퍼티 통신과 분리합니다.</a:t>
            </a:r>
          </a:p>
        </p:txBody>
      </p:sp>
      <p:sp>
        <p:nvSpPr>
          <p:cNvPr id="10" name="">
            <a:extLst xmlns:a="http://schemas.openxmlformats.org/drawingml/2006/main">
              <a:ext uri="{FF2B5EF4-FFF2-40B4-BE49-F238E27FC236}">
                <a16:creationId xmlns:a16="http://schemas.microsoft.com/office/drawing/2014/main" id="{EABABDC1-D829-4F82-932E-0FAB6E900A5E}"/>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CF205E08-7814-4C35-BE7A-EB115BABCE2D}"/>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사용자: 이메일 Import를 활용하고 팀 이동·퇴사 후 과거 집계 보존을 검증합니다.</a:t>
            </a:r>
          </a:p>
        </p:txBody>
      </p:sp>
    </p:spTree>
    <p:extLst>
      <p:ext uri="{BB962C8B-B14F-4D97-AF65-F5344CB8AC3E}">
        <p14:creationId xmlns:p14="http://schemas.microsoft.com/office/powerpoint/2010/main" val="54140348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294A06C-7C53-4A16-9C3C-97C84065B6D6}"/>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14  구현과 증명</a:t>
            </a:r>
          </a:p>
        </p:txBody>
      </p:sp>
      <p:sp>
        <p:nvSpPr>
          <p:cNvPr id="2" name="">
            <a:extLst xmlns:a="http://schemas.openxmlformats.org/drawingml/2006/main">
              <a:ext uri="{FF2B5EF4-FFF2-40B4-BE49-F238E27FC236}">
                <a16:creationId xmlns:a16="http://schemas.microsoft.com/office/drawing/2014/main" id="{186ECA67-2AFF-415F-B29E-03B0F5AF8035}"/>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부가 요구사항 대응</a:t>
            </a:r>
          </a:p>
        </p:txBody>
      </p:sp>
      <p:sp>
        <p:nvSpPr>
          <p:cNvPr id="3" name="">
            <a:extLst xmlns:a="http://schemas.openxmlformats.org/drawingml/2006/main">
              <a:ext uri="{FF2B5EF4-FFF2-40B4-BE49-F238E27FC236}">
                <a16:creationId xmlns:a16="http://schemas.microsoft.com/office/drawing/2014/main" id="{EC96938F-C926-4C9C-AAE2-DE63E8FB4A6B}"/>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EC678785-1EF8-407E-9A8D-7C37842EB69C}"/>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15</a:t>
            </a:r>
          </a:p>
        </p:txBody>
      </p:sp>
      <p:sp>
        <p:nvSpPr>
          <p:cNvPr id="5" name="">
            <a:extLst xmlns:a="http://schemas.openxmlformats.org/drawingml/2006/main">
              <a:ext uri="{FF2B5EF4-FFF2-40B4-BE49-F238E27FC236}">
                <a16:creationId xmlns:a16="http://schemas.microsoft.com/office/drawing/2014/main" id="{3466F5D5-7BCF-4FF4-B3D0-86190D70784C}"/>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기존 기능을 활용할 부분과 추가 개발할 부분을 나누어 증명합니다.</a:t>
            </a:r>
          </a:p>
        </p:txBody>
      </p:sp>
      <p:sp>
        <p:nvSpPr>
          <p:cNvPr id="6" name="">
            <a:extLst xmlns:a="http://schemas.openxmlformats.org/drawingml/2006/main">
              <a:ext uri="{FF2B5EF4-FFF2-40B4-BE49-F238E27FC236}">
                <a16:creationId xmlns:a16="http://schemas.microsoft.com/office/drawing/2014/main" id="{B6A2B94C-9242-42BC-9527-5305655FDB58}"/>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78C2662B-507B-49EB-9FF2-08C7710F85B0}"/>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미소속자 제한: 소속 검사와 Jira 작성 권한을 결합합니다.</a:t>
            </a:r>
          </a:p>
        </p:txBody>
      </p:sp>
      <p:sp>
        <p:nvSpPr>
          <p:cNvPr id="8" name="">
            <a:extLst xmlns:a="http://schemas.openxmlformats.org/drawingml/2006/main">
              <a:ext uri="{FF2B5EF4-FFF2-40B4-BE49-F238E27FC236}">
                <a16:creationId xmlns:a16="http://schemas.microsoft.com/office/drawing/2014/main" id="{3447243A-FB62-4B8D-A8D2-BFC364EA3D83}"/>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3A303150-71F8-43FE-BA17-D09D70221B3F}"/>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계획 초과 알림: 기존 지표에 PM 수신·중복 방지를 추가 구현합니다.</a:t>
            </a:r>
          </a:p>
        </p:txBody>
      </p:sp>
      <p:sp>
        <p:nvSpPr>
          <p:cNvPr id="10" name="">
            <a:extLst xmlns:a="http://schemas.openxmlformats.org/drawingml/2006/main">
              <a:ext uri="{FF2B5EF4-FFF2-40B4-BE49-F238E27FC236}">
                <a16:creationId xmlns:a16="http://schemas.microsoft.com/office/drawing/2014/main" id="{BA8021CE-0255-440A-81FA-88689772FD51}"/>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CDD9FC73-1128-4AA8-A947-AE9DB1969D43}"/>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휴일 Import는 확장 대상이며 OKR·Outlook은 별도 기능 범위입니다.</a:t>
            </a:r>
          </a:p>
        </p:txBody>
      </p:sp>
    </p:spTree>
    <p:extLst>
      <p:ext uri="{BB962C8B-B14F-4D97-AF65-F5344CB8AC3E}">
        <p14:creationId xmlns:p14="http://schemas.microsoft.com/office/powerpoint/2010/main" val="45922413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1BC0F5-6FAF-42E5-B1F2-2DDE5564A90F}"/>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15  구현과 증명</a:t>
            </a:r>
          </a:p>
        </p:txBody>
      </p:sp>
      <p:sp>
        <p:nvSpPr>
          <p:cNvPr id="2" name="">
            <a:extLst xmlns:a="http://schemas.openxmlformats.org/drawingml/2006/main">
              <a:ext uri="{FF2B5EF4-FFF2-40B4-BE49-F238E27FC236}">
                <a16:creationId xmlns:a16="http://schemas.microsoft.com/office/drawing/2014/main" id="{AA75898E-7C87-4E59-87DE-064CAAC02871}"/>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현재 확보한 근거와 남은 보완</a:t>
            </a:r>
          </a:p>
        </p:txBody>
      </p:sp>
      <p:sp>
        <p:nvSpPr>
          <p:cNvPr id="3" name="">
            <a:extLst xmlns:a="http://schemas.openxmlformats.org/drawingml/2006/main">
              <a:ext uri="{FF2B5EF4-FFF2-40B4-BE49-F238E27FC236}">
                <a16:creationId xmlns:a16="http://schemas.microsoft.com/office/drawing/2014/main" id="{5BF1BE63-35AA-444B-9E47-970246F378B1}"/>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B4B041DE-A7DC-40D6-8F12-5AA480D56F3C}"/>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16</a:t>
            </a:r>
          </a:p>
        </p:txBody>
      </p:sp>
      <p:sp>
        <p:nvSpPr>
          <p:cNvPr id="5" name="">
            <a:extLst xmlns:a="http://schemas.openxmlformats.org/drawingml/2006/main">
              <a:ext uri="{FF2B5EF4-FFF2-40B4-BE49-F238E27FC236}">
                <a16:creationId xmlns:a16="http://schemas.microsoft.com/office/drawing/2014/main" id="{FB38E520-F0B2-4018-88CC-977160DAD3F8}"/>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구현 근거가 있는 기능과 아직 통과하지 않은 증명 항목을 같은 표에서 추적합니다.</a:t>
            </a:r>
          </a:p>
        </p:txBody>
      </p:sp>
      <p:sp>
        <p:nvSpPr>
          <p:cNvPr id="6" name="">
            <a:extLst xmlns:a="http://schemas.openxmlformats.org/drawingml/2006/main">
              <a:ext uri="{FF2B5EF4-FFF2-40B4-BE49-F238E27FC236}">
                <a16:creationId xmlns:a16="http://schemas.microsoft.com/office/drawing/2014/main" id="{63A1CCDA-F204-4877-A2F5-FCF655053CD5}"/>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5A47D299-6905-4188-A042-0D2B2A7988C9}"/>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구현 근거: 건별 승인·원장 잠금·visibility·이력·서명 문서 코드가 있습니다.</a:t>
            </a:r>
          </a:p>
        </p:txBody>
      </p:sp>
      <p:sp>
        <p:nvSpPr>
          <p:cNvPr id="8" name="">
            <a:extLst xmlns:a="http://schemas.openxmlformats.org/drawingml/2006/main">
              <a:ext uri="{FF2B5EF4-FFF2-40B4-BE49-F238E27FC236}">
                <a16:creationId xmlns:a16="http://schemas.microsoft.com/office/drawing/2014/main" id="{28CB881E-C4BC-4AFA-9ACC-94F02C405B16}"/>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C0377A01-F93D-4A79-85EF-F9B978E86464}"/>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보완 근거: 삭제 후 재게시 생략, 최신성 방어와 비동기 잠금 간격을 확인했습니다.</a:t>
            </a:r>
          </a:p>
        </p:txBody>
      </p:sp>
      <p:sp>
        <p:nvSpPr>
          <p:cNvPr id="10" name="">
            <a:extLst xmlns:a="http://schemas.openxmlformats.org/drawingml/2006/main">
              <a:ext uri="{FF2B5EF4-FFF2-40B4-BE49-F238E27FC236}">
                <a16:creationId xmlns:a16="http://schemas.microsoft.com/office/drawing/2014/main" id="{5DF2117D-B8F8-4A01-86CD-CC157A8DDAF9}"/>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4EA1040A-EC57-4F30-ACA3-52210DD7CE7F}"/>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제공 완료: 보완 후 고객 계정·직접 입력 경로에서 수용 시험을 통과해야 합니다.</a:t>
            </a:r>
          </a:p>
        </p:txBody>
      </p:sp>
    </p:spTree>
    <p:extLst>
      <p:ext uri="{BB962C8B-B14F-4D97-AF65-F5344CB8AC3E}">
        <p14:creationId xmlns:p14="http://schemas.microsoft.com/office/powerpoint/2010/main" val="145440663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375C7C8-DB5D-46CC-B632-AF637A8B0AB1}"/>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16  구현과 증명</a:t>
            </a:r>
          </a:p>
        </p:txBody>
      </p:sp>
      <p:sp>
        <p:nvSpPr>
          <p:cNvPr id="2" name="">
            <a:extLst xmlns:a="http://schemas.openxmlformats.org/drawingml/2006/main">
              <a:ext uri="{FF2B5EF4-FFF2-40B4-BE49-F238E27FC236}">
                <a16:creationId xmlns:a16="http://schemas.microsoft.com/office/drawing/2014/main" id="{81F0146D-8B14-4A73-A1E5-05993B7467D9}"/>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고객에게 보여 줄 시연과 증거</a:t>
            </a:r>
          </a:p>
        </p:txBody>
      </p:sp>
      <p:sp>
        <p:nvSpPr>
          <p:cNvPr id="3" name="">
            <a:extLst xmlns:a="http://schemas.openxmlformats.org/drawingml/2006/main">
              <a:ext uri="{FF2B5EF4-FFF2-40B4-BE49-F238E27FC236}">
                <a16:creationId xmlns:a16="http://schemas.microsoft.com/office/drawing/2014/main" id="{5BEA8267-5E3A-4738-8E71-07E50177F136}"/>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A668016D-1A6C-4FE7-8E7A-9CCE0781739D}"/>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17</a:t>
            </a:r>
          </a:p>
        </p:txBody>
      </p:sp>
      <p:sp>
        <p:nvSpPr>
          <p:cNvPr id="5" name="">
            <a:extLst xmlns:a="http://schemas.openxmlformats.org/drawingml/2006/main">
              <a:ext uri="{FF2B5EF4-FFF2-40B4-BE49-F238E27FC236}">
                <a16:creationId xmlns:a16="http://schemas.microsoft.com/office/drawing/2014/main" id="{16F315BA-1BF3-4405-8264-20221F9641D3}"/>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같은 worklogId와 requestId로 화면·서버 결과·Jira 원본·게시 문서를 연결합니다.</a:t>
            </a:r>
          </a:p>
        </p:txBody>
      </p:sp>
      <p:sp>
        <p:nvSpPr>
          <p:cNvPr id="6" name="">
            <a:extLst xmlns:a="http://schemas.openxmlformats.org/drawingml/2006/main">
              <a:ext uri="{FF2B5EF4-FFF2-40B4-BE49-F238E27FC236}">
                <a16:creationId xmlns:a16="http://schemas.microsoft.com/office/drawing/2014/main" id="{61429321-C1D6-420A-A0CF-D8D3EB9EC199}"/>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4148BDFF-7817-4624-B800-EE5523719A09}"/>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작성자 등록 → 팀장 승인 → 두 앱과 REST에서 수정·삭제 시도</a:t>
            </a:r>
          </a:p>
        </p:txBody>
      </p:sp>
      <p:sp>
        <p:nvSpPr>
          <p:cNvPr id="8" name="">
            <a:extLst xmlns:a="http://schemas.openxmlformats.org/drawingml/2006/main">
              <a:ext uri="{FF2B5EF4-FFF2-40B4-BE49-F238E27FC236}">
                <a16:creationId xmlns:a16="http://schemas.microsoft.com/office/drawing/2014/main" id="{6181BAF3-8683-45C8-BA5F-4C875EE913DF}"/>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6B90EC43-70F5-4437-AC83-590FE96C74F8}"/>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마감 후 쓰기 → 타 팀 일괄 승인 → 변경 이력·Workforce 집계 대조</a:t>
            </a:r>
          </a:p>
        </p:txBody>
      </p:sp>
      <p:sp>
        <p:nvSpPr>
          <p:cNvPr id="10" name="">
            <a:extLst xmlns:a="http://schemas.openxmlformats.org/drawingml/2006/main">
              <a:ext uri="{FF2B5EF4-FFF2-40B4-BE49-F238E27FC236}">
                <a16:creationId xmlns:a16="http://schemas.microsoft.com/office/drawing/2014/main" id="{F1113C2D-B18C-4A1F-9E7C-A6D1F091B057}"/>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230DF524-6611-4915-93BF-1DA79885EBFA}"/>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같은 worklogId·requestId로 화면, 서버 응답, 원본을 연결합니다.</a:t>
            </a:r>
          </a:p>
        </p:txBody>
      </p:sp>
    </p:spTree>
    <p:extLst>
      <p:ext uri="{BB962C8B-B14F-4D97-AF65-F5344CB8AC3E}">
        <p14:creationId xmlns:p14="http://schemas.microsoft.com/office/powerpoint/2010/main" val="887590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A98F05-646D-4720-B4A5-1434671EAA00}"/>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17  구현과 증명</a:t>
            </a:r>
          </a:p>
        </p:txBody>
      </p:sp>
      <p:sp>
        <p:nvSpPr>
          <p:cNvPr id="2" name="">
            <a:extLst xmlns:a="http://schemas.openxmlformats.org/drawingml/2006/main">
              <a:ext uri="{FF2B5EF4-FFF2-40B4-BE49-F238E27FC236}">
                <a16:creationId xmlns:a16="http://schemas.microsoft.com/office/drawing/2014/main" id="{C58ABE31-F96A-401D-A2AA-BDBD1D58D4AB}"/>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증거 패키지와 합격 판정</a:t>
            </a:r>
          </a:p>
        </p:txBody>
      </p:sp>
      <p:sp>
        <p:nvSpPr>
          <p:cNvPr id="3" name="">
            <a:extLst xmlns:a="http://schemas.openxmlformats.org/drawingml/2006/main">
              <a:ext uri="{FF2B5EF4-FFF2-40B4-BE49-F238E27FC236}">
                <a16:creationId xmlns:a16="http://schemas.microsoft.com/office/drawing/2014/main" id="{6BC33BE5-B2E5-4106-A350-DC951BAC1C43}"/>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ADD32F96-8A7D-4CCF-B478-B6FFBE4E1744}"/>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18</a:t>
            </a:r>
          </a:p>
        </p:txBody>
      </p:sp>
      <p:sp>
        <p:nvSpPr>
          <p:cNvPr id="5" name="">
            <a:extLst xmlns:a="http://schemas.openxmlformats.org/drawingml/2006/main">
              <a:ext uri="{FF2B5EF4-FFF2-40B4-BE49-F238E27FC236}">
                <a16:creationId xmlns:a16="http://schemas.microsoft.com/office/drawing/2014/main" id="{3CA6FDFE-506E-419D-BF20-90A6CE52016F}"/>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화면 캡처만으로 완료를 선언하지 않고 변경 전후 값과 서버 실행 결과를 함께 보관합니다.</a:t>
            </a:r>
          </a:p>
        </p:txBody>
      </p:sp>
      <p:sp>
        <p:nvSpPr>
          <p:cNvPr id="6" name="">
            <a:extLst xmlns:a="http://schemas.openxmlformats.org/drawingml/2006/main">
              <a:ext uri="{FF2B5EF4-FFF2-40B4-BE49-F238E27FC236}">
                <a16:creationId xmlns:a16="http://schemas.microsoft.com/office/drawing/2014/main" id="{71F104A9-E016-4DD5-B0A9-C0EB17389287}"/>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4100292C-F73C-438C-897F-14D2CE5CB8FE}"/>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잠금 증거: 변경 전 값 + 정상 요청 + 거부 응답 + 변경 후 원본 유지</a:t>
            </a:r>
          </a:p>
        </p:txBody>
      </p:sp>
      <p:sp>
        <p:nvSpPr>
          <p:cNvPr id="8" name="">
            <a:extLst xmlns:a="http://schemas.openxmlformats.org/drawingml/2006/main">
              <a:ext uri="{FF2B5EF4-FFF2-40B4-BE49-F238E27FC236}">
                <a16:creationId xmlns:a16="http://schemas.microsoft.com/office/drawing/2014/main" id="{ED90E9BA-6C47-4FE8-AD75-B57FB12006CA}"/>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78CE85D0-A9B2-418C-8D36-D4907E459B72}"/>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감사 증거: 승인자·시각·확정 시간·변경 전후·내보내기 일치</a:t>
            </a:r>
          </a:p>
        </p:txBody>
      </p:sp>
      <p:sp>
        <p:nvSpPr>
          <p:cNvPr id="10" name="">
            <a:extLst xmlns:a="http://schemas.openxmlformats.org/drawingml/2006/main">
              <a:ext uri="{FF2B5EF4-FFF2-40B4-BE49-F238E27FC236}">
                <a16:creationId xmlns:a16="http://schemas.microsoft.com/office/drawing/2014/main" id="{E1C966DA-B6D8-4D38-B6CB-66CD041E7636}"/>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A153AF33-AF0B-4A98-9E37-C2325BE0B700}"/>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연동 증거: 서명·최신 버전·게시 시각·완전성 및 집계 합계 일치</a:t>
            </a:r>
          </a:p>
        </p:txBody>
      </p:sp>
    </p:spTree>
    <p:extLst>
      <p:ext uri="{BB962C8B-B14F-4D97-AF65-F5344CB8AC3E}">
        <p14:creationId xmlns:p14="http://schemas.microsoft.com/office/powerpoint/2010/main" val="33959694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910E547-3EDD-40D0-9E3F-1938A614E9DF}"/>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18  구현과 증명</a:t>
            </a:r>
          </a:p>
        </p:txBody>
      </p:sp>
      <p:sp>
        <p:nvSpPr>
          <p:cNvPr id="2" name="">
            <a:extLst xmlns:a="http://schemas.openxmlformats.org/drawingml/2006/main">
              <a:ext uri="{FF2B5EF4-FFF2-40B4-BE49-F238E27FC236}">
                <a16:creationId xmlns:a16="http://schemas.microsoft.com/office/drawing/2014/main" id="{DC2F25F6-101E-49F1-B209-7A6907D9D01D}"/>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운영 구조와 단계별 제공</a:t>
            </a:r>
          </a:p>
        </p:txBody>
      </p:sp>
      <p:sp>
        <p:nvSpPr>
          <p:cNvPr id="3" name="">
            <a:extLst xmlns:a="http://schemas.openxmlformats.org/drawingml/2006/main">
              <a:ext uri="{FF2B5EF4-FFF2-40B4-BE49-F238E27FC236}">
                <a16:creationId xmlns:a16="http://schemas.microsoft.com/office/drawing/2014/main" id="{75A75EA3-6A6F-47A9-96BF-81536CA0C058}"/>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324A2D94-387D-4D24-B8D2-3C58085D386F}"/>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19</a:t>
            </a:r>
          </a:p>
        </p:txBody>
      </p:sp>
      <p:sp>
        <p:nvSpPr>
          <p:cNvPr id="5" name="">
            <a:extLst xmlns:a="http://schemas.openxmlformats.org/drawingml/2006/main">
              <a:ext uri="{FF2B5EF4-FFF2-40B4-BE49-F238E27FC236}">
                <a16:creationId xmlns:a16="http://schemas.microsoft.com/office/drawing/2014/main" id="{1E7B8021-402E-444D-AC61-6389ECF9E828}"/>
              </a:ext>
            </a:extLst>
          </p:cNvPr>
          <p:cNvSpPr>
            <a:spLocks xmlns:a="http://schemas.openxmlformats.org/drawingml/2006/main" noGrp="1"/>
          </p:cNvSpPr>
          <p:nvPr/>
        </p:nvSpPr>
        <p:spPr>
          <a:xfrm xmlns:a="http://schemas.openxmlformats.org/drawingml/2006/main">
            <a:off x="609600" y="172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663"/>
                </a:solidFill>
                <a:latin typeface="Malgun Gothic"/>
                <a:ea typeface="Malgun Gothic"/>
                <a:cs typeface="Malgun Gothic"/>
              </a:defRPr>
            </a:defPPr>
          </a:lstStyle>
          <a:p xmlns:a="http://schemas.openxmlformats.org/drawingml/2006/main">
            <a:pPr>
              <a:defRPr sz="1950" b="0">
                <a:solidFill>
                  <a:srgbClr val="536663"/>
                </a:solidFill>
                <a:latin typeface="Malgun Gothic"/>
                <a:ea typeface="Malgun Gothic"/>
                <a:cs typeface="Malgun Gothic"/>
              </a:defRPr>
            </a:pPr>
            <a:r>
              <a:rPr sz="1950" b="0">
                <a:solidFill>
                  <a:srgbClr val="536663"/>
                </a:solidFill>
                <a:latin typeface="Malgun Gothic"/>
                <a:ea typeface="Malgun Gothic"/>
                <a:cs typeface="Malgun Gothic"/>
              </a:rPr>
              <a:t>핵심 통제 보완과 증명 시험을 마친 뒤 두 앱을 함께 적용합니다.</a:t>
            </a:r>
          </a:p>
        </p:txBody>
      </p:sp>
      <p:sp>
        <p:nvSpPr>
          <p:cNvPr id="6" name="">
            <a:extLst xmlns:a="http://schemas.openxmlformats.org/drawingml/2006/main">
              <a:ext uri="{FF2B5EF4-FFF2-40B4-BE49-F238E27FC236}">
                <a16:creationId xmlns:a16="http://schemas.microsoft.com/office/drawing/2014/main" id="{9FB09F5D-69DF-42CD-B7D5-D1113B2D35F2}"/>
              </a:ext>
            </a:extLst>
          </p:cNvPr>
          <p:cNvSpPr>
            <a:spLocks xmlns:a="http://schemas.openxmlformats.org/drawingml/2006/main" noGrp="1"/>
          </p:cNvSpPr>
          <p:nvPr/>
        </p:nvSpPr>
        <p:spPr>
          <a:xfrm xmlns:a="http://schemas.openxmlformats.org/drawingml/2006/main">
            <a:off x="609600" y="2714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A00B8277-B16C-4A38-8C4C-9368C98DC85E}"/>
              </a:ext>
            </a:extLst>
          </p:cNvPr>
          <p:cNvSpPr>
            <a:spLocks xmlns:a="http://schemas.openxmlformats.org/drawingml/2006/main" noGrp="1"/>
          </p:cNvSpPr>
          <p:nvPr/>
        </p:nvSpPr>
        <p:spPr>
          <a:xfrm xmlns:a="http://schemas.openxmlformats.org/drawingml/2006/main">
            <a:off x="1476375" y="26765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1단계: 권한·잠금 경합·복구·최신성·집계 완전성 보완</a:t>
            </a:r>
          </a:p>
        </p:txBody>
      </p:sp>
      <p:sp>
        <p:nvSpPr>
          <p:cNvPr id="8" name="">
            <a:extLst xmlns:a="http://schemas.openxmlformats.org/drawingml/2006/main">
              <a:ext uri="{FF2B5EF4-FFF2-40B4-BE49-F238E27FC236}">
                <a16:creationId xmlns:a16="http://schemas.microsoft.com/office/drawing/2014/main" id="{0DDC91B3-DFCC-433B-9CC0-87D101448F85}"/>
              </a:ext>
            </a:extLst>
          </p:cNvPr>
          <p:cNvSpPr>
            <a:spLocks xmlns:a="http://schemas.openxmlformats.org/drawingml/2006/main" noGrp="1"/>
          </p:cNvSpPr>
          <p:nvPr/>
        </p:nvSpPr>
        <p:spPr>
          <a:xfrm xmlns:a="http://schemas.openxmlformats.org/drawingml/2006/main">
            <a:off x="609600" y="3781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E3A8D754-F501-4196-B219-6237633FFE1A}"/>
              </a:ext>
            </a:extLst>
          </p:cNvPr>
          <p:cNvSpPr>
            <a:spLocks xmlns:a="http://schemas.openxmlformats.org/drawingml/2006/main" noGrp="1"/>
          </p:cNvSpPr>
          <p:nvPr/>
        </p:nvSpPr>
        <p:spPr>
          <a:xfrm xmlns:a="http://schemas.openxmlformats.org/drawingml/2006/main">
            <a:off x="1476375" y="37433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2단계: 정상 흐름과 우회·실패·복구 시험의 증거 확보</a:t>
            </a:r>
          </a:p>
        </p:txBody>
      </p:sp>
      <p:sp>
        <p:nvSpPr>
          <p:cNvPr id="10" name="">
            <a:extLst xmlns:a="http://schemas.openxmlformats.org/drawingml/2006/main">
              <a:ext uri="{FF2B5EF4-FFF2-40B4-BE49-F238E27FC236}">
                <a16:creationId xmlns:a16="http://schemas.microsoft.com/office/drawing/2014/main" id="{1A29F68A-DF4D-4D7C-88F9-204E68432F76}"/>
              </a:ext>
            </a:extLst>
          </p:cNvPr>
          <p:cNvSpPr>
            <a:spLocks xmlns:a="http://schemas.openxmlformats.org/drawingml/2006/main" noGrp="1"/>
          </p:cNvSpPr>
          <p:nvPr/>
        </p:nvSpPr>
        <p:spPr>
          <a:xfrm xmlns:a="http://schemas.openxmlformats.org/drawingml/2006/main">
            <a:off x="609600" y="48482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7D73"/>
                </a:solidFill>
                <a:latin typeface="Malgun Gothic"/>
                <a:ea typeface="Malgun Gothic"/>
                <a:cs typeface="Malgun Gothic"/>
              </a:defRPr>
            </a:defPPr>
          </a:lstStyle>
          <a:p xmlns:a="http://schemas.openxmlformats.org/drawingml/2006/main">
            <a:pPr>
              <a:defRPr sz="2250" b="1">
                <a:solidFill>
                  <a:srgbClr val="147D73"/>
                </a:solidFill>
                <a:latin typeface="Malgun Gothic"/>
                <a:ea typeface="Malgun Gothic"/>
                <a:cs typeface="Malgun Gothic"/>
              </a:defRPr>
            </a:pPr>
            <a:r>
              <a:rPr sz="2250" b="1">
                <a:solidFill>
                  <a:srgbClr val="147D73"/>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88365EB9-9A8D-420D-99FD-E0F37E504157}"/>
              </a:ext>
            </a:extLst>
          </p:cNvPr>
          <p:cNvSpPr>
            <a:spLocks xmlns:a="http://schemas.openxmlformats.org/drawingml/2006/main" noGrp="1"/>
          </p:cNvSpPr>
          <p:nvPr/>
        </p:nvSpPr>
        <p:spPr>
          <a:xfrm xmlns:a="http://schemas.openxmlformats.org/drawingml/2006/main">
            <a:off x="1476375" y="4810125"/>
            <a:ext cx="1000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F3B"/>
                </a:solidFill>
                <a:latin typeface="Malgun Gothic"/>
                <a:ea typeface="Malgun Gothic"/>
                <a:cs typeface="Malgun Gothic"/>
              </a:defRPr>
            </a:defPPr>
          </a:lstStyle>
          <a:p xmlns:a="http://schemas.openxmlformats.org/drawingml/2006/main">
            <a:pPr>
              <a:defRPr sz="2175" b="0">
                <a:solidFill>
                  <a:srgbClr val="143F3B"/>
                </a:solidFill>
                <a:latin typeface="Malgun Gothic"/>
                <a:ea typeface="Malgun Gothic"/>
                <a:cs typeface="Malgun Gothic"/>
              </a:defRPr>
            </a:pPr>
            <a:r>
              <a:rPr sz="2175" b="0">
                <a:solidFill>
                  <a:srgbClr val="143F3B"/>
                </a:solidFill>
                <a:latin typeface="Malgun Gothic"/>
                <a:ea typeface="Malgun Gothic"/>
                <a:cs typeface="Malgun Gothic"/>
              </a:rPr>
              <a:t>3단계: 기준 월 대사, Tempo 제공자 전환과 원복 확인 후 적용</a:t>
            </a:r>
          </a:p>
        </p:txBody>
      </p:sp>
    </p:spTree>
    <p:extLst>
      <p:ext uri="{BB962C8B-B14F-4D97-AF65-F5344CB8AC3E}">
        <p14:creationId xmlns:p14="http://schemas.microsoft.com/office/powerpoint/2010/main" val="101216802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2C5F07-0B65-4363-948D-A726A59E822C}"/>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증거 확보 계획</a:t>
            </a:r>
          </a:p>
        </p:txBody>
      </p:sp>
      <p:sp>
        <p:nvSpPr>
          <p:cNvPr id="2" name="">
            <a:extLst xmlns:a="http://schemas.openxmlformats.org/drawingml/2006/main">
              <a:ext uri="{FF2B5EF4-FFF2-40B4-BE49-F238E27FC236}">
                <a16:creationId xmlns:a16="http://schemas.microsoft.com/office/drawing/2014/main" id="{51D245A7-9EC9-496D-8FA7-995C2E8BEA62}"/>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핵심 검증 시나리오</a:t>
            </a:r>
          </a:p>
        </p:txBody>
      </p:sp>
      <p:sp>
        <p:nvSpPr>
          <p:cNvPr id="3" name="">
            <a:extLst xmlns:a="http://schemas.openxmlformats.org/drawingml/2006/main">
              <a:ext uri="{FF2B5EF4-FFF2-40B4-BE49-F238E27FC236}">
                <a16:creationId xmlns:a16="http://schemas.microsoft.com/office/drawing/2014/main" id="{F258EFCB-488B-484C-96EE-6E0C5F852389}"/>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A39BEA44-0A3D-4EBC-B043-00B21350DEB9}"/>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20</a:t>
            </a:r>
          </a:p>
        </p:txBody>
      </p:sp>
      <p:sp>
        <p:nvSpPr>
          <p:cNvPr id="5" name="">
            <a:extLst xmlns:a="http://schemas.openxmlformats.org/drawingml/2006/main">
              <a:ext uri="{FF2B5EF4-FFF2-40B4-BE49-F238E27FC236}">
                <a16:creationId xmlns:a16="http://schemas.microsoft.com/office/drawing/2014/main" id="{E35F0D22-0F87-47BC-97D4-FB4E9CD67C65}"/>
              </a:ext>
            </a:extLst>
          </p:cNvPr>
          <p:cNvSpPr>
            <a:spLocks xmlns:a="http://schemas.openxmlformats.org/drawingml/2006/main" noGrp="1"/>
          </p:cNvSpPr>
          <p:nvPr/>
        </p:nvSpPr>
        <p:spPr>
          <a:xfrm xmlns:a="http://schemas.openxmlformats.org/drawingml/2006/main">
            <a:off x="609600" y="2381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43F3B"/>
                </a:solidFill>
                <a:latin typeface="Malgun Gothic"/>
                <a:ea typeface="Malgun Gothic"/>
                <a:cs typeface="Malgun Gothic"/>
              </a:defRPr>
            </a:defPPr>
          </a:lstStyle>
          <a:p xmlns:a="http://schemas.openxmlformats.org/drawingml/2006/main">
            <a:pPr>
              <a:defRPr sz="2475" b="1">
                <a:solidFill>
                  <a:srgbClr val="143F3B"/>
                </a:solidFill>
                <a:latin typeface="Malgun Gothic"/>
                <a:ea typeface="Malgun Gothic"/>
                <a:cs typeface="Malgun Gothic"/>
              </a:defRPr>
            </a:pPr>
            <a:r>
              <a:rPr sz="2475" b="1">
                <a:solidFill>
                  <a:srgbClr val="143F3B"/>
                </a:solidFill>
                <a:latin typeface="Malgun Gothic"/>
                <a:ea typeface="Malgun Gothic"/>
                <a:cs typeface="Malgun Gothic"/>
              </a:rPr>
              <a:t>D01–D03  승인 후 앱·REST 수정과 삭제 거부</a:t>
            </a:r>
          </a:p>
        </p:txBody>
      </p:sp>
      <p:sp>
        <p:nvSpPr>
          <p:cNvPr id="6" name="">
            <a:extLst xmlns:a="http://schemas.openxmlformats.org/drawingml/2006/main">
              <a:ext uri="{FF2B5EF4-FFF2-40B4-BE49-F238E27FC236}">
                <a16:creationId xmlns:a16="http://schemas.microsoft.com/office/drawing/2014/main" id="{2A1EDD99-7F43-4C48-9AB2-2740CCC12C02}"/>
              </a:ext>
            </a:extLst>
          </p:cNvPr>
          <p:cNvSpPr>
            <a:spLocks xmlns:a="http://schemas.openxmlformats.org/drawingml/2006/main" noGrp="1"/>
          </p:cNvSpPr>
          <p:nvPr/>
        </p:nvSpPr>
        <p:spPr>
          <a:xfrm xmlns:a="http://schemas.openxmlformats.org/drawingml/2006/main">
            <a:off x="609600" y="3476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43F3B"/>
                </a:solidFill>
                <a:latin typeface="Malgun Gothic"/>
                <a:ea typeface="Malgun Gothic"/>
                <a:cs typeface="Malgun Gothic"/>
              </a:defRPr>
            </a:defPPr>
          </a:lstStyle>
          <a:p xmlns:a="http://schemas.openxmlformats.org/drawingml/2006/main">
            <a:pPr>
              <a:defRPr sz="2475" b="1">
                <a:solidFill>
                  <a:srgbClr val="143F3B"/>
                </a:solidFill>
                <a:latin typeface="Malgun Gothic"/>
                <a:ea typeface="Malgun Gothic"/>
                <a:cs typeface="Malgun Gothic"/>
              </a:defRPr>
            </a:pPr>
            <a:r>
              <a:rPr sz="2475" b="1">
                <a:solidFill>
                  <a:srgbClr val="143F3B"/>
                </a:solidFill>
                <a:latin typeface="Malgun Gothic"/>
                <a:ea typeface="Malgun Gothic"/>
                <a:cs typeface="Malgun Gothic"/>
              </a:rPr>
              <a:t>D04–D06  기간 마감·권한 밖 승인·변경 이력</a:t>
            </a:r>
          </a:p>
        </p:txBody>
      </p:sp>
      <p:sp>
        <p:nvSpPr>
          <p:cNvPr id="7" name="">
            <a:extLst xmlns:a="http://schemas.openxmlformats.org/drawingml/2006/main">
              <a:ext uri="{FF2B5EF4-FFF2-40B4-BE49-F238E27FC236}">
                <a16:creationId xmlns:a16="http://schemas.microsoft.com/office/drawing/2014/main" id="{40247F29-76C4-4201-B4E1-01F485238890}"/>
              </a:ext>
            </a:extLst>
          </p:cNvPr>
          <p:cNvSpPr>
            <a:spLocks xmlns:a="http://schemas.openxmlformats.org/drawingml/2006/main" noGrp="1"/>
          </p:cNvSpPr>
          <p:nvPr/>
        </p:nvSpPr>
        <p:spPr>
          <a:xfrm xmlns:a="http://schemas.openxmlformats.org/drawingml/2006/main">
            <a:off x="609600" y="4572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43F3B"/>
                </a:solidFill>
                <a:latin typeface="Malgun Gothic"/>
                <a:ea typeface="Malgun Gothic"/>
                <a:cs typeface="Malgun Gothic"/>
              </a:defRPr>
            </a:defPPr>
          </a:lstStyle>
          <a:p xmlns:a="http://schemas.openxmlformats.org/drawingml/2006/main">
            <a:pPr>
              <a:defRPr sz="2475" b="1">
                <a:solidFill>
                  <a:srgbClr val="143F3B"/>
                </a:solidFill>
                <a:latin typeface="Malgun Gothic"/>
                <a:ea typeface="Malgun Gothic"/>
                <a:cs typeface="Malgun Gothic"/>
              </a:defRPr>
            </a:pPr>
            <a:r>
              <a:rPr sz="2475" b="1">
                <a:solidFill>
                  <a:srgbClr val="143F3B"/>
                </a:solidFill>
                <a:latin typeface="Malgun Gothic"/>
                <a:ea typeface="Malgun Gothic"/>
                <a:cs typeface="Malgun Gothic"/>
              </a:rPr>
              <a:t>D07–D09  집계 대사·문서 복구·통제 해제</a:t>
            </a:r>
          </a:p>
        </p:txBody>
      </p:sp>
    </p:spTree>
    <p:extLst>
      <p:ext uri="{BB962C8B-B14F-4D97-AF65-F5344CB8AC3E}">
        <p14:creationId xmlns:p14="http://schemas.microsoft.com/office/powerpoint/2010/main" val="82923857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2AF6A5-DCAD-439D-86EF-4193B31CA40B}"/>
              </a:ext>
            </a:extLst>
          </p:cNvPr>
          <p:cNvSpPr>
            <a:spLocks xmlns:a="http://schemas.openxmlformats.org/drawingml/2006/main" noGrp="1"/>
          </p:cNvSpPr>
          <p:nvPr/>
        </p:nvSpPr>
        <p:spPr>
          <a:xfrm xmlns:a="http://schemas.openxmlformats.org/drawingml/2006/main">
            <a:off x="609600" y="3333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47D73"/>
                </a:solidFill>
                <a:latin typeface="Malgun Gothic"/>
                <a:ea typeface="Malgun Gothic"/>
                <a:cs typeface="Malgun Gothic"/>
              </a:defRPr>
            </a:defPPr>
          </a:lstStyle>
          <a:p xmlns:a="http://schemas.openxmlformats.org/drawingml/2006/main">
            <a:pPr>
              <a:defRPr sz="1200" b="1">
                <a:solidFill>
                  <a:srgbClr val="147D73"/>
                </a:solidFill>
                <a:latin typeface="Malgun Gothic"/>
                <a:ea typeface="Malgun Gothic"/>
                <a:cs typeface="Malgun Gothic"/>
              </a:defRPr>
            </a:pPr>
            <a:r>
              <a:rPr sz="1200" b="1">
                <a:solidFill>
                  <a:srgbClr val="147D73"/>
                </a:solidFill>
                <a:latin typeface="Malgun Gothic"/>
                <a:ea typeface="Malgun Gothic"/>
                <a:cs typeface="Malgun Gothic"/>
              </a:rPr>
              <a:t>2026-10-15 실행 증거</a:t>
            </a:r>
          </a:p>
        </p:txBody>
      </p:sp>
      <p:sp>
        <p:nvSpPr>
          <p:cNvPr id="2" name="">
            <a:extLst xmlns:a="http://schemas.openxmlformats.org/drawingml/2006/main">
              <a:ext uri="{FF2B5EF4-FFF2-40B4-BE49-F238E27FC236}">
                <a16:creationId xmlns:a16="http://schemas.microsoft.com/office/drawing/2014/main" id="{AFF33CE6-A164-477A-A445-A69AD8C2E53B}"/>
              </a:ext>
            </a:extLst>
          </p:cNvPr>
          <p:cNvSpPr>
            <a:spLocks xmlns:a="http://schemas.openxmlformats.org/drawingml/2006/main" noGrp="1"/>
          </p:cNvSpPr>
          <p:nvPr/>
        </p:nvSpPr>
        <p:spPr>
          <a:xfrm xmlns:a="http://schemas.openxmlformats.org/drawingml/2006/main">
            <a:off x="609600" y="8667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3F3B"/>
                </a:solidFill>
                <a:latin typeface="Malgun Gothic"/>
                <a:ea typeface="Malgun Gothic"/>
                <a:cs typeface="Malgun Gothic"/>
              </a:defRPr>
            </a:defPPr>
          </a:lstStyle>
          <a:p xmlns:a="http://schemas.openxmlformats.org/drawingml/2006/main">
            <a:pPr>
              <a:defRPr sz="3150" b="1">
                <a:solidFill>
                  <a:srgbClr val="143F3B"/>
                </a:solidFill>
                <a:latin typeface="Malgun Gothic"/>
                <a:ea typeface="Malgun Gothic"/>
                <a:cs typeface="Malgun Gothic"/>
              </a:defRPr>
            </a:pPr>
            <a:r>
              <a:rPr sz="3150" b="1">
                <a:solidFill>
                  <a:srgbClr val="143F3B"/>
                </a:solidFill>
                <a:latin typeface="Malgun Gothic"/>
                <a:ea typeface="Malgun Gothic"/>
                <a:cs typeface="Malgun Gothic"/>
              </a:rPr>
              <a:t>이번 작성 중 확인한 로컬 테스트</a:t>
            </a:r>
          </a:p>
        </p:txBody>
      </p:sp>
      <p:sp>
        <p:nvSpPr>
          <p:cNvPr id="3" name="">
            <a:extLst xmlns:a="http://schemas.openxmlformats.org/drawingml/2006/main">
              <a:ext uri="{FF2B5EF4-FFF2-40B4-BE49-F238E27FC236}">
                <a16:creationId xmlns:a16="http://schemas.microsoft.com/office/drawing/2014/main" id="{27378B11-B429-4491-819F-808971B3FE99}"/>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STRADVISION  /  Moves Workforce + Moves Approval</a:t>
            </a:r>
          </a:p>
        </p:txBody>
      </p:sp>
      <p:sp>
        <p:nvSpPr>
          <p:cNvPr id="4" name="">
            <a:extLst xmlns:a="http://schemas.openxmlformats.org/drawingml/2006/main">
              <a:ext uri="{FF2B5EF4-FFF2-40B4-BE49-F238E27FC236}">
                <a16:creationId xmlns:a16="http://schemas.microsoft.com/office/drawing/2014/main" id="{84BA5BD0-4E90-467F-B1BF-3B620C1F8402}"/>
              </a:ext>
            </a:extLst>
          </p:cNvPr>
          <p:cNvSpPr>
            <a:spLocks xmlns:a="http://schemas.openxmlformats.org/drawingml/2006/main" noGrp="1"/>
          </p:cNvSpPr>
          <p:nvPr/>
        </p:nvSpPr>
        <p:spPr>
          <a:xfrm xmlns:a="http://schemas.openxmlformats.org/drawingml/2006/main">
            <a:off x="11049000" y="644842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663"/>
                </a:solidFill>
                <a:latin typeface="Malgun Gothic"/>
                <a:ea typeface="Malgun Gothic"/>
                <a:cs typeface="Malgun Gothic"/>
              </a:defRPr>
            </a:defPPr>
          </a:lstStyle>
          <a:p xmlns:a="http://schemas.openxmlformats.org/drawingml/2006/main">
            <a:pPr>
              <a:defRPr sz="1050" b="0">
                <a:solidFill>
                  <a:srgbClr val="536663"/>
                </a:solidFill>
                <a:latin typeface="Malgun Gothic"/>
                <a:ea typeface="Malgun Gothic"/>
                <a:cs typeface="Malgun Gothic"/>
              </a:defRPr>
            </a:pPr>
            <a:r>
              <a:rPr sz="1050" b="0">
                <a:solidFill>
                  <a:srgbClr val="536663"/>
                </a:solidFill>
                <a:latin typeface="Malgun Gothic"/>
                <a:ea typeface="Malgun Gothic"/>
                <a:cs typeface="Malgun Gothic"/>
              </a:rPr>
              <a:t>21</a:t>
            </a:r>
          </a:p>
        </p:txBody>
      </p:sp>
      <p:sp>
        <p:nvSpPr>
          <p:cNvPr id="5" name="">
            <a:extLst xmlns:a="http://schemas.openxmlformats.org/drawingml/2006/main">
              <a:ext uri="{FF2B5EF4-FFF2-40B4-BE49-F238E27FC236}">
                <a16:creationId xmlns:a16="http://schemas.microsoft.com/office/drawing/2014/main" id="{BF769390-9423-4AD7-B86A-008741BCDC6C}"/>
              </a:ext>
            </a:extLst>
          </p:cNvPr>
          <p:cNvSpPr>
            <a:spLocks xmlns:a="http://schemas.openxmlformats.org/drawingml/2006/main" noGrp="1"/>
          </p:cNvSpPr>
          <p:nvPr/>
        </p:nvSpPr>
        <p:spPr>
          <a:xfrm xmlns:a="http://schemas.openxmlformats.org/drawingml/2006/main">
            <a:off x="609600" y="2333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75" b="1">
                <a:solidFill>
                  <a:srgbClr val="147D73"/>
                </a:solidFill>
                <a:latin typeface="Malgun Gothic"/>
                <a:ea typeface="Malgun Gothic"/>
                <a:cs typeface="Malgun Gothic"/>
              </a:defRPr>
            </a:defPPr>
          </a:lstStyle>
          <a:p xmlns:a="http://schemas.openxmlformats.org/drawingml/2006/main">
            <a:pPr>
              <a:defRPr sz="3375" b="1">
                <a:solidFill>
                  <a:srgbClr val="147D73"/>
                </a:solidFill>
                <a:latin typeface="Malgun Gothic"/>
                <a:ea typeface="Malgun Gothic"/>
                <a:cs typeface="Malgun Gothic"/>
              </a:defRPr>
            </a:pPr>
            <a:r>
              <a:rPr sz="3375" b="1">
                <a:solidFill>
                  <a:srgbClr val="147D73"/>
                </a:solidFill>
                <a:latin typeface="Malgun Gothic"/>
                <a:ea typeface="Malgun Gothic"/>
                <a:cs typeface="Malgun Gothic"/>
              </a:rPr>
              <a:t>6개 테스트 묶음 · 151개 테스트 통과</a:t>
            </a:r>
          </a:p>
        </p:txBody>
      </p:sp>
      <p:sp>
        <p:nvSpPr>
          <p:cNvPr id="6" name="">
            <a:extLst xmlns:a="http://schemas.openxmlformats.org/drawingml/2006/main">
              <a:ext uri="{FF2B5EF4-FFF2-40B4-BE49-F238E27FC236}">
                <a16:creationId xmlns:a16="http://schemas.microsoft.com/office/drawing/2014/main" id="{72A72286-7815-499A-AD91-CBD94FBF5269}"/>
              </a:ext>
            </a:extLst>
          </p:cNvPr>
          <p:cNvSpPr>
            <a:spLocks xmlns:a="http://schemas.openxmlformats.org/drawingml/2006/main" noGrp="1"/>
          </p:cNvSpPr>
          <p:nvPr/>
        </p:nvSpPr>
        <p:spPr>
          <a:xfrm xmlns:a="http://schemas.openxmlformats.org/drawingml/2006/main">
            <a:off x="609600" y="34290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43F3B"/>
                </a:solidFill>
                <a:latin typeface="Malgun Gothic"/>
                <a:ea typeface="Malgun Gothic"/>
                <a:cs typeface="Malgun Gothic"/>
              </a:defRPr>
            </a:defPPr>
          </a:lstStyle>
          <a:p xmlns:a="http://schemas.openxmlformats.org/drawingml/2006/main">
            <a:pPr>
              <a:defRPr sz="2325" b="0">
                <a:solidFill>
                  <a:srgbClr val="143F3B"/>
                </a:solidFill>
                <a:latin typeface="Malgun Gothic"/>
                <a:ea typeface="Malgun Gothic"/>
                <a:cs typeface="Malgun Gothic"/>
              </a:defRPr>
            </a:pPr>
            <a:r>
              <a:rPr sz="2325" b="0">
                <a:solidFill>
                  <a:srgbClr val="143F3B"/>
                </a:solidFill>
                <a:latin typeface="Malgun Gothic"/>
                <a:ea typeface="Malgun Gothic"/>
                <a:cs typeface="Malgun Gothic"/>
              </a:rPr>
              <a:t>건별 요청 · 통제 서비스 · Jira 게이트웨이</a:t>
            </a:r>
          </a:p>
          <a:p xmlns:a="http://schemas.openxmlformats.org/drawingml/2006/main">
            <a:pPr>
              <a:defRPr sz="2325" b="0">
                <a:solidFill>
                  <a:srgbClr val="143F3B"/>
                </a:solidFill>
                <a:latin typeface="Malgun Gothic"/>
                <a:ea typeface="Malgun Gothic"/>
                <a:cs typeface="Malgun Gothic"/>
              </a:defRPr>
            </a:pPr>
            <a:r>
              <a:rPr sz="2325" b="0">
                <a:solidFill>
                  <a:srgbClr val="143F3B"/>
                </a:solidFill>
                <a:latin typeface="Malgun Gothic"/>
                <a:ea typeface="Malgun Gothic"/>
                <a:cs typeface="Malgun Gothic"/>
              </a:rPr>
              <a:t>변경 이력 조회 · 두 앱 쓰기 규칙 대조 · 인증 문서</a:t>
            </a:r>
          </a:p>
        </p:txBody>
      </p:sp>
      <p:sp>
        <p:nvSpPr>
          <p:cNvPr id="7" name="">
            <a:extLst xmlns:a="http://schemas.openxmlformats.org/drawingml/2006/main">
              <a:ext uri="{FF2B5EF4-FFF2-40B4-BE49-F238E27FC236}">
                <a16:creationId xmlns:a16="http://schemas.microsoft.com/office/drawing/2014/main" id="{53F4C384-FE6F-44DF-8AF6-AAF06670430B}"/>
              </a:ext>
            </a:extLst>
          </p:cNvPr>
          <p:cNvSpPr>
            <a:spLocks xmlns:a="http://schemas.openxmlformats.org/drawingml/2006/main" noGrp="1"/>
          </p:cNvSpPr>
          <p:nvPr/>
        </p:nvSpPr>
        <p:spPr>
          <a:xfrm xmlns:a="http://schemas.openxmlformats.org/drawingml/2006/main">
            <a:off x="609600" y="5095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36663"/>
                </a:solidFill>
                <a:latin typeface="Malgun Gothic"/>
                <a:ea typeface="Malgun Gothic"/>
                <a:cs typeface="Malgun Gothic"/>
              </a:defRPr>
            </a:defPPr>
          </a:lstStyle>
          <a:p xmlns:a="http://schemas.openxmlformats.org/drawingml/2006/main">
            <a:pPr>
              <a:defRPr sz="2025" b="0">
                <a:solidFill>
                  <a:srgbClr val="536663"/>
                </a:solidFill>
                <a:latin typeface="Malgun Gothic"/>
                <a:ea typeface="Malgun Gothic"/>
                <a:cs typeface="Malgun Gothic"/>
              </a:defRPr>
            </a:pPr>
            <a:r>
              <a:rPr sz="2025" b="0">
                <a:solidFill>
                  <a:srgbClr val="536663"/>
                </a:solidFill>
                <a:latin typeface="Malgun Gothic"/>
                <a:ea typeface="Malgun Gothic"/>
                <a:cs typeface="Malgun Gothic"/>
              </a:rPr>
              <a:t>이 결과는 로직 검증입니다. 고객 사이트의 REST 차단·동시성·복구 시험은 별도입니다.</a:t>
            </a:r>
          </a:p>
        </p:txBody>
      </p:sp>
    </p:spTree>
    <p:extLst>
      <p:ext uri="{BB962C8B-B14F-4D97-AF65-F5344CB8AC3E}">
        <p14:creationId xmlns:p14="http://schemas.microsoft.com/office/powerpoint/2010/main" val="328445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2026-10-15T08:19:45.2710000Z</dcterms:created>
  <dcterms:modified xsi:type="dcterms:W3CDTF">2026-10-15T08:19:45.2710000Z</dcterms:modified>
</coreProperties>
</file>