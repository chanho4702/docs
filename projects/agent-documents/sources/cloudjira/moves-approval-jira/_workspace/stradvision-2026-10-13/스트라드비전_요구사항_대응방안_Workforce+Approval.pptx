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atlassian.com/platform/forge/app-rest-apis/" TargetMode="External"/><Relationship Id="rId2" Type="http://schemas.openxmlformats.org/officeDocument/2006/relationships/hyperlink" Target="https://developer.atlassian.com/platform/forge/manifest-reference/modules/api-route/" TargetMode="External"/><Relationship Id="rId3" Type="http://schemas.openxmlformats.org/officeDocument/2006/relationships/hyperlink" Target="https://developer.atlassian.com/platform/forge/access-rest-apis-exposed-by-a-forge-app/" TargetMode="External"/><Relationship Id="rId4" Type="http://schemas.openxmlformats.org/officeDocument/2006/relationships/hyperlink" Target="https://developer.atlassian.com/cloud/jira/platform/oauth-2-3lo-apps/" TargetMode="External"/><Relationship Id="rId5" Type="http://schemas.openxmlformats.org/officeDocument/2006/relationships/hyperlink" Target="https://developer.atlassian.com/platform/forge/manifest-reference/modules/web-trigger/" TargetMode="External"/><Relationship Id="rId6" Type="http://schemas.openxmlformats.org/officeDocument/2006/relationships/hyperlink" Target="https://developer.atlassian.com/platform/forge/manifest-reference/modules/jira-time-tracking-provider/" TargetMode="External"/><Relationship Id="rId7" Type="http://schemas.openxmlformats.org/officeDocument/2006/relationships/hyperlink" Target="https://developer.atlassian.com/cloud/jira/platform/rest/v3/api-group-issue-worklogs/" TargetMode="External"/><Relationship Id="rId8" Type="http://schemas.openxmlformats.org/officeDocument/2006/relationships/hyperlink" Target="https://developer.atlassian.com/platform/forge/events-reference/product_events/" TargetMode="External"/><Relationship Id="rId9" Type="http://schemas.openxmlformats.org/officeDocument/2006/relationships/hyperlink" Target="https://developer.atlassian.com/platform/forge/manifest-reference/modules/pre-uninstall-trigger/" TargetMode="External"/><Relationship Id="rId10" Type="http://schemas.openxmlformats.org/officeDocument/2006/relationships/hyperlink" Target="https://developer.atlassian.com/platform/forge/storage-reference/sql/" TargetMode="External"/><Relationship Id="rId11" Type="http://schemas.openxmlformats.org/officeDocument/2006/relationships/hyperlink" Target="https://developer.atlassian.com/platform/forge/storage-reference/hosted-storage-data-lifecycle/" TargetMode="External"/><Relationship Id="rId12" Type="http://schemas.openxmlformats.org/officeDocument/2006/relationships/hyperlink" Target="https://developer.atlassian.com/cloud/jira/platform/jira-entity-properties/" TargetMode="External"/><Relationship Id="rId13" Type="http://schemas.openxmlformats.org/officeDocument/2006/relationships/hyperlink" Target="https://developer.atlassian.com/platform/forge/user-privacy-guidelines/" TargetMode="External"/><Relationship Id="rId14" Type="http://schemas.openxmlformats.org/officeDocument/2006/relationships/hyperlink" Target="https://developer.atlassian.com/platform/teams/rest/v1/" TargetMode="External"/><Relationship Id="rId15" Type="http://schemas.openxmlformats.org/officeDocument/2006/relationships/hyperlink" Target="https://developer.atlassian.com/platform/forge/runs-on-atlassian-apps/" TargetMode="External"/><Relationship Id="rId16" Type="http://schemas.openxmlformats.org/officeDocument/2006/relationships/image" Target="../media/image-30-1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3" name="Image 0" descr="C:\CloudJira\moves-workforce\_workspace\product-intro-ppt\assets\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783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3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 JIRA CLOUD  ·  WORKFORCE + APPROVAL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1031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대응 방안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7033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 락킹·승인 · 변경 이력 · SAP 연동 · 사용자 관리 —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앱으로 어떻게 제공하는지, 무엇이 구현됐고 무엇이 남았는지.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5720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9D9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 기록(Tempo 담당 PM 포함 5명) 5개 요구를 워크포스 + 어프로벌 두 앱 기준으로 재판정하고,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9D9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아키텍처·구현 현황·제약·데이터 관리 방안을 공식 문서 근거와 함께 정리했습니다.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54406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B4F49"/>
          </a:solidFill>
          <a:ln w="12700">
            <a:solidFill>
              <a:srgbClr val="1B4F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406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구현 완료 · 실측 전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54406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B4F49"/>
          </a:solidFill>
          <a:ln w="12700">
            <a:solidFill>
              <a:srgbClr val="1B4F4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68880" y="54406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수용 기준 8항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60520" y="54406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B4F49"/>
          </a:solidFill>
          <a:ln w="12700">
            <a:solidFill>
              <a:srgbClr val="1B4F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60520" y="54406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코덱스 독립 검토 반영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54406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B4F49"/>
          </a:solidFill>
          <a:ln w="12700">
            <a:solidFill>
              <a:srgbClr val="1B4F4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54406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문서 근거 40건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33488" y="1458468"/>
            <a:ext cx="4489704" cy="2752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C:\CloudJira\moves-approval-jira\_workspace\stradvision-2026-10-13\images\01-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31620"/>
            <a:ext cx="4343400" cy="2606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06640" y="457200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FBD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앱 역할 분담 · 연동 아키텍처</a:t>
            </a:r>
            <a:endParaRPr lang="en-US" sz="900" dirty="0"/>
          </a:p>
        </p:txBody>
      </p:sp>
      <p:pic>
        <p:nvPicPr>
          <p:cNvPr id="19" name="Image 2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44768"/>
            <a:ext cx="11887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686800" y="61447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spc="2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검토 · 2026-10-13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다룰 내용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요구별 판정 → 아키텍처 → 핵심 기능 구현 → 데이터 관리 → 수용 기준·후속 순서로 설명합니다.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86658" y="2212848"/>
            <a:ext cx="502920" cy="50292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2447" y="2348636"/>
            <a:ext cx="231343" cy="2313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1854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6148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요약과 결론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5468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 5건 판정, "코드 구현"과 "제공 가능"의 구분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38218" y="1984248"/>
            <a:ext cx="3515258" cy="192024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76237" y="2212848"/>
            <a:ext cx="502920" cy="50292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025" y="2348636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2538" y="21854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276148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315468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시스템, 두 앱 역할 분담, 연동 계약(프로퍼티+서명)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27797" y="1984248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865815" y="2212848"/>
            <a:ext cx="502920" cy="50292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604" y="2348636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02117" y="21854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276148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 락킹·승인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402117" y="315468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흐름, 잠금 4층, 통제 Phase·관문, 인증 모델, 구현 근거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78808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86658" y="4407408"/>
            <a:ext cx="502920" cy="50292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447" y="4543196"/>
            <a:ext cx="231343" cy="23134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22960" y="43799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495604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이력·데이터 관리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534924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이력 파이프라인, 데이터 지도, 보존·용량, 개인정보·제거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338218" y="4178808"/>
            <a:ext cx="3515258" cy="192024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076237" y="4407408"/>
            <a:ext cx="502920" cy="50292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025" y="4543196"/>
            <a:ext cx="231343" cy="23134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612538" y="43799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26"/>
          <p:cNvSpPr txBox="1"/>
          <p:nvPr/>
        </p:nvSpPr>
        <p:spPr>
          <a:xfrm>
            <a:off x="4612538" y="495604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SAP·사용자 관리·기타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4612538" y="534924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apiRoute vs xlsx, 조직 동기화 범위, 기타 5건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127797" y="4178808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865815" y="4407408"/>
            <a:ext cx="502920" cy="50292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1604" y="4543196"/>
            <a:ext cx="231343" cy="231343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402117" y="43799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600" dirty="0"/>
          </a:p>
        </p:txBody>
      </p:sp>
      <p:sp>
        <p:nvSpPr>
          <p:cNvPr id="39" name="Text 31"/>
          <p:cNvSpPr txBox="1"/>
          <p:nvPr/>
        </p:nvSpPr>
        <p:spPr>
          <a:xfrm>
            <a:off x="8402117" y="495604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수용 기준과 후속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8402117" y="534924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문구 8항, 코덱스 검토 반영, 후속 조치, 공식 문서</a:t>
            </a:r>
            <a:endParaRPr lang="en-US" sz="1100" dirty="0"/>
          </a:p>
        </p:txBody>
      </p:sp>
      <p:pic>
        <p:nvPicPr>
          <p:cNvPr id="41" name="Image 6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43" name="Text 34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31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요약과 결론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 기록의 "미지원·구조상 불가"는 워크포스 단독 기준입니다.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어프로벌 앱을 포함하면 핵심 요구는 코드 구현이 끝나 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1490472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554480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 5건 × 두 앱 기준 판정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"코드 구현 완료"와 "제공 가능"은 다른 열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제공 가능한 것 / 미완료인 것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 요약과 결론 · 요구별 판정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요구를 두 앱 기준으로 다시 판정했습니다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 기록은 워크포스 단독 기준입니다. 어프로벌(moves-approval-jira)을 같이 보면 3·4번 판정이 바뀝니다.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554480"/>
                <a:gridCol w="1417320"/>
                <a:gridCol w="1691640"/>
                <a:gridCol w="777240"/>
                <a:gridCol w="2697480"/>
                <a:gridCol w="263621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요구사항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미팅 기록 판정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 앱 기준 판정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지금 제공 가능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미완료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SAP 연동(월 1회)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조건부 지원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조건부 지원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워크로그 xlsx 수동 추출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apiRoute(Preview) 실기능 · 호출자 신원 실측 · SAP 필드 매핑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사용자 관리 자동화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부분 지원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부분 지원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엑셀 사용자 등록 · 퇴사자 워크로그는 Jira 원본이라 보존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입·퇴사 자동 반영 · Jira 그룹/역할 동기화 · 팀 열 Import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워크로그 락킹·승인 ⭐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645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미지원 · 구조상 불가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구현 완료 · 실측·연동 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제출→팀장 승인 · 팀 일괄 승인 · 승인자 로깅 · 우리 화면 기간 잠금 · 다른 경로 사후 감지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경로 수정·삭제 차단(Phase B)은 실측 관문 5종 통과 후 · 연동 팀장 명부 게시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변경 이력 감사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645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미지원(Storage 제약)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구현 완료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수집 이후 생성·수정·삭제 이력(전/후 값·행위자·출처) · 보존·내보내기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삭제 행위자·누락률 실측 · 용량 산정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기타 5건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 필요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6-1 경로 있음 / 6-2 부분 / 6-3·4·5 없음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혼합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공휴일 수동 등록 · 미소속자 가이드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OKR·Outlook 범위 밖 권고 · 알림 채널 확인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167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 기록 4.2 "Worklog 를 쌓는 로직을 앱이 직접 컨트롤해야 함" = 어프로벌의 jira:timeTrackingProvider + 통제권 이관 설계. 고객에게는 두 앱 번들로 제안합니다.</a:t>
            </a:r>
            <a:endParaRPr lang="en-US" sz="1050" dirty="0"/>
          </a:p>
        </p:txBody>
      </p:sp>
      <p:pic>
        <p:nvPicPr>
          <p:cNvPr id="7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31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 요약과 결론 · 상태 구분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"코드 구현 완료"와 "고객에게 제공 가능"을 구분합니다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코덱스 독립 검토가 가장 먼저 지적한 점입니다. 세 상태를 섞으면 고객 앞에서 약속이 깨집니다.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515258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21408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2244852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688336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구현 완료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017520"/>
            <a:ext cx="311292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타임시트 제출·팀장 승인·일괄 승인(50건/PIN 1회)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승인자·일시·기간 로깅 + 서명/PIN + 증명서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timeTrackingProvider 로 Jira Log work 대체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visibility 숨김 통제(Phase A~D) + 진단 도구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워크로그 미러·이력 + 보존·내보내기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인증 모델(RFC-220) + 사용자×월 서명 문서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테스트 BE 2,460 · UI 677 통과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8218" y="1938528"/>
            <a:ext cx="3515258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9386" y="2121408"/>
            <a:ext cx="457200" cy="457200"/>
          </a:xfrm>
          <a:prstGeom prst="ellipse">
            <a:avLst/>
          </a:prstGeom>
          <a:solidFill>
            <a:srgbClr val="E39B2C"/>
          </a:solidFill>
          <a:ln w="12700">
            <a:solidFill>
              <a:srgbClr val="E39B2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830" y="2244852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39386" y="2688336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실측 · 연동 미완료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39386" y="3017520"/>
            <a:ext cx="311292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실측 관문 0건 — G_ROLE·G_BLOCK·G_PRESERVE·G_AGG·G_RECOVER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timeTrackingProvider 의 REST·자동화·모바일 차단 여부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워크포스 RFC-220 브랜치 master 미병합 · 일부 미커밋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팀·팀장 명부(rms.org)·제한선(rms.check) 게시 미구현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3LO 호출자 accountId 수신 여부(apiRoute)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삭제 이벤트 행위자 · 이벤트 누락률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27797" y="1938528"/>
            <a:ext cx="3515258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8965" y="2121408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409" y="2244852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8965" y="2688336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준비 미완료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328965" y="3017520"/>
            <a:ext cx="311292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운영 설치처 없음 · Marketplace 미등록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연동 서명 운영(prd) 키 미등록 · 교체 절차 미정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통제 알림(Q130) 미해결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개인정보 보존 정책 법무·Marketplace 확인</a:t>
            </a:r>
            <a:endParaRPr lang="en-US" sz="10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고객 인원·건수 기준 용량·정산 완전성 검증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59893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제안: 두 앱 번들로 제안하되, 왼쪽 열만 "제공"으로 말하고 가운데·오른쪽 열은 일정과 조건으로 말한다.</a:t>
            </a:r>
            <a:endParaRPr lang="en-US" sz="1050" dirty="0"/>
          </a:p>
        </p:txBody>
      </p:sp>
      <p:pic>
        <p:nvPicPr>
          <p:cNvPr id="22" name="Image 3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31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앱 모두 Atlassian Forge 안에서 실행되고,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엔티티 프로퍼티로만 대화합니다.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1819656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554480"/>
            <a:ext cx="3657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시스템 아키텍처(5계층)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앱의 역할 분담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 계약 — 엔티티 프로퍼티 + Ed25519 서명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 모드는 관리자가 명시적으로 켠다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 아키텍처 · 전체 시스템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브라우저부터 저장소·외부까지 — 외부 서버 없이 Forge 안에서 끝납니다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Jira 화면 안 Forge UI → ② Forge 함수(resolver·트리거·큐) → ③ 앱 저장소 → ④ Jira 데이터·프로퍼티 → ⑤ 테넌트 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819656"/>
            <a:ext cx="5937504" cy="4489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CloudJira\moves-approval-jira\_workspace\stradvision-2026-10-13\images\00-system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57912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938528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UI 는 Jira 화면 안 iframe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231136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globalPage·adminPage·issueAction·issueActivity 등 Forge 모듈. CRA 멀티 엔트리 + Atlaskit.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046720" y="2926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2807208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함수는 샌드박스에서 25초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099816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resolver 는 guardedDefine + PermissionMap(미선언 거부). 트리거·스케줄·큐 fan-out.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46720" y="379476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66760" y="3675888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저장소는 설치당 분리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3968496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 SQL(어프로벌) / SQL+KVS(워크포스). 앱 간 공유 불가 → 프로퍼티로 교환.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46720" y="46634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4544568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Jira 가 원본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4837176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워크로그·권한 스킴·visibility. asUser 기본, asApp 은 사유 명시.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046720" y="55321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66760" y="5413248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외부로 나가는 길은 둘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5705856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SAP(관리자가 켜는 apiRoute 또는 xlsx)와 사용자 다운로드. 앱의 외부 전송 없음 → Runs on Atlassian.</a:t>
            </a:r>
            <a:endParaRPr lang="en-US" sz="950" dirty="0"/>
          </a:p>
        </p:txBody>
      </p:sp>
      <p:pic>
        <p:nvPicPr>
          <p:cNvPr id="22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31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 아키텍처 · 역할 분담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잠금·승인·이력은 어프로벌, 인력·계획·원가·API 는 워크포스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워크포스는 어프로벌이 없으면 지금 그대로 단독 동작합니다. 어프로벌은 워크포스가 없으면 앱 내 팀 명부로 팀장을 판정합니다.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819656"/>
            <a:ext cx="737006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CloudJira\moves-approval-jira\_workspace\stradvision-2026-10-13\images\01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7223760" cy="4334256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938528"/>
          <a:ext cx="3596335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417320"/>
                <a:gridCol w="149321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역할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팀·팀장·인력 배정·계획·원가·가동률·간트·외부 API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타임시트 승인·기간 잠금·통제·인증·변경 이력·감사·증명서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저장소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Forge SQL + KVS · 연동으로 새 테이블 없음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Forge SQL · 마이그레이션 v063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모듈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globalPage · issueActivity · customField 6 · scheduledTrigger 4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timeTrackingProvider · workflowValidator · issueAction 2 · trigger 4 · preUninstall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커밋 524 · 운영 배포 경험 · 연동은 RFC-220 브랜치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커밋 30(10/04~12) · 개발 사이트 1회 배포 · Marketplace 미등록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10" name="Text 5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31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 아키텍처 · 연동 계약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프로퍼티는 운반 수단일 뿐, 신뢰는 서명으로 만듭니다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 앱끼리는 저장소 공유·직접 호출이 불가합니다. 엔티티 프로퍼티는 편집 권한자 누구나 쓸 수 있어 서명 검증 후에만 신뢰합니다.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7589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48840"/>
                <a:gridCol w="2926080"/>
                <a:gridCol w="11430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방향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엔티티 · 키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 → 워크포스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사용자 movesApproval.cert.{YYYY-MM}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 시간 문서: 합계 cs · 건수 · [worklogId,초,flag] ≤1,000 · 삭제분 이슈 di · kid/iat/sig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· dev/stg 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 → 워크포스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사용자 movesApproval.{YYYY}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기간별 결재 상태 · 워크로그 묶음 지문(배지용)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 → 워크포스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이슈·프로젝트 movesApproval.ctl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통제 설정 · 하위 경로 넘김 정보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 → 어프로벌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사용자 movesRms.org (cap wlorigin)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능력 신호 · 작성 출처 서명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· 미커밋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 → 어프로벌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사용자 rms.org.leaderKeys · 프로젝트 rms.pm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팀·팀장 명부 · PM — 연동 모드 팀장 판정의 전제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미구현(계약만)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 → 어프로벌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워크로그 rms.check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제한선 위반 코드(OVER_PLAN·NOT_MEMBER) → 예외 승인 단계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미구현(계약만)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193852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= 위조 방지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231136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Ed25519 · 서명 대상에 cloudId·엔티티 id 포함 → 다른 사이트·다른 워크로그로 복사 재사용 불가. 검증 실패 = 없는 것(단독 경로) + 감사 로그.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366760" y="310896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299008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≠ 기밀성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3282696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프로퍼티 읽기 범위는 Jira 엔티티 열람 권한. 판정 결과·지문·합계만 싣고 설명 원문·급여·단가는 싣지 않는다.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366760" y="41605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0" y="404164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연동은 명시적으로 켠다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4334256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어프로벌 workforceLinkEnabled 기본 false(10/12) · 워크포스 approvalLinkMode 기본 OFF. 자동 감지 없음.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66760" y="5212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0" y="509320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운영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5385816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개인키는 forge variables set --encrypt, 공개키는 상대 앱 keyring.js 내장. dev·stg 등록, prd 미등록, 교체·폐기 절차 미정.</a:t>
            </a:r>
            <a:endParaRPr lang="en-US" sz="900" dirty="0"/>
          </a:p>
        </p:txBody>
      </p:sp>
      <p:pic>
        <p:nvPicPr>
          <p:cNvPr id="18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31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 락킹·승인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고객의 핵심 요구입니다.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승인·일괄 승인·로깅은 구현됐고, 잠금은 4층으로 막되 "막지 못하는 것"을 명시합니다.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2148840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5544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타임시트 승인 흐름(사용자×월)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잠금 4층 — 경로별로 다른 장치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Phase A~D 와 실측 관문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모델(RFC-220) — 인증값은 바뀌지 않는다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근거 — 모듈·테이블·resolver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워크로그 락킹·승인 · 승인 흐름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사용자×월 단위로 제출하고 팀장이 결재합니다 — 결정이 진실, 상태는 파생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Tempo 수준의 "단순 1단계 승인 + 팀장 일괄 승인 + 누가 승인했는지 로깅" 요구에 그대로 대응합니다.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819656"/>
            <a:ext cx="7735824" cy="4066765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CloudJira\moves-approval-jira\_workspace\stradvision-2026-10-13\images\03-approval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7589520" cy="392046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0" y="193852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단위 = 사용자×기간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23113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scopeKey TIMESHEET:{accountId}:{periodKey}, 기본 월(approvalUnit 으로 주 변경). 열린 요청은 대상당 하나.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366760" y="2926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0" y="280720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 일괄 승인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09981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팀×기간 매트릭스에서 decideTimesheets 최대 50건 · PIN 1회 · 18초 예산 초과분은 remaining 으로 반환.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66760" y="379476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0" y="367588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승인자 로깅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96849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approval_approver 행이 원천, approval_event 는 결정적 id. 서명/PIN · 증명서 PDF · 감사 탭 검색·엑셀.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66760" y="46634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45445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후 변경 감지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83717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스냅샷 hash 불일치 → CHANGED_AFTER_APPROVAL. 결재 중 변경은 EXPIRED(CONTENT_CHANGED).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55321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0" y="541324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마감·재개방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570585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closePeriod / reopenPeriod 두 단계(새 입력만 · 수정까지: 승인·인증 해제 + 사유 필수).</a:t>
            </a:r>
            <a:endParaRPr lang="en-US" sz="900" dirty="0"/>
          </a:p>
        </p:txBody>
      </p:sp>
      <p:pic>
        <p:nvPicPr>
          <p:cNvPr id="22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31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워크로그 락킹·승인 · 잠금 4층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경로마다 다른 층이 막고, 막지 못하는 것은 감지합니다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"Jira 에 워크로그 쓰기 사전 훅이 없다"는 제약은 그대로입니다. 그래서 화면 대체(2층)·확정분 숨김(4층)·감지(3층)·권한 스킴(1층)을 조합합니다.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819656"/>
            <a:ext cx="7003176" cy="4489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CloudJira\moves-approval-jira\_workspace\stradvision-2026-10-13\images\02-lock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6856872" cy="43434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938528"/>
          <a:ext cx="327629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874520"/>
                <a:gridCol w="89885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층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장치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 누가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권한 스킴 "Work on work items" → 프로젝트 역할만 (고객 관리자)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가이드만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 언제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jira:timeTrackingProvider(Preview) — Jira Log work 숨김 → 우리 화면이 서버 판정 후 거부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· 실측 전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 감지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워크로그 이벤트 3종 + 일일 스윕(worklog/updated·deleted since)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 보호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visibility 를 앱 역할로 제한 → 확정분 수정·삭제는 사람 불가, 앱이 asApp 실행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· 기본 OFF · 관문 전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5257800"/>
            <a:ext cx="3276295" cy="914400"/>
          </a:xfrm>
          <a:prstGeom prst="rect">
            <a:avLst/>
          </a:prstGeom>
          <a:solidFill>
            <a:srgbClr val="FDF3E3"/>
          </a:solidFill>
          <a:ln w="9525">
            <a:solidFill>
              <a:srgbClr val="E39B2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5321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39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막지 못하는 것(수용 기준)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5559552"/>
            <a:ext cx="3047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경로의 새 입력 · 마감만 되고 미승인인 기록 · 원래 제한 공개였던 기록. 비동기 사후 감지(수 초~수 분, 누락 시 하루).</a:t>
            </a:r>
            <a:endParaRPr lang="en-US" sz="900" dirty="0"/>
          </a:p>
        </p:txBody>
      </p:sp>
      <p:pic>
        <p:nvPicPr>
          <p:cNvPr id="11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31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워크로그 락킹·승인 · 통제 Phase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모드는 기본 OFF — 사이트별 실측 관문을 통과해야 서버가 켜 줍니다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목표는 Phase B(승인·인증된 건만 숨김). Phase D(자동 삭제)는 사용자 결정으로 쓰지 않습니다.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58226" y="1819656"/>
            <a:ext cx="6475244" cy="2889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CloudJira\moves-approval-jira\_workspace\stradvision-2026-10-13\images\07-control-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1378" y="1892808"/>
            <a:ext cx="6328940" cy="27432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132320"/>
                <a:gridCol w="2590495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관문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확인하는 것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실패하면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G_ROLE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Forge 앱 계정이 제한 역할(atlassian-addons-project-access) 멤버이고 Edit/Delete all 보유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visibility 안 전체 재검토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G_PRESERVE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visibility 만 PUT 해도 다른 값 보존 · null 로 해제 · notifyUsers=false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후퇴 모드 미구현 → C 금지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G_BLOCK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작성자·관리자·API 토큰 REST 가 숨김분을 GET/PUT/DELETE 못함(404/403)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Phase B 약속 불가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G_AGG · G_RECOVER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이슈 timespent·JQL·리포트 집계 보존 · 해제·제거 복구(preUninstall 55초)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Phase B 약속 불가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10" name="Text 5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31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워크로그 락킹·승인 · 인증 모델(RFC-220)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인증된 시간의 원본은 어프로벌 DB — Jira 가 바뀌어도 인증값은 그대로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"수정을 완전히 막을 수 없으니 수정해도 인증된 시간은 안 바뀌게" — 감사 대응의 핵심 장치입니다.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819656"/>
            <a:ext cx="7735824" cy="36872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CloudJira\moves-approval-jira\_workspace\stradvision-2026-10-13\images\04-cert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7589520" cy="35409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0" y="193852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= 값 고정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23113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팀장이 인증하는 순간 이슈·작성자·시작·초의 지문을 worklog_cert 에 고정. 상위자 인증 원칙, 상위자 없는 팀장만 본인 인증.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366760" y="2926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0" y="280720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변경은 표시만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09981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→ MISMATCH, 삭제 → DELETED. deletedCertifiedHandling KEEP(기본)/ZERO.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66760" y="379476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0" y="367588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워크포스는 문서 범위만 인증 적용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96849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사용자×월 서명 문서가 있는 범위에 인증 시간, 없는 범위는 기존 계산(legacySeconds). 인증 필수 모드는 결정 필요.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66760" y="46634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45445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 완전성 상한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83717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30,000B · 목록 1,000건(초과 시 wt 잘림 → 목록 밖은 UNKNOWN 으로 원가 제외) · 조회 300명.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55321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0" y="541324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FLAG 는 인증을 막지 않음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570585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경로 입력은 출처 경고만. 서버 자동 제외는 워크포스 출처 서명 가동 후.</a:t>
            </a:r>
            <a:endParaRPr lang="en-US" sz="900" dirty="0"/>
          </a:p>
        </p:txBody>
      </p:sp>
      <p:pic>
        <p:nvPicPr>
          <p:cNvPr id="22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31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워크로그 락킹·승인 · 구현 근거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"구현했다"의 근거 — manifest 모듈, 테이블, resolver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어프로벌 리포 master b23524f(2026-10-12). 테스트 BE 157 suites/2,460 · UI 78/677 통과(마지막 검증 기록).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9441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291840"/>
                <a:gridCol w="3291840"/>
                <a:gridCol w="318485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모듈(manifest)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테이블(Forge SQL)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resolver · 함수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승인 요청/승인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globalPage 업무함 · issueActivity 작업 로그 탭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approval_request · approval_approver · approval_event · timesheet_submission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submitTimesheet · decideApproval · getTeamTimesheetMatrix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일괄 승인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globalPage 업무함(팀 매트릭스)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approval_approver(조건부 UPDATE, 삭제-재삽입 금지)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decideTimesheets(≤50건·PIN 1회·18초) · bulkApprove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승인 이력 로깅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adminPage 설정 &gt; 기록 &gt; 감사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approval_event(결정적 id) · approval_signature · approval_pin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getApprovalCertificate · 감사 검색·엑셀 · 보관 내보내기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기간 락킹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jira:timeTrackingProvider · issueAction Log work · trigger worklog-changed · scheduledTrigger approval-sweep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approval_period_close · approval_period_reopen · timesheet_close_drift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closePeriod · reopenPeriod · onWorklogChanged · runSweep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확정분 보호(통제)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preUninstall worklog-control-pre-uninstall · consumer sweep-job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worklog_control · worklog_control_intent · worklog_control_log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WorklogControlWorker(숨김/해제) · recordWorklogControlGate · 진단 도구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issueActivity(인증 배지) · queue(게시)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worklog_cert · worklog_cert_batch · worklog_cert_log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certifyWorklogs · certifyOwnWorklogs · WorkforcePublisher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변경 이력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trigger worklog-changed · scheduledTrigger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worklog_mirror · worklog_history (PK worklog_id, seq)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WorklogHistoryRecorder · exportExpiredRecords · purgeExportedRecords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파일: manifest.yml · src/rdb/schema/ddl/*.sql.js(29종) · src/permission/PermissionMap.js(resolver 3단계 등록 계약 테스트) · docs/DESIGN.md §2.0·§4 · _workspace/worklog-control/01_architect_design.md</a:t>
            </a:r>
            <a:endParaRPr lang="en-US" sz="900" dirty="0"/>
          </a:p>
        </p:txBody>
      </p:sp>
      <p:pic>
        <p:nvPicPr>
          <p:cNvPr id="7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31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이력·데이터 관리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 기록의 "Forge Storage 제약"은 KVS 기준입니다.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어프로벌은 Forge SQL 을 쓰고, 보존·내보내기·용량·개인정보를 설계에 넣었습니다.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1819656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554480"/>
            <a:ext cx="3657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이력 파이프라인(이벤트 → 미러·이력 → 내보내기)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지도 — 어디에, 누가 주인인가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보존 기간과 용량 계획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· 앱 제거 · 레지던시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 이력·데이터 관리 · 변경 이력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생성·수정·삭제를 이벤트로 받아 전/후 값·행위자·출처를 남깁니다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범위는 "수집 시작 이후 관측한 변경" 입니다. 설치 이전 이력·이벤트 사이 중간 수정·Jira 경로 삭제 행위자(미검증)는 빠질 수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819656"/>
            <a:ext cx="7735824" cy="35615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CloudJira\moves-approval-jira\_workspace\stradvision-2026-10-13\images\05-history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7589520" cy="34152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0" y="193852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KVS 가 아니라 Forge SQL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23113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업무함의 다축 필터·정렬·페이징을 Custom Entity(인덱스 7개)로 표현할 수 없어 SQL 선택. 설치당 운영 1GiB.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366760" y="2926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0" y="280720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없는 이력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09981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 PK (worklog_id, seq) 결정적 · 미러 CAS rev=rev+1. 같은 이벤트·스윕 경합은 두 번째가 차이 0 으로 무기록.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66760" y="379476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0" y="367588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 본문 복원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96849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 이벤트에 본문이 없어도 미러의 마지막 스냅샷에서 삭제 기록 생성.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66760" y="46634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45445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원문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83717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기본은 지문 + 앞 40자. worklogHistoryKeepComment 로 원문 보관(+54MB/년).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55321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0" y="541324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 수 없는 것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570585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경로 삭제의 행위자(페이로드 실측 전) · 입력 경로(웹/REST/모바일) 구분 · 설치 이전 이력.</a:t>
            </a:r>
            <a:endParaRPr lang="en-US" sz="900" dirty="0"/>
          </a:p>
        </p:txBody>
      </p:sp>
      <p:pic>
        <p:nvPicPr>
          <p:cNvPr id="22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 31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 이력·데이터 관리 · 데이터 지도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원본은 Jira 에, 앱 데이터는 Atlassian 인프라 안에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앱이 외부 서버로 보내는 경로는 없습니다(Runs on Atlassian). 테넌트 밖으로 나가는 것은 사용자 다운로드와 고객이 켜는 SAP 연동뿐입니다.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819656"/>
            <a:ext cx="7735824" cy="3941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CloudJira\moves-approval-jira\_workspace\stradvision-2026-10-13\images\08-data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7589520" cy="379476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938528"/>
          <a:ext cx="327629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533095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원본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주인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워크로그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승인 결정·서명/PIN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 SQL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고객(설치 단위)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인증된 시간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 SQL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변경 이력·통제·설정 감사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 SQL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팀·인력·급여·계획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 SQL+KVS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서명 개인키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Forge 환경 변수(암호화)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디무브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다운로드 파일(xlsx·PDF)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PC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366760" y="4800600"/>
            <a:ext cx="3276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통제: asUser 기본 · asApp 은 승인된 예외 6조건(호출자=principal · SQL 소유자 조건 선적용 · 건별 열람 재확인 · 우리가 가린 것만 · 설명은 본인만 · 합계·캐시 동일 범위) · 가드 통과 ≠ 범위 확정.</a:t>
            </a:r>
            <a:endParaRPr lang="en-US" sz="900" dirty="0"/>
          </a:p>
        </p:txBody>
      </p:sp>
      <p:pic>
        <p:nvPicPr>
          <p:cNvPr id="9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11" name="Text 6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/ 31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 이력·데이터 관리 · 보존과 용량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보존 기간이 지나도 내보낸 뒤에만 지우고, 용량은 인원 기준으로 산정합니다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 SQL 한도는 환경별(prod 1GiB · stg 256MiB · dev 128MiB)입니다. 앱 환경 변수 STORAGE_LIMIT_BYTES 는 표시 기준만 바꿉니다.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7223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19456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테이블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보존 · 선택지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만료 처리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워크로그 변경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worklog_mirror · worklog_history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일반 12개월 / 워크포스 연결분 36개월(0·12·24·36·60)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내보내기 확정 후 삭제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결재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approval_event/request/approver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3년(0·1·3·5·10)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내보내기 확정 후 삭제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worklog_cert_batch · _log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무기한(0·3·5·7·10)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내보내기 확정 후 삭제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통제 조치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worklog_control_log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무기한(0·1·3·5·7·10)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내보내기 확정 후 삭제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설정 변경 · 알림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approval_settings_audit · approval_notification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365일 고정 · 180일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스윕이 자동 정리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720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45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내보내기(exportExpiredRecords → confirmRecordExport → purgeExportedRecords)는 기록 추출이지 복원 가능한 백업이 아닙니다. 라이선스 INACTIVE 면 내보내기도 막히므로 해지 전에 내려받습니다.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046720" y="1938528"/>
            <a:ext cx="3596335" cy="137160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2048256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200명 기준 연간 적재(실측 전)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2304288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465 MB / 년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871216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3년 보관이면 운영 한도 1GiB 초과 가능 · 1,000명이면 약 5배</a:t>
            </a:r>
            <a:endParaRPr lang="en-US" sz="10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3493008"/>
          <a:ext cx="359633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33295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결재·타임시트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150MB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워크로그 이력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148MB(원문 +54)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80MB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통제(최악)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80MB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프로퍼티 상한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32KB/건 · 목록 1,000건 · 조회 300명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8046720" y="548640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산정 입력값: 인원 × 월 워크로그 건수 × 월 변경 횟수 × 보존 기간</a:t>
            </a:r>
            <a:endParaRPr lang="en-US" sz="950" dirty="0"/>
          </a:p>
        </p:txBody>
      </p:sp>
      <p:pic>
        <p:nvPicPr>
          <p:cNvPr id="13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15" name="Text 10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/ 31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 이력·데이터 관리 · 개인정보 · 제거 · 레지던시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삭제·앱 제거·리전은 운영 절차로 정해 둡니다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코덱스 검토가 지적한 대로 "무조건 보존"·"전량 해제"·"즉시 삭제" 같은 단정은 쓰지 않습니다.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51525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21408"/>
            <a:ext cx="457200" cy="457200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2244852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688336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보고(report:personal-data)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017520"/>
            <a:ext cx="311292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Atlassian 보고 주기(기본 7일)로 삭제(closed)된 계정의 기능용 개인정보(서명 이미지·PIN·알림·위임·명부)만 삭제</a:t>
            </a:r>
            <a:endParaRPr lang="en-US" sz="100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감사 기록의 계정 id 보존은 내부 방침(Q138) — 법무·Marketplace 확인 후 처리방침에 명시</a:t>
            </a:r>
            <a:endParaRPr lang="en-US" sz="100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일반 퇴사(비활성)는 closed 가 오지 않음 → "삭제 말고 비활성화" 가이드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38218" y="1938528"/>
            <a:ext cx="351525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9386" y="2121408"/>
            <a:ext cx="457200" cy="457200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830" y="2244852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39386" y="2688336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제거 절차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39386" y="3017520"/>
            <a:ext cx="311292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주 절차: 관리자가 설정 &gt; 워크로그 통제에서 전체 해제 → 잔여 0 확인 → 제거</a:t>
            </a:r>
            <a:endParaRPr lang="en-US" sz="100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preUninstall 트리거는 45초 예산의 보조 수단, 실패해도 제거 진행(공식 문서)</a:t>
            </a:r>
            <a:endParaRPr lang="en-US" sz="100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제거 후 저장소는 soft delete → 영구 삭제(문서). 제거 전 기록 내보내기 필수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27797" y="1938528"/>
            <a:ext cx="351525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8965" y="2121408"/>
            <a:ext cx="457200" cy="457200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409" y="2244852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8965" y="2688336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레지던시 · 무결성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328965" y="3017520"/>
            <a:ext cx="311292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Forge 호스티드 저장소(SQL·KVS)는 레지던시 지원(문서). 미확인: 고객 사이트 리전 · 두 앱 PINNED · 다운로드/SAP 사본 범위</a:t>
            </a:r>
            <a:endParaRPr lang="en-US" sz="100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결정이 진실·상태 파생, CAS rev+1, 결정적 이벤트 id, 통제 조치는 사유 필수·추가 전용</a:t>
            </a:r>
            <a:endParaRPr lang="en-US" sz="100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증명서 PDF 는 서버의 결정 사실·대상 지문으로 생성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55321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안내 두 줄: ① 퇴사자는 Jira 계정 삭제 말고 비활성화, 삭제 전 감사 기록 내려받기  ② 앱 제거·라이선스 해지 전에 통제 전체 해제 → 잔여 0 확인 → 기록 내보내기</a:t>
            </a:r>
            <a:endParaRPr lang="en-US" sz="1000" dirty="0"/>
          </a:p>
        </p:txBody>
      </p:sp>
      <p:pic>
        <p:nvPicPr>
          <p:cNvPr id="22" name="Image 3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31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SAP · 사용자 관리 · 기타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워크포스가 담당하는 요구입니다.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되는 것과 만들어야 하는 것, 범위 밖을 가릅니다.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1490472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554480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SAP 연동 — xlsx(1차) · core:apiRoute(2차) · webtrigger 는 부적합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관리 — Jira 그룹·역할까지, Atlassian 조직·Teams 는 범위 밖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 요구 6-1 ~ 6-5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 SAP · 사용자 관리 · 기타 · SAP 연동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 — 1차 xlsx 추출, 2차 OAuth 기반 JSON REST(Preview)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static webtrigger 는 고정 응답만 반환하므로 pull API 대안이 아닙니다. OData 는 제품 범위에서 제외합니다.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819656"/>
            <a:ext cx="7735824" cy="3435887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CloudJira\moves-approval-jira\_workspace\stradvision-2026-10-13\images\06-sap-o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7589520" cy="32895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0" y="193852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2026-09-16 실측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23113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apiRoute 모듈 사용만으로 메이저 버전 상승(공식 목록엔 없음) · Runs on Atlassian 배지 유지 · 게이트웨이가 토큰 없는 호출을 401 로 차단.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366760" y="2926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0" y="280720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가드가 전부 우회된다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09981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apiRoute 는 resolver 와 별개 진입점. 신원→권한→스코프→원가 가시성→라이선스를 핸들러가 직접 통과. 급여·원가 기본 제외.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66760" y="379476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0" y="367588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SAP 쪽 책임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96849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3LO 동의·토큰 교환·저장·refresh 회전·재인증. 연동 계정 퇴사·동의 철회 시 배치 중단 → 서비스 계정·절차 필요.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66760" y="46634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45445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미검증 1건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83717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핸들러가 호출자 accountId 를 받는지(3LO 연동 1회 생성). 결과에 따라 권한 모델이 갈린다.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55321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0" y="541324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스코프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570585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환경당 20개 · 삭제·이름 변경 불가 → 이름 체계를 먼저 확정.</a:t>
            </a:r>
            <a:endParaRPr lang="en-US" sz="900" dirty="0"/>
          </a:p>
        </p:txBody>
      </p:sp>
      <p:pic>
        <p:nvPicPr>
          <p:cNvPr id="22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/ 31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 SAP · 사용자 관리 · 기타 · 사용자 관리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그룹·역할 동기화까지 제공, Atlassian 조직·Teams 는 범위 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퇴사자 워크로그는 Jira 원본이라 보존됩니다. 다만 워크포스의 "퇴사 = 삭제"를 "비활성 전환"으로 바꿔 집계·원가도 유지합니다.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4572000"/>
                <a:gridCol w="1310335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현행(코드)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제공 방안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입·퇴사자 자동 반영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users 에 활성/비활성 열 없음 · 퇴사 = 삭제(팀장 참조·배정·일정·스킬·users 행)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사용자 상태(active)·그룹을 주기 스윕으로 읽어 inactive 표시(삭제 아님)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기능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조직 동기화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그룹·역할 호출 코드 0건(getMyGroupApi 정의만)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1단계 Jira 그룹·프로젝트 역할 → 팀 매핑. 어프로벌 연동용 rms.org 명부 게시와 같이 설계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기능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Atlassian 조직 · Teams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Admin API(조직 API 키)·Teams REST 는 Forge/OAuth2 접근 불가(문서) → 범위 밖 명시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645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범위 밖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엑셀 Import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Email 열만 읽어 Jira 사용자 조회 후 큐 등록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팀·팀장 여부·직급·입사일·퇴사일 열 추가(기존 업로드 확장)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있음 · 확장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퇴사자 워크로그 보존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원본이라 보존. users·projectusers 삭제 시 집계·원가에서 빠질 수 있음(미검증)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퇴사 = 비활성 전환으로 집계 유지. 어프로벌: 감사 기록 계정 id 보존, 삭제 계정은 "탈퇴한 사용자 A/B" 표시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안내: 퇴사자는 Jira 계정 삭제 말고 비활성화. 삭제가 필요하면 그 전에 감사 기록 내려받기. "조직 단위"가 Jira 그룹인지 관리자 콘솔 조직인지 확인 요청.</a:t>
            </a:r>
            <a:endParaRPr lang="en-US" sz="1000" dirty="0"/>
          </a:p>
        </p:txBody>
      </p:sp>
      <p:pic>
        <p:nvPicPr>
          <p:cNvPr id="7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 / 31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 SAP · 사용자 관리 · 기타 · 기타 요구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 5건 — 경로 있음 1, 부분 1, 없음 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통신이 필요한 항목(메신저·공휴일 API·Outlook)은 egress 추가 = Runs on Atlassian 배지 상실이라 별도 결정이 필요합니다.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600200"/>
                <a:gridCol w="2651760"/>
                <a:gridCol w="2834640"/>
                <a:gridCol w="822960"/>
                <a:gridCol w="2773375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 현행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 현행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후속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6-1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프로젝트 미소속자 입력 제한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 작업 화면은 소속 프로젝트 이슈만 · RFC-220 에서 소속 확인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가이드·문구(권한 스킴 → 프로젝트 역할) · NOT_MEMBER 수신 코드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9E6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경로 있음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완전 차단은 고객 권한 스킴. 역할 동기화·rms.check 게시는 미구현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6-2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계획 초과 알림(PM, 별도 채널)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초과 배지(100/130%)·가동률 밴드 화면 표시만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OVER_PLAN 수신·예외 단계 코드. 앱 내 알림함 + Jira 코멘트 @멘션(상태 변경 승인만). 메일·Slack 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rms.check 게시 + Jira @멘션(Jira 가 메일 발송). 외부 메신저는 egress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6-3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OKR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 구체화 전 범위 밖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6-4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휴일 자동 Import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공휴일 수동 등록(KVS holiday, workRatio)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휴일 변경 시 환산 기준 재게시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수동만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외부 API = egress. 대안 연 1회 엑셀 Import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6-5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Outlook 연동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용도 확인. Graph 는 외부 인증·egress → 범위 밖 권고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/ 31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수용 기준과 후속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앞에서 터지지 않도록,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괄호 안이 아니라 문장으로 올리는 기준입니다.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2148840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5544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계약·제안서에 올릴 수용 기준 8항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코덱스 독립 검토 25건과 반영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조치 — 약속 수정 → 검증 → 연동 → 고객 범위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회신 초안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— 공식 문서 근거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 수용 기준과 후속 · 수용 기준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계약·제안서에 문장으로 올릴 여덟 가지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워크포스 v2.1 교훈: 괄호 안에 숨기면 계약 때 터집니다.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92808"/>
            <a:ext cx="54100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2082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 의존 2건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13432"/>
            <a:ext cx="440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jira:timeTrackingProvider 와 core:apiRoute 는 Atlassian Preview 기능. 변경·폐기 가능성 명시.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33008" y="1892808"/>
            <a:ext cx="5410048" cy="987552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055968" y="202082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제공자는 사이트당 하나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2313432"/>
            <a:ext cx="440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어프로벌을 시간 추적 제공자로 선택하면 Tempo 를 제공자로 동시에 선택할 수 없다(기능별 전환 영향 확인).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54100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1810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잠금의 범위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410712"/>
            <a:ext cx="440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화면은 서버가 거부. Jira 경로의 승인·인증된 기존 건 수정·삭제는 숨김으로 차단(관문 후 활성화). 새 입력·미승인 기록·원래 제한 공개 기록은 사후 감지.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33008" y="2990088"/>
            <a:ext cx="5410048" cy="987552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5888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055968" y="311810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경로 입력의 정산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55968" y="3410712"/>
            <a:ext cx="440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기본은 출처 경고 표시만, 인증을 막지 않음. 서버 자동 제외는 워크포스 출처 서명 가동 후.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87368"/>
            <a:ext cx="54100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251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21538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이력의 범위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507992"/>
            <a:ext cx="440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시작 이후 관측한 변경. 설치 이전·중간 수정·Jira 경로 삭제 행위자는 빠질 수 있음.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33008" y="4087368"/>
            <a:ext cx="5410048" cy="987552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15888" y="4251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055968" y="421538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원가 "인증분만"의 뜻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55968" y="4507992"/>
            <a:ext cx="440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문서가 있는 사용자×월에 인증 시간 적용, 없는 범위는 기존 계산. 인증 필수 모드는 결정 필요.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184648"/>
            <a:ext cx="54100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31266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제거 전 통제 해제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605272"/>
            <a:ext cx="440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관리자가 전체 해제 실행 → 잔여 0 확인이 주 절차. 제거 트리거는 45초 보조 수단.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33008" y="5184648"/>
            <a:ext cx="5410048" cy="987552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15888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7055968" y="531266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보관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055968" y="5605272"/>
            <a:ext cx="440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설치당 Forge SQL 한도(운영 1GiB) 안에서 보존 기간·내보내기 운영. 내보내기 ≠ 백업.</a:t>
            </a:r>
            <a:endParaRPr lang="en-US" sz="950" dirty="0"/>
          </a:p>
        </p:txBody>
      </p:sp>
      <p:pic>
        <p:nvPicPr>
          <p:cNvPr id="37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/ 31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 수용 기준과 후속 · 독립 검토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코덱스 독립 검토 25건 — 코드 대조 8건 직접 확인, 전부 적중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총평: "코드 구현·개발 사이트 검증·고객 제공 가능 상태를 혼합해 회신 근거로 바로 쓰기 어렵다" → 2판에서 분리했습니다.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017520" cy="137160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지적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042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13  🟠 9  🟡 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712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전부 반영 · 코드 확인 8/8 적중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538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방식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3133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gpt-6.1-sol · 읽기 전용 · 두 리포 열람 · 문서 본문 stdin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727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불가로 남긴 것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02005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관문 결과 · apiRoute 신원 실측 · visibility 차단 · 고객 SAP 필드·인원 · 운영 키·레지던시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938528"/>
          <a:ext cx="7802575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3017520"/>
                <a:gridCol w="2743200"/>
                <a:gridCol w="1721815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지적(🔴 발췌)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확인한 코드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반영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FLAG 는 인증을 막지 않음 → "정산 제외" 자동 성립 안 함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WorklogControlHooks.js:17 FOREIGN_BLOCKS_CERTIFICATION=false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수용 기준 4 · 회신 초안 수정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원가 "인증분만"은 코드와 다름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certification.js:327 legacySeconds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수용 기준 6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Phase B 는 확정분만, 마감만 된 기록 제외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rules.js:197 shouldRestrict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수용 기준 3 · 잠금 4층 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preUninstall 은 45초 보조 수단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onPreUninstall.js:9 PRE_UNINSTALL_BUDGET_MS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수용 기준 7 · 제거 절차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static webtrigger 는 고정 응답, pull API 아님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Web trigger 공식 문서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SAP 방식 B 부적합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보존 표 오류(통제 선택지·설정 변경 자동 정리)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recordRetention.js:26 · ExpiryService.js:387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보존 표 재작성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SQL 한도는 환경별, 환경 변수는 표시만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StorageService.js:8 · Forge SQL 문서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용량 슬라이드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서버 관문은 G_AGG·G_RECOVER 포함 5종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gates.js:47 CONFIRMED_ONLY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Phase·관문 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6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 / 31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 수용 기준과 후속 · 후속 조치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약속 수정 → 실측 → 연동 구현 → 고객 범위 확정 순서입니다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우선순위는 코덱스 권고대로 재배열했습니다. 고객 회신 전에 1번이 끝나야 합니다.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138160"/>
                <a:gridCol w="1371600"/>
                <a:gridCol w="1127455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약속 문구 수정 — 수용 기준 8항을 제안서·회신에 반영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영업·PM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잠금·복구·집계 실측 관문(G_ROLE→G_PRESERVE→G_BLOCK→G_AGG→G_RECOVER→G_POST→G_HANDOFF) · timeTrackingProvider 비UI 경로 · 삭제 이벤트 행위자·H4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 기술 검토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정산 완전성 검증 — 합의 인원·건수에서 프로퍼티 잘림·300명·1,000건 상한 · legacySeconds 정책(인증 필수 모드 여부)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양쪽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 RFC-220 master 병합·미커밋 정리 · rms.org 명부·rms.check 게시 · prd 서명 키·교체 절차 · 통제 알림(Q130)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 구현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양쪽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Tempo 전환·이관 범위 합의(기준선 수집·과거 기간 인증·원가 대사·복귀) · 승인 단위·반려 흐름·재개방 권한자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확인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SAP 데이터 항목·방식·호출 계정 확정 · 3LO 호출자 신원 실측 · 1차 xlsx 수동 추출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+ 내부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그룹·역할 동기화 실측 · 퇴사 = 비활성 설계 · 엑셀 양식 정의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 + 고객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워크포스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이력 용량 산정(인원×건수×보존) · 보존·내보내기·제거 전 해제 운영 절차 · 프로퍼티별 노출 필드 표 · 레지던시(리전·PINNED)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 + 고객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어프로벌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개인정보 보존 정책 법무·Marketplace 확인(Q138)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디무브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6-1~6-5 범위 구체화(OKR·Outlook 범위 밖 권고, 알림 채널 확인)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확인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 / 31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 수용 기준과 후속 · 고객 회신 초안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고객에게 보낼 한 단락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과장·누락 없이, 제공하는 것과 조건을 같은 문단에 둡니다.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251460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21408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 승인·기간 잠금·변경 이력은 Moves Workforce 와 함께 설치하는 Moves Approval 앱이 제공합니다. 월 단위 제출 → 팀장 승인(팀 일괄 승인 포함)과 승인자·일시·대상 기간 기록, 수집 시작 이후의 워크로그 생성·수정·삭제 이력이 포함됩니다. 승인된 기간의 기존 워크로그 수정·삭제는 앱이 차단하고(사이트별 검증 후 활성화), 다른 경로로 새로 입력된 건은 이벤트 기반으로 감지해 표시하고 재승인을 요구합니다 — Jira 플랫폼 제약상 새 입력의 사전 차단은 불가합니다. 이 앱을 시간 추적 제공자로 지정하면 Tempo 를 제공자로 함께 선택할 수 없으므로 전환 시점과 데이터 이관 범위를 함께 정해야 합니다. 두 기능은 Atlassian Preview 모듈에 의존합니다. SAP 연동은 1차로 월 1회 엑셀 추출, 2차로 Atlassian OAuth 기반 JSON REST API(Preview)를 제공하며 OData 는 범위에 포함되지 않습니다.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636008"/>
            <a:ext cx="351525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4818888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말하는 것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5148072"/>
            <a:ext cx="311292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월 제출 → 팀장 승인 · 일괄 승인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승인자·일시·기간 기록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수집 이후 생성·수정·삭제 이력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승인된 기존 건 수정·삭제 차단(검증 후)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38218" y="4636008"/>
            <a:ext cx="351525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39386" y="4818888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조건으로 말하는 것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39386" y="5148072"/>
            <a:ext cx="311292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사이트별 실측 관문 통과 후 활성화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Preview 모듈 2건 의존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Tempo 와 제공자 동시 선택 불가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전환 시점·이관 범위 합의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27797" y="4636008"/>
            <a:ext cx="351525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8965" y="4818888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말하지 않는 것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328965" y="5148072"/>
            <a:ext cx="311292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"즉시 감지" · "승인 순간부터 수정 불가"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"다른 경로 입력은 정산 제외"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"모든 변경의 완전한 감사 로그"</a:t>
            </a:r>
            <a:endParaRPr lang="en-US" sz="950" dirty="0"/>
          </a:p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"OData 제공" · "Atlassian 조직 동기화"</a:t>
            </a:r>
            <a:endParaRPr lang="en-US" sz="950" dirty="0"/>
          </a:p>
        </p:txBody>
      </p:sp>
      <p:pic>
        <p:nvPicPr>
          <p:cNvPr id="16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 / 31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  부록 · 공식 문서 근거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판정의 근거가 된 Atlassian 공식 문서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2026-10-13 URL 응답 확인. "문서" 등급 근거는 실측 전이며 계약 전 해당 항목을 재확인합니다.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754880"/>
                <a:gridCol w="5242255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우리 문서에서의 쓰임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SAP · apiRoute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Forge app REST APIs (Preview)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관리자 활성화 필수 · Runs on Atlassian 적격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API route 모듈 · Expose Forge app REST APIs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path·operation·scopes 계약 · custom-scopes 등록 절차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Access REST APIs exposed by a Forge app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호출 측 절차 · 조직 구성원 누구나 연동 생성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OAuth 2.0 (3LO) apps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SAP 측 토큰 교환·refresh 회전 책임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Web trigger 모듈 (static/dynamic)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static 은 고정 응답 · dynamic 은 배지 실격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잠금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jira:timeTrackingProvider (Preview)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기본 Log work 숨김 · 사이트당 하나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Issue worklogs REST (visibility 조건)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visibility 가 걸린 워크로그의 PUT/DELETE 권한 조건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Product events · Async events API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워크로그 이벤트 3종 · 비동기 사후 감지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Pre-uninstall trigger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55초 · 실패해도 제거 진행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Forge SQL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환경별 한도(prod 1GiB · stg 256MiB · dev 128MiB)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Hosted storage data lifecycle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제거 후 soft delete → 영구 삭제 · 레지던시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Jira entity properties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편집 권한자 누구나 쓸 수 있음 · 32KB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User privacy guidelines · report:personal-data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계정 삭제 보고 주기 · 개인정보 처리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조직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Teams REST API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Forge/OAuth2 접근 불가 → 범위 밖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2F6F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Build Runs on Atlassian apps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remotes·dynamic webtrigger 실격 · apiRoute 적격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6400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스트라드비전 요구사항 대응  ·  Workforce + Approval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 / 31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1463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워크포스 + 어프로벌, 두 앱으로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2860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락킹·승인·이력은 코드가 준비돼 있습니다. 실측과 연동을 끝내고 수용 기준 8항으로 약속합니다.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3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3867912"/>
            <a:ext cx="201168" cy="45720"/>
          </a:xfrm>
          <a:prstGeom prst="rect">
            <a:avLst/>
          </a:prstGeom>
          <a:solidFill>
            <a:srgbClr val="6FD3C6"/>
          </a:solidFill>
          <a:ln w="12700">
            <a:solidFill>
              <a:srgbClr val="6FD3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7490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약속 문구 수정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04164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제안서·회신에 수용 기준 8항 반영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4416552"/>
            <a:ext cx="201168" cy="45720"/>
          </a:xfrm>
          <a:prstGeom prst="rect">
            <a:avLst/>
          </a:prstGeom>
          <a:solidFill>
            <a:srgbClr val="6FD3C6"/>
          </a:solidFill>
          <a:ln w="12700">
            <a:solidFill>
              <a:srgbClr val="6FD3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42976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개발 사이트 실측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59028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G_ROLE → G_PRESERVE → G_BLOCK → G_AGG → G_RECOVER, timeTrackingProvider 비UI 경로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965192"/>
            <a:ext cx="201168" cy="45720"/>
          </a:xfrm>
          <a:prstGeom prst="rect">
            <a:avLst/>
          </a:prstGeom>
          <a:solidFill>
            <a:srgbClr val="6FD3C6"/>
          </a:solidFill>
          <a:ln w="12700">
            <a:solidFill>
              <a:srgbClr val="6FD3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84632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연동 마무리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13892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RFC-220 병합 · 명부/제한선 게시 · 운영 서명 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5513832"/>
            <a:ext cx="201168" cy="45720"/>
          </a:xfrm>
          <a:prstGeom prst="rect">
            <a:avLst/>
          </a:prstGeom>
          <a:solidFill>
            <a:srgbClr val="6FD3C6"/>
          </a:solidFill>
          <a:ln w="12700">
            <a:solidFill>
              <a:srgbClr val="6FD3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539496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고객 확인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68756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Tempo 전환 시점·이관 범위 · SAP 필드 · 인원·보존 기간</a:t>
            </a:r>
            <a:endParaRPr lang="en-US" sz="1050" dirty="0"/>
          </a:p>
        </p:txBody>
      </p:sp>
      <p:pic>
        <p:nvPicPr>
          <p:cNvPr id="18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44768"/>
            <a:ext cx="1188720" cy="2743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686800" y="61447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spc="2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검토 · 2026-10-13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스트라드비전 요구사항 대응 방안 — Moves Workforce + Moves Approval</dc:title>
  <dc:subject>PptxGenJS Presentation</dc:subject>
  <dc:creator>Dmove Inc.</dc:creator>
  <cp:lastModifiedBy>Dmove Inc.</cp:lastModifiedBy>
  <cp:revision>1</cp:revision>
  <dcterms:created xsi:type="dcterms:W3CDTF">2026-10-13T02:33:08Z</dcterms:created>
  <dcterms:modified xsi:type="dcterms:W3CDTF">2026-10-13T02:33:08Z</dcterms:modified>
</cp:coreProperties>
</file>