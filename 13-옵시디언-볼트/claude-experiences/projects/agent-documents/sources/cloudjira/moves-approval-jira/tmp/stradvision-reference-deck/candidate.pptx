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1af4745d61e42a4" /><Relationship Type="http://schemas.openxmlformats.org/officeDocument/2006/relationships/extended-properties" Target="/docProps/app.xml" Id="R5440d54f93424b89" /><Relationship Type="http://schemas.openxmlformats.org/officeDocument/2006/relationships/officeDocument" Target="/ppt/presentation.xml" Id="R4175dd841ffa4ec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022f596251145b7"/>
  </p:sldMasterIdLst>
  <p:notesMasterIdLst>
    <p:notesMasterId xmlns:r="http://schemas.openxmlformats.org/officeDocument/2006/relationships" r:id="Rdf903f3b4ca64ea4"/>
  </p:notesMasterIdLst>
  <p:sldIdLst>
    <p:sldId xmlns:r="http://schemas.openxmlformats.org/officeDocument/2006/relationships" id="256" r:id="R1c71ef3d25f74087"/>
    <p:sldId xmlns:r="http://schemas.openxmlformats.org/officeDocument/2006/relationships" id="257" r:id="R6992b3348edb4cbc"/>
    <p:sldId xmlns:r="http://schemas.openxmlformats.org/officeDocument/2006/relationships" id="258" r:id="R9df90f5f2ee04cb0"/>
    <p:sldId xmlns:r="http://schemas.openxmlformats.org/officeDocument/2006/relationships" id="259" r:id="Rd6740e6a280a40c8"/>
    <p:sldId xmlns:r="http://schemas.openxmlformats.org/officeDocument/2006/relationships" id="260" r:id="R3a87c78ada204a4b"/>
    <p:sldId xmlns:r="http://schemas.openxmlformats.org/officeDocument/2006/relationships" id="261" r:id="Rf43728d656fd480b"/>
    <p:sldId xmlns:r="http://schemas.openxmlformats.org/officeDocument/2006/relationships" id="262" r:id="R3d64a7a7661b44b2"/>
    <p:sldId xmlns:r="http://schemas.openxmlformats.org/officeDocument/2006/relationships" id="263" r:id="R0bf5e4c26b584918"/>
    <p:sldId xmlns:r="http://schemas.openxmlformats.org/officeDocument/2006/relationships" id="264" r:id="R6e9ec17769a24f52"/>
    <p:sldId xmlns:r="http://schemas.openxmlformats.org/officeDocument/2006/relationships" id="265" r:id="R066093a5a37c4c88"/>
    <p:sldId xmlns:r="http://schemas.openxmlformats.org/officeDocument/2006/relationships" id="266" r:id="Radcedda14a0546ae"/>
    <p:sldId xmlns:r="http://schemas.openxmlformats.org/officeDocument/2006/relationships" id="267" r:id="Rc735d1c87be74676"/>
    <p:sldId xmlns:r="http://schemas.openxmlformats.org/officeDocument/2006/relationships" id="268" r:id="R1be5e8bd4fc7425b"/>
    <p:sldId xmlns:r="http://schemas.openxmlformats.org/officeDocument/2006/relationships" id="269" r:id="R5a0c2b8fa0a54ca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9d77c7c6f534ac9" /><Relationship Type="http://schemas.openxmlformats.org/officeDocument/2006/relationships/slideMaster" Target="/ppt/slideMasters/slideMaster1.xml" Id="R2022f596251145b7" /><Relationship Type="http://schemas.openxmlformats.org/officeDocument/2006/relationships/notesMaster" Target="/ppt/notesMasters/notesMaster1.xml" Id="Rdf903f3b4ca64ea4" /><Relationship Type="http://schemas.openxmlformats.org/officeDocument/2006/relationships/presProps" Target="/ppt/presProps.xml" Id="R6a89a588251f4074" /><Relationship Type="http://schemas.openxmlformats.org/officeDocument/2006/relationships/tableStyles" Target="/ppt/tableStyles.xml" Id="R6e80f27768974d50" /><Relationship Type="http://schemas.openxmlformats.org/officeDocument/2006/relationships/slide" Target="/ppt/slides/slide1.xml" Id="R1c71ef3d25f74087" /><Relationship Type="http://schemas.openxmlformats.org/officeDocument/2006/relationships/slide" Target="/ppt/slides/slide2.xml" Id="R6992b3348edb4cbc" /><Relationship Type="http://schemas.openxmlformats.org/officeDocument/2006/relationships/slide" Target="/ppt/slides/slide3.xml" Id="R9df90f5f2ee04cb0" /><Relationship Type="http://schemas.openxmlformats.org/officeDocument/2006/relationships/slide" Target="/ppt/slides/slide4.xml" Id="Rd6740e6a280a40c8" /><Relationship Type="http://schemas.openxmlformats.org/officeDocument/2006/relationships/slide" Target="/ppt/slides/slide5.xml" Id="R3a87c78ada204a4b" /><Relationship Type="http://schemas.openxmlformats.org/officeDocument/2006/relationships/slide" Target="/ppt/slides/slide6.xml" Id="Rf43728d656fd480b" /><Relationship Type="http://schemas.openxmlformats.org/officeDocument/2006/relationships/slide" Target="/ppt/slides/slide7.xml" Id="R3d64a7a7661b44b2" /><Relationship Type="http://schemas.openxmlformats.org/officeDocument/2006/relationships/slide" Target="/ppt/slides/slide8.xml" Id="R0bf5e4c26b584918" /><Relationship Type="http://schemas.openxmlformats.org/officeDocument/2006/relationships/slide" Target="/ppt/slides/slide9.xml" Id="R6e9ec17769a24f52" /><Relationship Type="http://schemas.openxmlformats.org/officeDocument/2006/relationships/slide" Target="/ppt/slides/slide10.xml" Id="R066093a5a37c4c88" /><Relationship Type="http://schemas.openxmlformats.org/officeDocument/2006/relationships/slide" Target="/ppt/slides/slide11.xml" Id="Radcedda14a0546ae" /><Relationship Type="http://schemas.openxmlformats.org/officeDocument/2006/relationships/slide" Target="/ppt/slides/slide12.xml" Id="Rc735d1c87be74676" /><Relationship Type="http://schemas.openxmlformats.org/officeDocument/2006/relationships/slide" Target="/ppt/slides/slide13.xml" Id="R1be5e8bd4fc7425b" /><Relationship Type="http://schemas.openxmlformats.org/officeDocument/2006/relationships/slide" Target="/ppt/slides/slide14.xml" Id="R5a0c2b8fa0a54ca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c95d87860c44f5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algun Gothic"/>
        <a:ea typeface=""/>
        <a:cs typeface=""/>
      </a:majorFont>
      <a:minorFont>
        <a:latin typeface="Malgun Gothi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5a5c46528684bae" /><Relationship Type="http://schemas.openxmlformats.org/officeDocument/2006/relationships/notesMaster" Target="/ppt/notesMasters/notesMaster1.xml" Id="Re9d0eaf5e14f483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3d33fcb77e84ef0" /><Relationship Type="http://schemas.openxmlformats.org/officeDocument/2006/relationships/notesMaster" Target="/ppt/notesMasters/notesMaster1.xml" Id="R20176a1e14534bb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fa33d63ec074175" /><Relationship Type="http://schemas.openxmlformats.org/officeDocument/2006/relationships/notesMaster" Target="/ppt/notesMasters/notesMaster1.xml" Id="R4c72a82452fa435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15d97554c7c4c3c" /><Relationship Type="http://schemas.openxmlformats.org/officeDocument/2006/relationships/notesMaster" Target="/ppt/notesMasters/notesMaster1.xml" Id="R3007dae7e0e24f2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423d5587042426a" /><Relationship Type="http://schemas.openxmlformats.org/officeDocument/2006/relationships/notesMaster" Target="/ppt/notesMasters/notesMaster1.xml" Id="Rcc3e8d211bef4fb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cab67cfe60c47df" /><Relationship Type="http://schemas.openxmlformats.org/officeDocument/2006/relationships/notesMaster" Target="/ppt/notesMasters/notesMaster1.xml" Id="R30d914329350421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8470aafacec416e" /><Relationship Type="http://schemas.openxmlformats.org/officeDocument/2006/relationships/notesMaster" Target="/ppt/notesMasters/notesMaster1.xml" Id="R19301c5542f44c3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d7a5ab5da3f4431" /><Relationship Type="http://schemas.openxmlformats.org/officeDocument/2006/relationships/notesMaster" Target="/ppt/notesMasters/notesMaster1.xml" Id="R459093e7e178431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d36869205f941de" /><Relationship Type="http://schemas.openxmlformats.org/officeDocument/2006/relationships/notesMaster" Target="/ppt/notesMasters/notesMaster1.xml" Id="R720ba26d88304d6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83ad37d3b484cea" /><Relationship Type="http://schemas.openxmlformats.org/officeDocument/2006/relationships/notesMaster" Target="/ppt/notesMasters/notesMaster1.xml" Id="R9de93718d1284c9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07a0e35e3724d55" /><Relationship Type="http://schemas.openxmlformats.org/officeDocument/2006/relationships/notesMaster" Target="/ppt/notesMasters/notesMaster1.xml" Id="Rc975140190d04a9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e613e2c82d1484e" /><Relationship Type="http://schemas.openxmlformats.org/officeDocument/2006/relationships/notesMaster" Target="/ppt/notesMasters/notesMaster1.xml" Id="Re33c4e583d2141f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d2b65cbe92741c0" /><Relationship Type="http://schemas.openxmlformats.org/officeDocument/2006/relationships/notesMaster" Target="/ppt/notesMasters/notesMaster1.xml" Id="R62a8eacc69c94da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af36f11dac34a2e" /><Relationship Type="http://schemas.openxmlformats.org/officeDocument/2006/relationships/notesMaster" Target="/ppt/notesMasters/notesMaster1.xml" Id="Rb721a28bc9a04a4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참고 디자인: [디무브] Atlassian Cloud 계열사간 협업공간 유지방안.pdf. 내용: 01_개발_기능제공_제안서.md, 02_기능_검증_결과서.md (2026-10-16). 디자인 참조용 PDF의 로고와 원형 장식 사용. 기능 검증은 후속 증거 작성 전 단계.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참고 디자인: [디무브] Atlassian Cloud 계열사간 협업공간 유지방안.pdf. 내용: 01_개발_기능제공_제안서.md, 02_기능_검증_결과서.md (2026-10-16).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참고 디자인: [디무브] Atlassian Cloud 계열사간 협업공간 유지방안.pdf. 내용: 01_개발_기능제공_제안서.md, 02_기능_검증_결과서.md (2026-10-16). Forge SQL 및 KVS/Custom Entity 사용. 앱별 저장소는 분리. 앱 상호 API는 제안 구조이며 현재 제공 완료 주장이 아님. https://developer.atlassian.com/platform/forge/app-rest-apis/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참고 디자인: [디무브] Atlassian Cloud 계열사간 협업공간 유지방안.pdf. 내용: 01_개발_기능제공_제안서.md, 02_기능_검증_결과서.md (2026-10-16).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참고 디자인: [디무브] Atlassian Cloud 계열사간 협업공간 유지방안.pdf. 내용: 01_개발_기능제공_제안서.md, 02_기능_검증_결과서.md (2026-10-16).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참고 디자인: [디무브] Atlassian Cloud 계열사간 협업공간 유지방안.pdf. 내용: 01_개발_기능제공_제안서.md, 02_기능_검증_결과서.md (2026-10-16).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참고 디자인: [디무브] Atlassian Cloud 계열사간 협업공간 유지방안.pdf. 내용: 01_개발_기능제공_제안서.md, 02_기능_검증_결과서.md (2026-10-16). 플랫폼 근거: https://developer.atlassian.com/platform/forge/app-rest-apis/ . API 실제 호출 성공 결과는 미기입. 연결 설치, scope 및 호출자 권한 확인 필요.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참고 디자인: [디무브] Atlassian Cloud 계열사간 협업공간 유지방안.pdf. 내용: 01_개발_기능제공_제안서.md, 02_기능_검증_결과서.md (2026-10-16). 사용자 요청에 따른 검증 증거 입력용 슬라이드. 캡처 영역과 실제 결과·판정·실행일·대상 값은 공란. 수행 전 합격으로 작성하지 않음.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참고 디자인: [디무브] Atlassian Cloud 계열사간 협업공간 유지방안.pdf. 내용: 01_개발_기능제공_제안서.md, 02_기능_검증_결과서.md (2026-10-16). 앱 통제와 Jira visibility 제한을 구분. 일반 작성자·관리자·Automation은 별도 시험. 단순 오류 응답은 차단 증거가 아니며 원본 유지 확인 필요.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참고 디자인: [디무브] Atlassian Cloud 계열사간 협업공간 유지방안.pdf. 내용: 01_개발_기능제공_제안서.md, 02_기능_검증_결과서.md (2026-10-16). 사용자 요청에 따른 검증 증거 입력용 슬라이드. 캡처 영역과 실제 결과·판정·실행일·대상 값은 공란. 수행 전 합격으로 작성하지 않음.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참고 디자인: [디무브] Atlassian Cloud 계열사간 협업공간 유지방안.pdf. 내용: 01_개발_기능제공_제안서.md, 02_기능_검증_결과서.md (2026-10-16). 사용자 요청에 따른 검증 증거 입력용 슬라이드. 캡처 영역과 실제 결과·판정·실행일·대상 값은 공란. 수행 전 합격으로 작성하지 않음.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참고 디자인: [디무브] Atlassian Cloud 계열사간 협업공간 유지방안.pdf. 내용: 01_개발_기능제공_제안서.md, 02_기능_검증_결과서.md (2026-10-16). 사용자 요청: 워크로그 업데이트·승인 이력을 Forge Storage에 저장, 설명 부분 지원. 이력 원장은 Forge SQL을 사용. 확인되지 않은 행위자는 추정하지 않음. 설명 전체 원문 및 과거 모든 버전 복원을 보장하지 않음. 부분 보존 범위는 고객과 확정.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참고 디자인: [디무브] Atlassian Cloud 계열사간 협업공간 유지방안.pdf. 내용: 01_개발_기능제공_제안서.md, 02_기능_검증_결과서.md (2026-10-16). 제안 추가 개발 범위: 정기 이력 파일 생성과 고객 보관 연계. 현재 정기 자동 내보내기가 구현·검증 완료라는 의미는 아님. 파일 생성만으로 Forge 공간이 회수되는 것은 아니며 확정된 보관 정책에 따른 정리 대상만 처리. 실패·누락·전달 미확인 시 원본을 보존. 설명 부분 보존의 한계는 파일에도 동일 적용.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참고 디자인: [디무브] Atlassian Cloud 계열사간 협업공간 유지방안.pdf. 내용: 01_개발_기능제공_제안서.md, 02_기능_검증_결과서.md (2026-10-16). 기존 테스트 6 suites / 151 passed, check:bundle passed. 원본: evidence/approval-jest-results.json 및 approval-bundle-console.log. 모의 테스트는 실사이트 차단 증거가 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785ca6d5844a6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5e9ce2230f46a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f53f5fc2f54e4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6b1c3f04e245e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fd730674a34e4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b2deb5d05147d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45AB5D4-3AE3-4D8F-AD53-02A587B716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D12477B-F142-44D5-87A1-5051055B731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CBECCD1-489F-4A34-A1D3-0B6E5130F5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7CE84B5-3D7A-4FF4-8A18-21F9379BC2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87C4647-E642-4552-A5C1-CAE9B5DB5CC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A830859-27F1-4D22-82B6-AD8488F3ED2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9822B67-585C-411E-8DF8-C1B856B2DE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7DBA3DA-B0BA-4E0C-8B15-54081D2A504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29CE6BF-9E24-4910-BE02-06B6502F00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483BF1A-BE99-4FDC-BE0C-DB1A3D239E0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1bf7302e28c4e2d" /><Relationship Type="http://schemas.openxmlformats.org/officeDocument/2006/relationships/slideLayout" Target="/ppt/slideLayouts/slideLayout1.xml" Id="Re99ff9b7eb4b40bc" /><Relationship Type="http://schemas.openxmlformats.org/officeDocument/2006/relationships/slideLayout" Target="/ppt/slideLayouts/slideLayout2.xml" Id="R86a318b3f8474112" /><Relationship Type="http://schemas.openxmlformats.org/officeDocument/2006/relationships/slideLayout" Target="/ppt/slideLayouts/slideLayout3.xml" Id="R94826952e9584d7c" /><Relationship Type="http://schemas.openxmlformats.org/officeDocument/2006/relationships/slideLayout" Target="/ppt/slideLayouts/slideLayout4.xml" Id="Rdc778991f34741fb" /><Relationship Type="http://schemas.openxmlformats.org/officeDocument/2006/relationships/slideLayout" Target="/ppt/slideLayouts/slideLayout5.xml" Id="Rbf6d51d9c03448c8" /><Relationship Type="http://schemas.openxmlformats.org/officeDocument/2006/relationships/slideLayout" Target="/ppt/slideLayouts/slideLayout6.xml" Id="R36b2b425ca3244f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99ff9b7eb4b40bc"/>
    <p:sldLayoutId xmlns:r="http://schemas.openxmlformats.org/officeDocument/2006/relationships" id="2147483650" r:id="R86a318b3f8474112"/>
    <p:sldLayoutId xmlns:r="http://schemas.openxmlformats.org/officeDocument/2006/relationships" id="2147483651" r:id="R94826952e9584d7c"/>
    <p:sldLayoutId xmlns:r="http://schemas.openxmlformats.org/officeDocument/2006/relationships" id="2147483652" r:id="Rdc778991f34741fb"/>
    <p:sldLayoutId xmlns:r="http://schemas.openxmlformats.org/officeDocument/2006/relationships" id="2147483653" r:id="Rbf6d51d9c03448c8"/>
    <p:sldLayoutId xmlns:r="http://schemas.openxmlformats.org/officeDocument/2006/relationships" id="2147483654" r:id="R36b2b425ca3244f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algun Gothic"/>
        <a:ea typeface=""/>
        <a:cs typeface=""/>
      </a:majorFont>
      <a:minorFont>
        <a:latin typeface="Malgun Gothi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ec6f89abc624a10" /><Relationship Type="http://schemas.openxmlformats.org/officeDocument/2006/relationships/image" Target="/ppt/media/image.png" Id="R509be409db6748af" /><Relationship Type="http://schemas.openxmlformats.org/officeDocument/2006/relationships/image" Target="/ppt/media/image2.png" Id="Re2fba8699d13429a" /><Relationship Type="http://schemas.openxmlformats.org/officeDocument/2006/relationships/notesSlide" Target="/ppt/notesSlides/notesSlide1.xml" Id="Rd0bbdf4d588a4bf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140797336244f1" /><Relationship Type="http://schemas.openxmlformats.org/officeDocument/2006/relationships/image" Target="/ppt/media/image3.png" Id="Red36aa37f4a34242" /><Relationship Type="http://schemas.openxmlformats.org/officeDocument/2006/relationships/notesSlide" Target="/ppt/notesSlides/notesSlide2.xml" Id="Raded2d682a80493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47647d2f794f9d" /><Relationship Type="http://schemas.openxmlformats.org/officeDocument/2006/relationships/image" Target="/ppt/media/image4.png" Id="R214d534fdc9645e3" /><Relationship Type="http://schemas.openxmlformats.org/officeDocument/2006/relationships/notesSlide" Target="/ppt/notesSlides/notesSlide3.xml" Id="R440bc8d11591454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7065c426f848c3" /><Relationship Type="http://schemas.openxmlformats.org/officeDocument/2006/relationships/image" Target="/ppt/media/image5.png" Id="R653bb6e53270478e" /><Relationship Type="http://schemas.openxmlformats.org/officeDocument/2006/relationships/notesSlide" Target="/ppt/notesSlides/notesSlide4.xml" Id="R41c42fdbc16343d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55e98440ff4c86" /><Relationship Type="http://schemas.openxmlformats.org/officeDocument/2006/relationships/image" Target="/ppt/media/image6.png" Id="R5e14ddc225aa40c2" /><Relationship Type="http://schemas.openxmlformats.org/officeDocument/2006/relationships/notesSlide" Target="/ppt/notesSlides/notesSlide5.xml" Id="R106b09c933064ad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ec305beb4a24e2f" /><Relationship Type="http://schemas.openxmlformats.org/officeDocument/2006/relationships/image" Target="/ppt/media/image7.png" Id="Ra695761a3b2e4d41" /><Relationship Type="http://schemas.openxmlformats.org/officeDocument/2006/relationships/notesSlide" Target="/ppt/notesSlides/notesSlide6.xml" Id="R64917d2109984f0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f25272f7d349da" /><Relationship Type="http://schemas.openxmlformats.org/officeDocument/2006/relationships/image" Target="/ppt/media/image8.png" Id="Rc7e90053169a4255" /><Relationship Type="http://schemas.openxmlformats.org/officeDocument/2006/relationships/notesSlide" Target="/ppt/notesSlides/notesSlide7.xml" Id="R195fa83d33bd4f3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8a8febe43a4c9c" /><Relationship Type="http://schemas.openxmlformats.org/officeDocument/2006/relationships/image" Target="/ppt/media/image9.png" Id="R76d5c7e8cd354c87" /><Relationship Type="http://schemas.openxmlformats.org/officeDocument/2006/relationships/notesSlide" Target="/ppt/notesSlides/notesSlide8.xml" Id="Rde9fc6f41d8040b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462ac885074d48" /><Relationship Type="http://schemas.openxmlformats.org/officeDocument/2006/relationships/image" Target="/ppt/media/image10.png" Id="R287a2abb59274d84" /><Relationship Type="http://schemas.openxmlformats.org/officeDocument/2006/relationships/notesSlide" Target="/ppt/notesSlides/notesSlide9.xml" Id="R4414c5f41f2448d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03e66e9e30485b" /><Relationship Type="http://schemas.openxmlformats.org/officeDocument/2006/relationships/image" Target="/ppt/media/image11.png" Id="R3e4ae31a93ea41e1" /><Relationship Type="http://schemas.openxmlformats.org/officeDocument/2006/relationships/notesSlide" Target="/ppt/notesSlides/notesSlide10.xml" Id="R34a40ccbdd1a408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fe7230e45a64968" /><Relationship Type="http://schemas.openxmlformats.org/officeDocument/2006/relationships/image" Target="/ppt/media/image12.png" Id="R96a14585f3864918" /><Relationship Type="http://schemas.openxmlformats.org/officeDocument/2006/relationships/notesSlide" Target="/ppt/notesSlides/notesSlide11.xml" Id="R3ecbf21ba3f146a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2c3d6d7f08489c" /><Relationship Type="http://schemas.openxmlformats.org/officeDocument/2006/relationships/image" Target="/ppt/media/image13.png" Id="Rbdaafe9d700b4fbd" /><Relationship Type="http://schemas.openxmlformats.org/officeDocument/2006/relationships/notesSlide" Target="/ppt/notesSlides/notesSlide12.xml" Id="R37702c8488f0494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0f9e958b0b4677" /><Relationship Type="http://schemas.openxmlformats.org/officeDocument/2006/relationships/image" Target="/ppt/media/image14.png" Id="R5c7ae6e03e5e4260" /><Relationship Type="http://schemas.openxmlformats.org/officeDocument/2006/relationships/notesSlide" Target="/ppt/notesSlides/notesSlide13.xml" Id="Rd29523e1a73047f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764d683b4b4c13" /><Relationship Type="http://schemas.openxmlformats.org/officeDocument/2006/relationships/image" Target="/ppt/media/image15.png" Id="Rfd4baf877b8e4260" /><Relationship Type="http://schemas.openxmlformats.org/officeDocument/2006/relationships/notesSlide" Target="/ppt/notesSlides/notesSlide14.xml" Id="R7c833c3f6843445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023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1E1DB4-80DD-49E7-9C97-B29A9D2D169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9be409db6748af"/>
          <a:stretch xmlns:a="http://schemas.openxmlformats.org/drawingml/2006/main"/>
        </p:blipFill>
        <p:spPr>
          <a:xfrm xmlns:a="http://schemas.openxmlformats.org/drawingml/2006/main">
            <a:off x="7962900" y="1610"/>
            <a:ext cx="4229100" cy="4263979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3880E1-BED0-4EEB-9BC9-C83D48F39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975" b="1">
                <a:solidFill>
                  <a:srgbClr val="1B9DA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1B9DA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B9DA2"/>
                </a:solidFill>
                <a:latin typeface="Malgun Gothic"/>
                <a:ea typeface="Malgun Gothic"/>
                <a:cs typeface="Malgun Gothic"/>
              </a:rPr>
              <a:t>C O N F I D E N T I A L   ·   2 0 2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CCCA90-6B8F-455D-99A3-4C94FE83C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0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A4ACA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A4ACA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A4ACAF"/>
                </a:solidFill>
                <a:latin typeface="Malgun Gothic"/>
                <a:ea typeface="Malgun Gothic"/>
                <a:cs typeface="Malgun Gothic"/>
              </a:rPr>
              <a:t>Moves Workforce / Moves Approval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62E150-73DE-49C1-9EB0-A90F4140C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19375"/>
            <a:ext cx="1066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스트라드비전</a:t>
            </a:r>
          </a:p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워크로그 승인 및 통제 방안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4A368E-D2F1-44F3-8A71-DFA1EB443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33900"/>
            <a:ext cx="571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DA2"/>
          </a:solidFill>
          <a:ln xmlns:a="http://schemas.openxmlformats.org/drawingml/2006/main" w="0">
            <a:solidFill>
              <a:srgbClr val="1B9DA2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129026-1A8C-4711-B658-FD4FC3F95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0060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B0B6B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B0B6B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B0B6BA"/>
                </a:solidFill>
                <a:latin typeface="Malgun Gothic"/>
                <a:ea typeface="Malgun Gothic"/>
                <a:cs typeface="Malgun Gothic"/>
              </a:rPr>
              <a:t>Atlassian Forge 기반 두 앱 연동과 외부 API 제공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270773-BD02-40AA-80BD-FE72D0057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769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9DA6AB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9DA6A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9DA6AB"/>
                </a:solidFill>
                <a:latin typeface="Malgun Gothic"/>
                <a:ea typeface="Malgun Gothic"/>
                <a:cs typeface="Malgun Gothic"/>
              </a:rPr>
              <a:t>2026.10.16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F2A57B-1A04-4F38-B79A-17DB83D7052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fba8699d13429a"/>
          <a:stretch xmlns:a="http://schemas.openxmlformats.org/drawingml/2006/main"/>
        </p:blipFill>
        <p:spPr>
          <a:xfrm xmlns:a="http://schemas.openxmlformats.org/drawingml/2006/main">
            <a:off x="10429875" y="6107906"/>
            <a:ext cx="1247775" cy="30003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5852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C8F411-A335-4E91-AAEE-24310EDBB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8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DA2"/>
          </a:solidFill>
          <a:ln xmlns:a="http://schemas.openxmlformats.org/drawingml/2006/main" w="0">
            <a:solidFill>
              <a:srgbClr val="1B9DA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35F202-F23C-4BFF-B78D-82A5281BC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DA2"/>
          </a:solidFill>
          <a:ln xmlns:a="http://schemas.openxmlformats.org/drawingml/2006/main" w="0">
            <a:solidFill>
              <a:srgbClr val="1B9DA2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C944C7-5A7F-479D-A70F-DB6E90F79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9057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B737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B7379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B7379"/>
                </a:solidFill>
                <a:latin typeface="Malgun Gothic"/>
                <a:ea typeface="Malgun Gothic"/>
                <a:cs typeface="Malgun Gothic"/>
              </a:rPr>
              <a:t>개발 및 기능 제공 제안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FFF186-9524-4E6E-8108-C5F8B87A3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57300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20242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202427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202427"/>
                </a:solidFill>
                <a:latin typeface="Malgun Gothic"/>
                <a:ea typeface="Malgun Gothic"/>
                <a:cs typeface="Malgun Gothic"/>
              </a:rPr>
              <a:t>01. 제안 범위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6B23E6-47D6-4216-B19F-804374764EA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36aa37f4a34242"/>
          <a:stretch xmlns:a="http://schemas.openxmlformats.org/drawingml/2006/main"/>
        </p:blipFill>
        <p:spPr>
          <a:xfrm xmlns:a="http://schemas.openxmlformats.org/drawingml/2006/main">
            <a:off x="495300" y="6441281"/>
            <a:ext cx="819150" cy="195263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F55FFC-3486-483A-9CF7-78C0F3E07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B737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B737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B7379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3D31B3-4CD4-4C10-A035-9BE3BEFBB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33625"/>
            <a:ext cx="3619500" cy="3476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BBCCF6-1B47-4541-AB18-7E41691C9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581275"/>
            <a:ext cx="304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1B9DA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B9DA2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B9DA2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97A8DE-652E-4B7C-A819-2858AD54A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343275"/>
            <a:ext cx="3105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20242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0242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02427"/>
                </a:solidFill>
                <a:latin typeface="Malgun Gothic"/>
                <a:ea typeface="Malgun Gothic"/>
                <a:cs typeface="Malgun Gothic"/>
              </a:rPr>
              <a:t>두 앱의 역할 분담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6E327D-1FF4-4E2F-BF36-E33759B36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276725"/>
            <a:ext cx="31051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6B737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6B7379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B7379"/>
                </a:solidFill>
                <a:latin typeface="Malgun Gothic"/>
                <a:ea typeface="Malgun Gothic"/>
                <a:cs typeface="Malgun Gothic"/>
              </a:rPr>
              <a:t>Workforce는 조직·입력·보고를,</a:t>
            </a:r>
          </a:p>
          <a:p xmlns:a="http://schemas.openxmlformats.org/drawingml/2006/main">
            <a:pPr>
              <a:defRPr sz="1725" b="0">
                <a:solidFill>
                  <a:srgbClr val="6B7379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B7379"/>
                </a:solidFill>
                <a:latin typeface="Malgun Gothic"/>
                <a:ea typeface="Malgun Gothic"/>
                <a:cs typeface="Malgun Gothic"/>
              </a:rPr>
              <a:t>Approval은 승인·마감·통제를</a:t>
            </a:r>
          </a:p>
          <a:p xmlns:a="http://schemas.openxmlformats.org/drawingml/2006/main">
            <a:pPr>
              <a:defRPr sz="1725" b="0">
                <a:solidFill>
                  <a:srgbClr val="6B7379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B7379"/>
                </a:solidFill>
                <a:latin typeface="Malgun Gothic"/>
                <a:ea typeface="Malgun Gothic"/>
                <a:cs typeface="Malgun Gothic"/>
              </a:rPr>
              <a:t>담당합니다.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2447E3-CB06-48EE-A511-7AFE57EC3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33625"/>
            <a:ext cx="3619500" cy="3476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10F87E-C551-4228-B68B-52956BC32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581275"/>
            <a:ext cx="304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1B9DA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B9DA2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B9DA2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BB2944-CCDA-4381-BC1C-130644FBD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343275"/>
            <a:ext cx="3105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20242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0242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02427"/>
                </a:solidFill>
                <a:latin typeface="Malgun Gothic"/>
                <a:ea typeface="Malgun Gothic"/>
                <a:cs typeface="Malgun Gothic"/>
              </a:rPr>
              <a:t>외부 REST API 제공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D21DBF-C1DA-44DA-BAA3-7E57F5D25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4276725"/>
            <a:ext cx="31051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6B737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6B7379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B7379"/>
                </a:solidFill>
                <a:latin typeface="Malgun Gothic"/>
                <a:ea typeface="Malgun Gothic"/>
                <a:cs typeface="Malgun Gothic"/>
              </a:rPr>
              <a:t>앱 간 연동과 외부 시스템에</a:t>
            </a:r>
          </a:p>
          <a:p xmlns:a="http://schemas.openxmlformats.org/drawingml/2006/main">
            <a:pPr>
              <a:defRPr sz="1725" b="0">
                <a:solidFill>
                  <a:srgbClr val="6B7379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B7379"/>
                </a:solidFill>
                <a:latin typeface="Malgun Gothic"/>
                <a:ea typeface="Malgun Gothic"/>
                <a:cs typeface="Malgun Gothic"/>
              </a:rPr>
              <a:t>필요한 정보를 인증된 API로</a:t>
            </a:r>
          </a:p>
          <a:p xmlns:a="http://schemas.openxmlformats.org/drawingml/2006/main">
            <a:pPr>
              <a:defRPr sz="1725" b="0">
                <a:solidFill>
                  <a:srgbClr val="6B7379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B7379"/>
                </a:solidFill>
                <a:latin typeface="Malgun Gothic"/>
                <a:ea typeface="Malgun Gothic"/>
                <a:cs typeface="Malgun Gothic"/>
              </a:rPr>
              <a:t>제공하도록 개발합니다.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84FFBA-F1CC-41CC-80CF-60C27C67A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333625"/>
            <a:ext cx="3619500" cy="3476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DD31A2-6E4C-4E67-910F-0876B0F5B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581275"/>
            <a:ext cx="304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1B9DA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B9DA2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B9DA2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53631C-4E39-4425-B57C-6F5A379D2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3343275"/>
            <a:ext cx="3105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20242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0242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02427"/>
                </a:solidFill>
                <a:latin typeface="Malgun Gothic"/>
                <a:ea typeface="Malgun Gothic"/>
                <a:cs typeface="Malgun Gothic"/>
              </a:rPr>
              <a:t>승인 기록 보호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685A94-F10E-4793-993D-FABD74396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4276725"/>
            <a:ext cx="31051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6B737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6B7379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B7379"/>
                </a:solidFill>
                <a:latin typeface="Malgun Gothic"/>
                <a:ea typeface="Malgun Gothic"/>
                <a:cs typeface="Malgun Gothic"/>
              </a:rPr>
              <a:t>승인·마감된 워크로그의</a:t>
            </a:r>
          </a:p>
          <a:p xmlns:a="http://schemas.openxmlformats.org/drawingml/2006/main">
            <a:pPr>
              <a:defRPr sz="1725" b="0">
                <a:solidFill>
                  <a:srgbClr val="6B7379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B7379"/>
                </a:solidFill>
                <a:latin typeface="Malgun Gothic"/>
                <a:ea typeface="Malgun Gothic"/>
                <a:cs typeface="Malgun Gothic"/>
              </a:rPr>
              <a:t>수정·삭제를 제한하고</a:t>
            </a:r>
          </a:p>
          <a:p xmlns:a="http://schemas.openxmlformats.org/drawingml/2006/main">
            <a:pPr>
              <a:defRPr sz="1725" b="0">
                <a:solidFill>
                  <a:srgbClr val="6B7379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B7379"/>
                </a:solidFill>
                <a:latin typeface="Malgun Gothic"/>
                <a:ea typeface="Malgun Gothic"/>
                <a:cs typeface="Malgun Gothic"/>
              </a:rPr>
              <a:t>변경 이력을 보존합니다.</a:t>
            </a:r>
          </a:p>
        </p:txBody>
      </p:sp>
    </p:spTree>
    <p:extLst>
      <p:ext uri="{BB962C8B-B14F-4D97-AF65-F5344CB8AC3E}">
        <p14:creationId xmlns:p14="http://schemas.microsoft.com/office/powerpoint/2010/main" val="112539796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9F4311-E655-41D0-A9F2-DA1FC5132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8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DA2"/>
          </a:solidFill>
          <a:ln xmlns:a="http://schemas.openxmlformats.org/drawingml/2006/main" w="0">
            <a:solidFill>
              <a:srgbClr val="1B9DA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B6126D-9204-475E-BA4F-5700936B6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DA2"/>
          </a:solidFill>
          <a:ln xmlns:a="http://schemas.openxmlformats.org/drawingml/2006/main" w="0">
            <a:solidFill>
              <a:srgbClr val="1B9DA2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BDC1FD-7046-42AA-9F81-8A99AD35F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9057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B737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B7379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B7379"/>
                </a:solidFill>
                <a:latin typeface="Malgun Gothic"/>
                <a:ea typeface="Malgun Gothic"/>
                <a:cs typeface="Malgun Gothic"/>
              </a:rPr>
              <a:t>개발 및 기능 제공 제안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C0CB3B-7FCF-46E4-9CBA-7F64C4380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57300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20242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202427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202427"/>
                </a:solidFill>
                <a:latin typeface="Malgun Gothic"/>
                <a:ea typeface="Malgun Gothic"/>
                <a:cs typeface="Malgun Gothic"/>
              </a:rPr>
              <a:t>02. Atlassian Forge 기반 아키텍처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88135B-147C-4C8F-A126-0D74E255384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4d534fdc9645e3"/>
          <a:stretch xmlns:a="http://schemas.openxmlformats.org/drawingml/2006/main"/>
        </p:blipFill>
        <p:spPr>
          <a:xfrm xmlns:a="http://schemas.openxmlformats.org/drawingml/2006/main">
            <a:off x="495300" y="6441281"/>
            <a:ext cx="819150" cy="195263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3D0F59-4AE2-4678-AD40-56DAB1174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B737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B737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B7379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7379B0-BD4C-435B-9183-C665339A3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47875"/>
            <a:ext cx="11163300" cy="3381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5"/>
          </a:solidFill>
          <a:ln xmlns:a="http://schemas.openxmlformats.org/drawingml/2006/main" w="9525">
            <a:solidFill>
              <a:srgbClr val="CCD7D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3E7546-2F2F-4683-BC7A-0037BB5CA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19325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6B737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6B7379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6B7379"/>
                </a:solidFill>
                <a:latin typeface="Malgun Gothic"/>
                <a:ea typeface="Malgun Gothic"/>
                <a:cs typeface="Malgun Gothic"/>
              </a:rPr>
              <a:t>Atlassian Cloud · Forge 관리 환경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57EC5D-1898-48DF-9F82-625E9A814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714625"/>
            <a:ext cx="40957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3335">
            <a:solidFill>
              <a:srgbClr val="285BA5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875" b="0">
                <a:solidFill>
                  <a:srgbClr val="285BA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875" b="0">
                <a:solidFill>
                  <a:srgbClr val="285BA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85BA5"/>
                </a:solidFill>
                <a:latin typeface="Malgun Gothic"/>
                <a:ea typeface="Malgun Gothic"/>
                <a:cs typeface="Malgun Gothic"/>
              </a:rPr>
              <a:t>Moves Workforce</a:t>
            </a:r>
          </a:p>
          <a:p xmlns:a="http://schemas.openxmlformats.org/drawingml/2006/main">
            <a:pPr algn="ctr">
              <a:defRPr sz="1875" b="0">
                <a:solidFill>
                  <a:srgbClr val="285BA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85BA5"/>
                </a:solidFill>
                <a:latin typeface="Malgun Gothic"/>
                <a:ea typeface="Malgun Gothic"/>
                <a:cs typeface="Malgun Gothic"/>
              </a:rPr>
              <a:t>조직 · 프로젝트 · 입력 · 집계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6DF10D-E21E-42BD-A03B-E1029FBF9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2714625"/>
            <a:ext cx="40957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5F0"/>
          </a:solidFill>
          <a:ln xmlns:a="http://schemas.openxmlformats.org/drawingml/2006/main" w="13335">
            <a:solidFill>
              <a:srgbClr val="167F70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875" b="0">
                <a:solidFill>
                  <a:srgbClr val="167F7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875" b="0">
                <a:solidFill>
                  <a:srgbClr val="167F7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67F70"/>
                </a:solidFill>
                <a:latin typeface="Malgun Gothic"/>
                <a:ea typeface="Malgun Gothic"/>
                <a:cs typeface="Malgun Gothic"/>
              </a:rPr>
              <a:t>Moves Approval</a:t>
            </a:r>
          </a:p>
          <a:p xmlns:a="http://schemas.openxmlformats.org/drawingml/2006/main">
            <a:pPr algn="ctr">
              <a:defRPr sz="1875" b="0">
                <a:solidFill>
                  <a:srgbClr val="167F7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67F70"/>
                </a:solidFill>
                <a:latin typeface="Malgun Gothic"/>
                <a:ea typeface="Malgun Gothic"/>
                <a:cs typeface="Malgun Gothic"/>
              </a:rPr>
              <a:t>승인 · 마감 · 통제 · 이력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23DA0B-D41F-490A-A071-B3401F15D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3157538"/>
            <a:ext cx="23431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B9DA2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A9C33E-B028-4D34-95D9-539FC09F7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971800"/>
            <a:ext cx="20097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7553A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7553A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7553AE"/>
                </a:solidFill>
                <a:latin typeface="Malgun Gothic"/>
                <a:ea typeface="Malgun Gothic"/>
                <a:cs typeface="Malgun Gothic"/>
              </a:rPr>
              <a:t>인증된 REST API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3EE023-4F2F-4651-B26D-1A022E701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210050"/>
            <a:ext cx="4095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85BA5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650" b="0">
                <a:solidFill>
                  <a:srgbClr val="285BA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285BA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85BA5"/>
                </a:solidFill>
                <a:latin typeface="Malgun Gothic"/>
                <a:ea typeface="Malgun Gothic"/>
                <a:cs typeface="Malgun Gothic"/>
              </a:rPr>
              <a:t>Workforce DB</a:t>
            </a:r>
          </a:p>
          <a:p xmlns:a="http://schemas.openxmlformats.org/drawingml/2006/main">
            <a:pPr algn="ctr">
              <a:defRPr sz="1650" b="0">
                <a:solidFill>
                  <a:srgbClr val="285BA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85BA5"/>
                </a:solidFill>
                <a:latin typeface="Malgun Gothic"/>
                <a:ea typeface="Malgun Gothic"/>
                <a:cs typeface="Malgun Gothic"/>
              </a:rPr>
              <a:t>사용자 · 팀 · 프로젝트 · 참여 정보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04F3FA-4550-406F-A3B1-F1EB4608F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4210050"/>
            <a:ext cx="4095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67F70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650" b="0">
                <a:solidFill>
                  <a:srgbClr val="167F7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167F7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67F70"/>
                </a:solidFill>
                <a:latin typeface="Malgun Gothic"/>
                <a:ea typeface="Malgun Gothic"/>
                <a:cs typeface="Malgun Gothic"/>
              </a:rPr>
              <a:t>Approval DB</a:t>
            </a:r>
          </a:p>
          <a:p xmlns:a="http://schemas.openxmlformats.org/drawingml/2006/main">
            <a:pPr algn="ctr">
              <a:defRPr sz="1650" b="0">
                <a:solidFill>
                  <a:srgbClr val="167F7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67F70"/>
                </a:solidFill>
                <a:latin typeface="Malgun Gothic"/>
                <a:ea typeface="Malgun Gothic"/>
                <a:cs typeface="Malgun Gothic"/>
              </a:rPr>
              <a:t>승인 결정 · 잠금 · 승인 당시 값 · 이력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9A01D4-99C5-471F-A10A-A37F5E720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714750"/>
            <a:ext cx="114300" cy="4953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85BA5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380F6C-A60B-47BD-811F-D31BD8A70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714750"/>
            <a:ext cx="114300" cy="4953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67F70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8BEB07-90D3-41E7-A84D-F258AA284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162425"/>
            <a:ext cx="19621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6B7379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350" b="0">
                <a:solidFill>
                  <a:srgbClr val="6B737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6B737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B7379"/>
                </a:solidFill>
                <a:latin typeface="Malgun Gothic"/>
                <a:ea typeface="Malgun Gothic"/>
                <a:cs typeface="Malgun Gothic"/>
              </a:rPr>
              <a:t>Jira REST API</a:t>
            </a:r>
          </a:p>
          <a:p xmlns:a="http://schemas.openxmlformats.org/drawingml/2006/main">
            <a:pPr algn="ctr">
              <a:defRPr sz="1350" b="0">
                <a:solidFill>
                  <a:srgbClr val="6B737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B7379"/>
                </a:solidFill>
                <a:latin typeface="Malgun Gothic"/>
                <a:ea typeface="Malgun Gothic"/>
                <a:cs typeface="Malgun Gothic"/>
              </a:rPr>
              <a:t>작업 기록 원본 조회·저장·통제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B11250-536F-4942-96EE-169EE871E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72150"/>
            <a:ext cx="2714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7553A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7553AE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7553AE"/>
                </a:solidFill>
                <a:latin typeface="Malgun Gothic"/>
                <a:ea typeface="Malgun Gothic"/>
                <a:cs typeface="Malgun Gothic"/>
              </a:rPr>
              <a:t>외부 시스템 / SAP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9C10B1-DAA2-4E50-9015-9D4B90DC2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762625"/>
            <a:ext cx="8239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6B737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6B7379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B7379"/>
                </a:solidFill>
                <a:latin typeface="Malgun Gothic"/>
                <a:ea typeface="Malgun Gothic"/>
                <a:cs typeface="Malgun Gothic"/>
              </a:rPr>
              <a:t>인증된 HTTPS API로 필요한 정보 제공 · 별도 연결 범위로 개발</a:t>
            </a:r>
          </a:p>
        </p:txBody>
      </p:sp>
    </p:spTree>
    <p:extLst>
      <p:ext uri="{BB962C8B-B14F-4D97-AF65-F5344CB8AC3E}">
        <p14:creationId xmlns:p14="http://schemas.microsoft.com/office/powerpoint/2010/main" val="169144048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2CDD88-0423-4BB0-8703-4E3C81D7D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8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DA2"/>
          </a:solidFill>
          <a:ln xmlns:a="http://schemas.openxmlformats.org/drawingml/2006/main" w="0">
            <a:solidFill>
              <a:srgbClr val="1B9DA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1A77B8-287A-4541-B76A-0D7D2000E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DA2"/>
          </a:solidFill>
          <a:ln xmlns:a="http://schemas.openxmlformats.org/drawingml/2006/main" w="0">
            <a:solidFill>
              <a:srgbClr val="1B9DA2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EF20F9-2932-4793-B3FA-F627A23E4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9057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B737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B7379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B7379"/>
                </a:solidFill>
                <a:latin typeface="Malgun Gothic"/>
                <a:ea typeface="Malgun Gothic"/>
                <a:cs typeface="Malgun Gothic"/>
              </a:rPr>
              <a:t>개발 및 기능 제공 제안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4F250E-1EDD-43B0-ABC3-1FD6AD105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57300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20242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202427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202427"/>
                </a:solidFill>
                <a:latin typeface="Malgun Gothic"/>
                <a:ea typeface="Malgun Gothic"/>
                <a:cs typeface="Malgun Gothic"/>
              </a:rPr>
              <a:t>03. DB에 보관하는 정보와 앱별 역할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13DE2C-F289-4A10-8F6F-1B687FD98B2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3bb6e53270478e"/>
          <a:stretch xmlns:a="http://schemas.openxmlformats.org/drawingml/2006/main"/>
        </p:blipFill>
        <p:spPr>
          <a:xfrm xmlns:a="http://schemas.openxmlformats.org/drawingml/2006/main">
            <a:off x="495300" y="6441281"/>
            <a:ext cx="819150" cy="195263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87B8FC-4556-4BB3-BD0E-EFE7550A3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B737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B737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B7379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981591-3280-41CA-9E57-F4D84926414D}"/>
              </a:ext>
            </a:extLst>
          </p:cNvPr>
          <p:cNvGraphicFramePr/>
          <p:nvPr/>
        </p:nvGraphicFramePr>
        <p:xfrm>
          <a:off xmlns:a="http://schemas.openxmlformats.org/drawingml/2006/main" x="514350" y="2238375"/>
          <a:ext xmlns:a="http://schemas.openxmlformats.org/drawingml/2006/main" cx="11163300" cy="3238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4333875"/>
                <a:gridCol w="4448175"/>
              </a:tblGrid>
              <a:tr h="80962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67F7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구분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CE2E6"/>
                      </a:solidFill>
                      <a:prstDash val="solid"/>
                    </a:lnL>
                    <a:lnR w="9525">
                      <a:solidFill>
                        <a:srgbClr val="DCE2E6"/>
                      </a:solidFill>
                      <a:prstDash val="solid"/>
                    </a:lnR>
                    <a:lnT w="9525">
                      <a:solidFill>
                        <a:srgbClr val="DCE2E6"/>
                      </a:solidFill>
                      <a:prstDash val="solid"/>
                    </a:lnT>
                    <a:lnB w="9525">
                      <a:solidFill>
                        <a:srgbClr val="DCE2E6"/>
                      </a:solidFill>
                      <a:prstDash val="solid"/>
                    </a:lnB>
                    <a:solidFill>
                      <a:srgbClr val="E5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67F7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보관하는 정보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2E6"/>
                      </a:solidFill>
                      <a:prstDash val="solid"/>
                    </a:lnR>
                    <a:lnT w="9525">
                      <a:solidFill>
                        <a:srgbClr val="DCE2E6"/>
                      </a:solidFill>
                      <a:prstDash val="solid"/>
                    </a:lnT>
                    <a:lnB w="9525">
                      <a:solidFill>
                        <a:srgbClr val="DCE2E6"/>
                      </a:solidFill>
                      <a:prstDash val="solid"/>
                    </a:lnB>
                    <a:solidFill>
                      <a:srgbClr val="E5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67F7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제공하는 기능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2E6"/>
                      </a:solidFill>
                      <a:prstDash val="solid"/>
                    </a:lnR>
                    <a:lnT w="9525">
                      <a:solidFill>
                        <a:srgbClr val="DCE2E6"/>
                      </a:solidFill>
                      <a:prstDash val="solid"/>
                    </a:lnT>
                    <a:lnB w="9525">
                      <a:solidFill>
                        <a:srgbClr val="DCE2E6"/>
                      </a:solidFill>
                      <a:prstDash val="solid"/>
                    </a:lnB>
                    <a:solidFill>
                      <a:srgbClr val="E5F1F1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24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Workforce DB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CE2E6"/>
                      </a:solidFill>
                      <a:prstDash val="solid"/>
                    </a:lnL>
                    <a:lnR w="9525">
                      <a:solidFill>
                        <a:srgbClr val="DCE2E6"/>
                      </a:solidFill>
                      <a:prstDash val="solid"/>
                    </a:lnR>
                    <a:lnB w="9525">
                      <a:solidFill>
                        <a:srgbClr val="DC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24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조직·팀장·프로젝트</a:t>
                      </a:r>
                    </a:p>
                    <a:p>
                      <a:r>
                        <a:rPr sz="1500" b="0">
                          <a:solidFill>
                            <a:srgbClr val="2024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참여·입력 조건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2E6"/>
                      </a:solidFill>
                      <a:prstDash val="solid"/>
                    </a:lnR>
                    <a:lnB w="9525">
                      <a:solidFill>
                        <a:srgbClr val="DC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24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입력과 현황 관리</a:t>
                      </a:r>
                    </a:p>
                    <a:p>
                      <a:r>
                        <a:rPr sz="1500" b="0">
                          <a:solidFill>
                            <a:srgbClr val="2024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승인 결과 표시·보고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2E6"/>
                      </a:solidFill>
                      <a:prstDash val="solid"/>
                    </a:lnR>
                    <a:lnB w="9525">
                      <a:solidFill>
                        <a:srgbClr val="DC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24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Approval DB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CE2E6"/>
                      </a:solidFill>
                      <a:prstDash val="solid"/>
                    </a:lnL>
                    <a:lnR w="9525">
                      <a:solidFill>
                        <a:srgbClr val="DCE2E6"/>
                      </a:solidFill>
                      <a:prstDash val="solid"/>
                    </a:lnR>
                    <a:lnB w="9525">
                      <a:solidFill>
                        <a:srgbClr val="DC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24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승인 요청·결정·잠금</a:t>
                      </a:r>
                    </a:p>
                    <a:p>
                      <a:r>
                        <a:rPr sz="1500" b="0">
                          <a:solidFill>
                            <a:srgbClr val="2024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승인 당시 시간·변경 이력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2E6"/>
                      </a:solidFill>
                      <a:prstDash val="solid"/>
                    </a:lnR>
                    <a:lnB w="9525">
                      <a:solidFill>
                        <a:srgbClr val="DC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24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팀장 승인·반려</a:t>
                      </a:r>
                    </a:p>
                    <a:p>
                      <a:r>
                        <a:rPr sz="1500" b="0">
                          <a:solidFill>
                            <a:srgbClr val="2024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변경 가능 여부 판정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2E6"/>
                      </a:solidFill>
                      <a:prstDash val="solid"/>
                    </a:lnR>
                    <a:lnB w="9525">
                      <a:solidFill>
                        <a:srgbClr val="DC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24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Jira 원본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CE2E6"/>
                      </a:solidFill>
                      <a:prstDash val="solid"/>
                    </a:lnL>
                    <a:lnR w="9525">
                      <a:solidFill>
                        <a:srgbClr val="DCE2E6"/>
                      </a:solidFill>
                      <a:prstDash val="solid"/>
                    </a:lnR>
                    <a:lnB w="9525">
                      <a:solidFill>
                        <a:srgbClr val="DC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24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이슈·작성자·작업일</a:t>
                      </a:r>
                    </a:p>
                    <a:p>
                      <a:r>
                        <a:rPr sz="1500" b="0">
                          <a:solidFill>
                            <a:srgbClr val="2024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실제 기록 시간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2E6"/>
                      </a:solidFill>
                      <a:prstDash val="solid"/>
                    </a:lnR>
                    <a:lnB w="9525">
                      <a:solidFill>
                        <a:srgbClr val="DC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24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허용된 작업 기록 저장</a:t>
                      </a:r>
                    </a:p>
                    <a:p>
                      <a:r>
                        <a:rPr sz="1500" b="0">
                          <a:solidFill>
                            <a:srgbClr val="2024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양쪽 앱의 원본 대조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2E6"/>
                      </a:solidFill>
                      <a:prstDash val="solid"/>
                    </a:lnR>
                    <a:lnB w="9525">
                      <a:solidFill>
                        <a:srgbClr val="DC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9653BA-43B4-4215-80C5-D2A145E9C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43575"/>
            <a:ext cx="11163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B9DA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B9DA2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B9DA2"/>
                </a:solidFill>
                <a:latin typeface="Malgun Gothic"/>
                <a:ea typeface="Malgun Gothic"/>
                <a:cs typeface="Malgun Gothic"/>
              </a:rPr>
              <a:t>상대 앱 DB에 직접 접근하지 않고, 필요한 업무 정보만 API로 제공합니다.</a:t>
            </a:r>
          </a:p>
        </p:txBody>
      </p:sp>
    </p:spTree>
    <p:extLst>
      <p:ext uri="{BB962C8B-B14F-4D97-AF65-F5344CB8AC3E}">
        <p14:creationId xmlns:p14="http://schemas.microsoft.com/office/powerpoint/2010/main" val="208020984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B3DCE6-57E2-4D76-9750-89B5A6AB3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8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DA2"/>
          </a:solidFill>
          <a:ln xmlns:a="http://schemas.openxmlformats.org/drawingml/2006/main" w="0">
            <a:solidFill>
              <a:srgbClr val="1B9DA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537862-9375-42FD-81F3-D1E78BE4A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DA2"/>
          </a:solidFill>
          <a:ln xmlns:a="http://schemas.openxmlformats.org/drawingml/2006/main" w="0">
            <a:solidFill>
              <a:srgbClr val="1B9DA2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2972A4-098B-4060-B6C9-EE76316EB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9057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B737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B7379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B7379"/>
                </a:solidFill>
                <a:latin typeface="Malgun Gothic"/>
                <a:ea typeface="Malgun Gothic"/>
                <a:cs typeface="Malgun Gothic"/>
              </a:rPr>
              <a:t>개발 및 기능 제공 제안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D86CA0-5C1E-45FA-90CA-B455B5197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57300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20242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202427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202427"/>
                </a:solidFill>
                <a:latin typeface="Malgun Gothic"/>
                <a:ea typeface="Malgun Gothic"/>
                <a:cs typeface="Malgun Gothic"/>
              </a:rPr>
              <a:t>04. 두 앱이 주고받는 정보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D84FF9-B02D-47BB-BBD1-EB2EB9C1295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14ddc225aa40c2"/>
          <a:stretch xmlns:a="http://schemas.openxmlformats.org/drawingml/2006/main"/>
        </p:blipFill>
        <p:spPr>
          <a:xfrm xmlns:a="http://schemas.openxmlformats.org/drawingml/2006/main">
            <a:off x="495300" y="6441281"/>
            <a:ext cx="819150" cy="195263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689FF0-02A6-4048-8031-587D773C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B737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B737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B7379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D3CC56-4AB6-446E-A863-1CB4290C5587}"/>
              </a:ext>
            </a:extLst>
          </p:cNvPr>
          <p:cNvGraphicFramePr/>
          <p:nvPr/>
        </p:nvGraphicFramePr>
        <p:xfrm>
          <a:off xmlns:a="http://schemas.openxmlformats.org/drawingml/2006/main" x="514350" y="2238375"/>
          <a:ext xmlns:a="http://schemas.openxmlformats.org/drawingml/2006/main" cx="11163300" cy="2952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09875"/>
                <a:gridCol w="4191000"/>
                <a:gridCol w="4162425"/>
              </a:tblGrid>
              <a:tr h="98425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67F7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제공 방향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CE2E6"/>
                      </a:solidFill>
                      <a:prstDash val="solid"/>
                    </a:lnL>
                    <a:lnR w="9525">
                      <a:solidFill>
                        <a:srgbClr val="DCE2E6"/>
                      </a:solidFill>
                      <a:prstDash val="solid"/>
                    </a:lnR>
                    <a:lnT w="9525">
                      <a:solidFill>
                        <a:srgbClr val="DCE2E6"/>
                      </a:solidFill>
                      <a:prstDash val="solid"/>
                    </a:lnT>
                    <a:lnB w="9525">
                      <a:solidFill>
                        <a:srgbClr val="DCE2E6"/>
                      </a:solidFill>
                      <a:prstDash val="solid"/>
                    </a:lnB>
                    <a:solidFill>
                      <a:srgbClr val="E5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67F7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제공 정보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2E6"/>
                      </a:solidFill>
                      <a:prstDash val="solid"/>
                    </a:lnR>
                    <a:lnT w="9525">
                      <a:solidFill>
                        <a:srgbClr val="DCE2E6"/>
                      </a:solidFill>
                      <a:prstDash val="solid"/>
                    </a:lnT>
                    <a:lnB w="9525">
                      <a:solidFill>
                        <a:srgbClr val="DCE2E6"/>
                      </a:solidFill>
                      <a:prstDash val="solid"/>
                    </a:lnB>
                    <a:solidFill>
                      <a:srgbClr val="E5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67F7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수신 앱에서의 활용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2E6"/>
                      </a:solidFill>
                      <a:prstDash val="solid"/>
                    </a:lnR>
                    <a:lnT w="9525">
                      <a:solidFill>
                        <a:srgbClr val="DCE2E6"/>
                      </a:solidFill>
                      <a:prstDash val="solid"/>
                    </a:lnT>
                    <a:lnB w="9525">
                      <a:solidFill>
                        <a:srgbClr val="DCE2E6"/>
                      </a:solidFill>
                      <a:prstDash val="solid"/>
                    </a:lnB>
                    <a:solidFill>
                      <a:srgbClr val="E5F1F1"/>
                    </a:solidFill>
                  </a:tcPr>
                </a:tc>
              </a:tr>
              <a:tr h="9842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24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Workforce → Approval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CE2E6"/>
                      </a:solidFill>
                      <a:prstDash val="solid"/>
                    </a:lnL>
                    <a:lnR w="9525">
                      <a:solidFill>
                        <a:srgbClr val="DCE2E6"/>
                      </a:solidFill>
                      <a:prstDash val="solid"/>
                    </a:lnR>
                    <a:lnB w="9525">
                      <a:solidFill>
                        <a:srgbClr val="DC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24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소속 팀·팀장</a:t>
                      </a:r>
                    </a:p>
                    <a:p>
                      <a:r>
                        <a:rPr sz="1500" b="0">
                          <a:solidFill>
                            <a:srgbClr val="2024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프로젝트 참여·입력 조건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2E6"/>
                      </a:solidFill>
                      <a:prstDash val="solid"/>
                    </a:lnR>
                    <a:lnB w="9525">
                      <a:solidFill>
                        <a:srgbClr val="DC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24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승인자와 대상 범위 확인</a:t>
                      </a:r>
                    </a:p>
                    <a:p>
                      <a:r>
                        <a:rPr sz="1500" b="0">
                          <a:solidFill>
                            <a:srgbClr val="2024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승인 요청 접수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2E6"/>
                      </a:solidFill>
                      <a:prstDash val="solid"/>
                    </a:lnR>
                    <a:lnB w="9525">
                      <a:solidFill>
                        <a:srgbClr val="DC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842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24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Approval → Workforce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CE2E6"/>
                      </a:solidFill>
                      <a:prstDash val="solid"/>
                    </a:lnL>
                    <a:lnR w="9525">
                      <a:solidFill>
                        <a:srgbClr val="DCE2E6"/>
                      </a:solidFill>
                      <a:prstDash val="solid"/>
                    </a:lnR>
                    <a:lnB w="9525">
                      <a:solidFill>
                        <a:srgbClr val="DC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24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승인 상태·인정 시간</a:t>
                      </a:r>
                    </a:p>
                    <a:p>
                      <a:r>
                        <a:rPr sz="1500" b="0">
                          <a:solidFill>
                            <a:srgbClr val="2024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잠금·마감·변경 가능 여부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2E6"/>
                      </a:solidFill>
                      <a:prstDash val="solid"/>
                    </a:lnR>
                    <a:lnB w="9525">
                      <a:solidFill>
                        <a:srgbClr val="DC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24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상태 표시·승인 기준 집계</a:t>
                      </a:r>
                    </a:p>
                    <a:p>
                      <a:r>
                        <a:rPr sz="1500" b="0">
                          <a:solidFill>
                            <a:srgbClr val="2024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변경 차단 및 사유 안내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2E6"/>
                      </a:solidFill>
                      <a:prstDash val="solid"/>
                    </a:lnR>
                    <a:lnB w="9525">
                      <a:solidFill>
                        <a:srgbClr val="DC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E6BC53-BD76-42CD-A376-1B0143C2C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67350"/>
            <a:ext cx="11163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6B737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6B7379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6B7379"/>
                </a:solidFill>
                <a:latin typeface="Malgun Gothic"/>
                <a:ea typeface="Malgun Gothic"/>
                <a:cs typeface="Malgun Gothic"/>
              </a:rPr>
              <a:t>작성자는 본인 기록을, 팀장은 담당 팀의 승인 대상을 확인합니다.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27487D-CE98-482F-B167-4189ED5CF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0"/>
            <a:ext cx="11163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6B737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B7379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B7379"/>
                </a:solidFill>
                <a:latin typeface="Malgun Gothic"/>
                <a:ea typeface="Malgun Gothic"/>
                <a:cs typeface="Malgun Gothic"/>
              </a:rPr>
              <a:t>급여·단가 등 승인에 불필요한 정보는 연동 응답에서 제외합니다.</a:t>
            </a:r>
          </a:p>
        </p:txBody>
      </p:sp>
    </p:spTree>
    <p:extLst>
      <p:ext uri="{BB962C8B-B14F-4D97-AF65-F5344CB8AC3E}">
        <p14:creationId xmlns:p14="http://schemas.microsoft.com/office/powerpoint/2010/main" val="101353402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BBA615-9689-4B11-8F2C-13A319BA4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8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DA2"/>
          </a:solidFill>
          <a:ln xmlns:a="http://schemas.openxmlformats.org/drawingml/2006/main" w="0">
            <a:solidFill>
              <a:srgbClr val="1B9DA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10088E-869F-4B51-BFE7-08707B748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DA2"/>
          </a:solidFill>
          <a:ln xmlns:a="http://schemas.openxmlformats.org/drawingml/2006/main" w="0">
            <a:solidFill>
              <a:srgbClr val="1B9DA2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0C69C5-3C82-4123-8FCC-9512E0307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9057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B737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B7379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B7379"/>
                </a:solidFill>
                <a:latin typeface="Malgun Gothic"/>
                <a:ea typeface="Malgun Gothic"/>
                <a:cs typeface="Malgun Gothic"/>
              </a:rPr>
              <a:t>개발 및 기능 제공 제안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6AAB99-A54B-433B-9898-7F231741E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57300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20242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202427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202427"/>
                </a:solidFill>
                <a:latin typeface="Malgun Gothic"/>
                <a:ea typeface="Malgun Gothic"/>
                <a:cs typeface="Malgun Gothic"/>
              </a:rPr>
              <a:t>05. 사용자 이용 흐름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9752F2-C90C-444E-A015-25F57F37E53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95761a3b2e4d41"/>
          <a:stretch xmlns:a="http://schemas.openxmlformats.org/drawingml/2006/main"/>
        </p:blipFill>
        <p:spPr>
          <a:xfrm xmlns:a="http://schemas.openxmlformats.org/drawingml/2006/main">
            <a:off x="495300" y="6441281"/>
            <a:ext cx="819150" cy="195263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0186F7-B7CF-4C73-99D4-CD4B6ABCC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B737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B737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B7379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9A519D-07F7-4175-9DC1-E80F67918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09825"/>
            <a:ext cx="25717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75" b="1">
                <a:solidFill>
                  <a:srgbClr val="1B9DA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1B9DA2"/>
                </a:solidFill>
                <a:latin typeface="Malgun Gothic"/>
                <a:ea typeface="Malgun Gothic"/>
                <a:cs typeface="Malgun Gothic"/>
              </a:defRPr>
            </a:pPr>
            <a:r>
              <a:rPr sz="3375" b="1">
                <a:solidFill>
                  <a:srgbClr val="1B9DA2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3FD70C-D69B-4D65-BF47-C27BB259E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86125"/>
            <a:ext cx="26193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3335">
            <a:solidFill>
              <a:srgbClr val="285BA5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950" b="0">
                <a:solidFill>
                  <a:srgbClr val="285BA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950" b="0">
                <a:solidFill>
                  <a:srgbClr val="285BA5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285BA5"/>
                </a:solidFill>
                <a:latin typeface="Malgun Gothic"/>
                <a:ea typeface="Malgun Gothic"/>
                <a:cs typeface="Malgun Gothic"/>
              </a:rPr>
              <a:t>작업 기록 입력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1C81A5-5C32-4436-AD2B-AA628589C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2409825"/>
            <a:ext cx="25717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75" b="1">
                <a:solidFill>
                  <a:srgbClr val="1B9DA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1B9DA2"/>
                </a:solidFill>
                <a:latin typeface="Malgun Gothic"/>
                <a:ea typeface="Malgun Gothic"/>
                <a:cs typeface="Malgun Gothic"/>
              </a:defRPr>
            </a:pPr>
            <a:r>
              <a:rPr sz="3375" b="1">
                <a:solidFill>
                  <a:srgbClr val="1B9DA2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742842-E358-415A-80FA-85DFF70AF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3286125"/>
            <a:ext cx="26193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5F0"/>
          </a:solidFill>
          <a:ln xmlns:a="http://schemas.openxmlformats.org/drawingml/2006/main" w="13335">
            <a:solidFill>
              <a:srgbClr val="167F70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950" b="0">
                <a:solidFill>
                  <a:srgbClr val="167F7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950" b="0">
                <a:solidFill>
                  <a:srgbClr val="167F70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67F70"/>
                </a:solidFill>
                <a:latin typeface="Malgun Gothic"/>
                <a:ea typeface="Malgun Gothic"/>
                <a:cs typeface="Malgun Gothic"/>
              </a:rPr>
              <a:t>팀장 승인·반려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020624-CD2B-48D9-B001-6719BE92C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09825"/>
            <a:ext cx="25717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75" b="1">
                <a:solidFill>
                  <a:srgbClr val="1B9DA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1B9DA2"/>
                </a:solidFill>
                <a:latin typeface="Malgun Gothic"/>
                <a:ea typeface="Malgun Gothic"/>
                <a:cs typeface="Malgun Gothic"/>
              </a:defRPr>
            </a:pPr>
            <a:r>
              <a:rPr sz="3375" b="1">
                <a:solidFill>
                  <a:srgbClr val="1B9DA2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3DA88F-D836-4762-A162-05AD8C68E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286125"/>
            <a:ext cx="26193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3335">
            <a:solidFill>
              <a:srgbClr val="285BA5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950" b="0">
                <a:solidFill>
                  <a:srgbClr val="285BA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950" b="0">
                <a:solidFill>
                  <a:srgbClr val="285BA5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285BA5"/>
                </a:solidFill>
                <a:latin typeface="Malgun Gothic"/>
                <a:ea typeface="Malgun Gothic"/>
                <a:cs typeface="Malgun Gothic"/>
              </a:rPr>
              <a:t>승인 기록 보호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F45871-663F-45C6-BFD3-1472E9028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409825"/>
            <a:ext cx="25717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75" b="1">
                <a:solidFill>
                  <a:srgbClr val="1B9DA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1B9DA2"/>
                </a:solidFill>
                <a:latin typeface="Malgun Gothic"/>
                <a:ea typeface="Malgun Gothic"/>
                <a:cs typeface="Malgun Gothic"/>
              </a:defRPr>
            </a:pPr>
            <a:r>
              <a:rPr sz="3375" b="1">
                <a:solidFill>
                  <a:srgbClr val="1B9DA2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4477B2-73D8-4546-B00A-C2431FF0E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3286125"/>
            <a:ext cx="26193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3335">
            <a:solidFill>
              <a:srgbClr val="285BA5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950" b="0">
                <a:solidFill>
                  <a:srgbClr val="285BA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950" b="0">
                <a:solidFill>
                  <a:srgbClr val="285BA5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285BA5"/>
                </a:solidFill>
                <a:latin typeface="Malgun Gothic"/>
                <a:ea typeface="Malgun Gothic"/>
                <a:cs typeface="Malgun Gothic"/>
              </a:rPr>
              <a:t>보고·집계 반영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512E30-24A7-46EF-8A47-B69CFA4D6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3752850"/>
            <a:ext cx="22860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B9DA2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3C031F-E0FA-4CC0-8C25-F963091FF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752850"/>
            <a:ext cx="22860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B9DA2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AB3B0D-2399-454A-A31C-A3984FD50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752850"/>
            <a:ext cx="22860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B9DA2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85B377-5FD9-4F05-AC0C-C93E06861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24425"/>
            <a:ext cx="111633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6B737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6B7379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6B7379"/>
                </a:solidFill>
                <a:latin typeface="Malgun Gothic"/>
                <a:ea typeface="Malgun Gothic"/>
                <a:cs typeface="Malgun Gothic"/>
              </a:rPr>
              <a:t>Workforce에서 입력하고, Approval에서 결정하며, 결과를 다시 Workforce에 반영합니다.</a:t>
            </a:r>
          </a:p>
        </p:txBody>
      </p:sp>
    </p:spTree>
    <p:extLst>
      <p:ext uri="{BB962C8B-B14F-4D97-AF65-F5344CB8AC3E}">
        <p14:creationId xmlns:p14="http://schemas.microsoft.com/office/powerpoint/2010/main" val="23727886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5ED9A2-7DE0-4475-93E4-9131759FF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8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DA2"/>
          </a:solidFill>
          <a:ln xmlns:a="http://schemas.openxmlformats.org/drawingml/2006/main" w="0">
            <a:solidFill>
              <a:srgbClr val="1B9DA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70DFDB-1ECC-4565-A82E-564CC0B2D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DA2"/>
          </a:solidFill>
          <a:ln xmlns:a="http://schemas.openxmlformats.org/drawingml/2006/main" w="0">
            <a:solidFill>
              <a:srgbClr val="1B9DA2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069E50-613C-4B04-89B8-9F2FDB01E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9057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B737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B7379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B7379"/>
                </a:solidFill>
                <a:latin typeface="Malgun Gothic"/>
                <a:ea typeface="Malgun Gothic"/>
                <a:cs typeface="Malgun Gothic"/>
              </a:rPr>
              <a:t>핵심 제공 기능 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20A0A7-BF7C-4845-BD35-2BA38CE5F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57300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20242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202427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202427"/>
                </a:solidFill>
                <a:latin typeface="Malgun Gothic"/>
                <a:ea typeface="Malgun Gothic"/>
                <a:cs typeface="Malgun Gothic"/>
              </a:rPr>
              <a:t>06. 외부 연결 가능한 REST API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EFC8D6-F5A2-4EA9-AD15-94AEBB28298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e90053169a4255"/>
          <a:stretch xmlns:a="http://schemas.openxmlformats.org/drawingml/2006/main"/>
        </p:blipFill>
        <p:spPr>
          <a:xfrm xmlns:a="http://schemas.openxmlformats.org/drawingml/2006/main">
            <a:off x="495300" y="6441281"/>
            <a:ext cx="819150" cy="195263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912596-F8BF-4CE1-95FA-65CE9E693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B737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B737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B7379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C627AF-704E-4AC7-882C-8C7FF7A9F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47925"/>
            <a:ext cx="29527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BFF"/>
          </a:solidFill>
          <a:ln xmlns:a="http://schemas.openxmlformats.org/drawingml/2006/main" w="13335">
            <a:solidFill>
              <a:srgbClr val="7553AE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950" b="0">
                <a:solidFill>
                  <a:srgbClr val="7553A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950" b="0">
                <a:solidFill>
                  <a:srgbClr val="7553AE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7553AE"/>
                </a:solidFill>
                <a:latin typeface="Malgun Gothic"/>
                <a:ea typeface="Malgun Gothic"/>
                <a:cs typeface="Malgun Gothic"/>
              </a:rPr>
              <a:t>외부 시스템</a:t>
            </a:r>
          </a:p>
          <a:p xmlns:a="http://schemas.openxmlformats.org/drawingml/2006/main">
            <a:pPr algn="ctr">
              <a:defRPr sz="1950" b="0">
                <a:solidFill>
                  <a:srgbClr val="7553AE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7553AE"/>
                </a:solidFill>
                <a:latin typeface="Malgun Gothic"/>
                <a:ea typeface="Malgun Gothic"/>
                <a:cs typeface="Malgun Gothic"/>
              </a:rPr>
              <a:t>고객 연계 도구 / SAP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C2BB41-2226-4DB2-A60C-7D45DF64C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47925"/>
            <a:ext cx="29527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BFF"/>
          </a:solidFill>
          <a:ln xmlns:a="http://schemas.openxmlformats.org/drawingml/2006/main" w="13335">
            <a:solidFill>
              <a:srgbClr val="7553AE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950" b="0">
                <a:solidFill>
                  <a:srgbClr val="7553A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950" b="0">
                <a:solidFill>
                  <a:srgbClr val="7553AE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7553AE"/>
                </a:solidFill>
                <a:latin typeface="Malgun Gothic"/>
                <a:ea typeface="Malgun Gothic"/>
                <a:cs typeface="Malgun Gothic"/>
              </a:rPr>
              <a:t>인증된 HTTPS</a:t>
            </a:r>
          </a:p>
          <a:p xmlns:a="http://schemas.openxmlformats.org/drawingml/2006/main">
            <a:pPr algn="ctr">
              <a:defRPr sz="1950" b="0">
                <a:solidFill>
                  <a:srgbClr val="7553AE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7553AE"/>
                </a:solidFill>
                <a:latin typeface="Malgun Gothic"/>
                <a:ea typeface="Malgun Gothic"/>
                <a:cs typeface="Malgun Gothic"/>
              </a:rPr>
              <a:t>Forge app REST API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24A765-8C1F-48F8-8E24-649502D38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447925"/>
            <a:ext cx="28956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5F0"/>
          </a:solidFill>
          <a:ln xmlns:a="http://schemas.openxmlformats.org/drawingml/2006/main" w="13335">
            <a:solidFill>
              <a:srgbClr val="167F70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950" b="0">
                <a:solidFill>
                  <a:srgbClr val="167F7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950" b="0">
                <a:solidFill>
                  <a:srgbClr val="167F70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67F70"/>
                </a:solidFill>
                <a:latin typeface="Malgun Gothic"/>
                <a:ea typeface="Malgun Gothic"/>
                <a:cs typeface="Malgun Gothic"/>
              </a:rPr>
              <a:t>앱 업무 기능</a:t>
            </a:r>
          </a:p>
          <a:p xmlns:a="http://schemas.openxmlformats.org/drawingml/2006/main">
            <a:pPr algn="ctr">
              <a:defRPr sz="1950" b="0">
                <a:solidFill>
                  <a:srgbClr val="167F70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67F70"/>
                </a:solidFill>
                <a:latin typeface="Malgun Gothic"/>
                <a:ea typeface="Malgun Gothic"/>
                <a:cs typeface="Malgun Gothic"/>
              </a:rPr>
              <a:t>조직 / 승인 / 집계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1CBCB0-6B5A-423D-A869-41AA037CF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938463"/>
            <a:ext cx="118110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B9DA2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53192C-69F2-4513-AB94-BD96F03D6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938463"/>
            <a:ext cx="118110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B9DA2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956844-FC83-4477-9504-71CE2E97A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14800"/>
            <a:ext cx="2143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1B9DA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B9DA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B9DA2"/>
                </a:solidFill>
                <a:latin typeface="Malgun Gothic"/>
                <a:ea typeface="Malgun Gothic"/>
                <a:cs typeface="Malgun Gothic"/>
              </a:rPr>
              <a:t>제공 정보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057C11-1E89-4EBF-8EFE-DD753BCA5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124325"/>
            <a:ext cx="8858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20242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0242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02427"/>
                </a:solidFill>
                <a:latin typeface="Malgun Gothic"/>
                <a:ea typeface="Malgun Gothic"/>
                <a:cs typeface="Malgun Gothic"/>
              </a:rPr>
              <a:t>조직·프로젝트 참여 정보, 승인 상태, 승인 인정 시간, 변경 가능 여부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8DDFCC-AF30-4920-B044-2BC361D07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00625"/>
            <a:ext cx="2143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1B9DA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B9DA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B9DA2"/>
                </a:solidFill>
                <a:latin typeface="Malgun Gothic"/>
                <a:ea typeface="Malgun Gothic"/>
                <a:cs typeface="Malgun Gothic"/>
              </a:rPr>
              <a:t>연결 방식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DE4B6A-334C-451B-AF62-39EDB091C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010150"/>
            <a:ext cx="885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20242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0242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02427"/>
                </a:solidFill>
                <a:latin typeface="Malgun Gothic"/>
                <a:ea typeface="Malgun Gothic"/>
                <a:cs typeface="Malgun Gothic"/>
              </a:rPr>
              <a:t>사이트에서 활성화한 API와 허용 범위 안에서 인증된 요청 처리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773CE5-D650-47F8-A859-80ACF1924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53125"/>
            <a:ext cx="11163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B737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B737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B7379"/>
                </a:solidFill>
                <a:latin typeface="Malgun Gothic"/>
                <a:ea typeface="Malgun Gothic"/>
                <a:cs typeface="Malgun Gothic"/>
              </a:rPr>
              <a:t>Forge app REST API는 Preview입니다. OAuth 2.0 연결과 양방향 호출은 통합 시험으로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182181164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3D6B68-70DB-4244-A14C-E969CF7E7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8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DA2"/>
          </a:solidFill>
          <a:ln xmlns:a="http://schemas.openxmlformats.org/drawingml/2006/main" w="0">
            <a:solidFill>
              <a:srgbClr val="1B9DA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01758D-2B7D-4909-AA5D-651AF99F5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DA2"/>
          </a:solidFill>
          <a:ln xmlns:a="http://schemas.openxmlformats.org/drawingml/2006/main" w="0">
            <a:solidFill>
              <a:srgbClr val="1B9DA2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AFBE21-BAA1-41ED-858D-629E26A5F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9057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B737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B7379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B7379"/>
                </a:solidFill>
                <a:latin typeface="Malgun Gothic"/>
                <a:ea typeface="Malgun Gothic"/>
                <a:cs typeface="Malgun Gothic"/>
              </a:rPr>
              <a:t>기능 검증 · 증거 작성 영역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E80577-CD0D-45DA-98C6-A1E8F590E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57300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20242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202427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202427"/>
                </a:solidFill>
                <a:latin typeface="Malgun Gothic"/>
                <a:ea typeface="Malgun Gothic"/>
                <a:cs typeface="Malgun Gothic"/>
              </a:rPr>
              <a:t>07. 외부 API 제공 검증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09B279-BC8F-4A92-A403-FF9F1FEE016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d5c7e8cd354c87"/>
          <a:stretch xmlns:a="http://schemas.openxmlformats.org/drawingml/2006/main"/>
        </p:blipFill>
        <p:spPr>
          <a:xfrm xmlns:a="http://schemas.openxmlformats.org/drawingml/2006/main">
            <a:off x="495300" y="6441281"/>
            <a:ext cx="819150" cy="195263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C1B42D-C631-4A7B-8BFF-59D6EE69B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B737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B737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B7379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4735FF-0965-4798-8348-3E457A28E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3835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1">
                <a:solidFill>
                  <a:srgbClr val="1B9DA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B9DA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B9DA2"/>
                </a:solidFill>
                <a:latin typeface="Malgun Gothic"/>
                <a:ea typeface="Malgun Gothic"/>
                <a:cs typeface="Malgun Gothic"/>
              </a:rPr>
              <a:t>API 호출과 제공 정보 확인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1F4759-1B13-4F1D-A291-F24507E81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38425"/>
            <a:ext cx="257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20242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20242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02427"/>
                </a:solidFill>
                <a:latin typeface="Malgun Gothic"/>
                <a:ea typeface="Malgun Gothic"/>
                <a:cs typeface="Malgun Gothic"/>
              </a:rPr>
              <a:t>검증 절차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5E818E-EF2A-456C-B695-A2DCA2C50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95625"/>
            <a:ext cx="25908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6B737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B7379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B7379"/>
                </a:solidFill>
                <a:latin typeface="Malgun Gothic"/>
                <a:ea typeface="Malgun Gothic"/>
                <a:cs typeface="Malgun Gothic"/>
              </a:rPr>
              <a:t>1. 외부 호출 환경 준비</a:t>
            </a:r>
          </a:p>
          <a:p xmlns:a="http://schemas.openxmlformats.org/drawingml/2006/main">
            <a:pPr>
              <a:defRPr sz="1575" b="0">
                <a:solidFill>
                  <a:srgbClr val="6B7379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B7379"/>
                </a:solidFill>
                <a:latin typeface="Malgun Gothic"/>
                <a:ea typeface="Malgun Gothic"/>
                <a:cs typeface="Malgun Gothic"/>
              </a:rPr>
              <a:t>2. 정상 인증으로 API 요청</a:t>
            </a:r>
          </a:p>
          <a:p xmlns:a="http://schemas.openxmlformats.org/drawingml/2006/main">
            <a:pPr>
              <a:defRPr sz="1575" b="0">
                <a:solidFill>
                  <a:srgbClr val="6B7379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B7379"/>
                </a:solidFill>
                <a:latin typeface="Malgun Gothic"/>
                <a:ea typeface="Malgun Gothic"/>
                <a:cs typeface="Malgun Gothic"/>
              </a:rPr>
              <a:t>3. 응답 정보와 원본 대조</a:t>
            </a:r>
          </a:p>
          <a:p xmlns:a="http://schemas.openxmlformats.org/drawingml/2006/main">
            <a:pPr>
              <a:defRPr sz="1575" b="0">
                <a:solidFill>
                  <a:srgbClr val="6B7379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B7379"/>
                </a:solidFill>
                <a:latin typeface="Malgun Gothic"/>
                <a:ea typeface="Malgun Gothic"/>
                <a:cs typeface="Malgun Gothic"/>
              </a:rPr>
              <a:t>4. 권한 없는 요청 거부 확인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C8CADA-C401-4AC0-BE43-9F1D62886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24425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1B9DA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B9DA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B9DA2"/>
                </a:solidFill>
                <a:latin typeface="Malgun Gothic"/>
                <a:ea typeface="Malgun Gothic"/>
                <a:cs typeface="Malgun Gothic"/>
              </a:rPr>
              <a:t>확인 기준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2E38A1-BA5B-4B6B-A95C-8E2B5BE3F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76850"/>
            <a:ext cx="2590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20242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202427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02427"/>
                </a:solidFill>
                <a:latin typeface="Malgun Gothic"/>
                <a:ea typeface="Malgun Gothic"/>
                <a:cs typeface="Malgun Gothic"/>
              </a:rPr>
              <a:t>정상 요청의 응답 내용 일치</a:t>
            </a:r>
          </a:p>
          <a:p xmlns:a="http://schemas.openxmlformats.org/drawingml/2006/main">
            <a:pPr>
              <a:defRPr sz="1500" b="0">
                <a:solidFill>
                  <a:srgbClr val="202427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02427"/>
                </a:solidFill>
                <a:latin typeface="Malgun Gothic"/>
                <a:ea typeface="Malgun Gothic"/>
                <a:cs typeface="Malgun Gothic"/>
              </a:rPr>
              <a:t>허용 범위 밖 정보 비노출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563DD9-E167-4153-9498-C5D2F78CE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505075"/>
            <a:ext cx="39147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6B737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6B737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6B7379"/>
                </a:solidFill>
                <a:latin typeface="Malgun Gothic"/>
                <a:ea typeface="Malgun Gothic"/>
                <a:cs typeface="Malgun Gothic"/>
              </a:rPr>
              <a:t>요청 · 응답 증거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86C3F7-89DA-4BAF-AFC1-C3B219B7B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924175"/>
            <a:ext cx="391477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4C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8E3614-8A77-41DB-A7F3-5AD465147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505075"/>
            <a:ext cx="39147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6B737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6B737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6B7379"/>
                </a:solidFill>
                <a:latin typeface="Malgun Gothic"/>
                <a:ea typeface="Malgun Gothic"/>
                <a:cs typeface="Malgun Gothic"/>
              </a:rPr>
              <a:t>원본 정보 대조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6202EB-4C05-45E6-B65B-9DF7AB691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924175"/>
            <a:ext cx="391477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4CC"/>
            </a:solidFill>
          </a:ln>
        </p:spPr>
      </p:sp>
      <p:graphicFrame>
        <p:nvGraphicFrame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706909-94F7-4991-96A8-1678AE6B0E61}"/>
              </a:ext>
            </a:extLst>
          </p:cNvPr>
          <p:cNvGraphicFramePr/>
          <p:nvPr/>
        </p:nvGraphicFramePr>
        <p:xfrm>
          <a:off xmlns:a="http://schemas.openxmlformats.org/drawingml/2006/main" x="3619500" y="5495925"/>
          <a:ext xmlns:a="http://schemas.openxmlformats.org/drawingml/2006/main" cx="8058150" cy="742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43125"/>
                <a:gridCol w="2143125"/>
                <a:gridCol w="2333625"/>
                <a:gridCol w="1438275"/>
              </a:tblGrid>
              <a:tr h="37147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67F7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실행일 / 환경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CE2E6"/>
                      </a:solidFill>
                      <a:prstDash val="solid"/>
                    </a:lnL>
                    <a:lnR w="9525">
                      <a:solidFill>
                        <a:srgbClr val="DCE2E6"/>
                      </a:solidFill>
                      <a:prstDash val="solid"/>
                    </a:lnR>
                    <a:lnT w="9525">
                      <a:solidFill>
                        <a:srgbClr val="DCE2E6"/>
                      </a:solidFill>
                      <a:prstDash val="solid"/>
                    </a:lnT>
                    <a:lnB w="9525">
                      <a:solidFill>
                        <a:srgbClr val="DCE2E6"/>
                      </a:solidFill>
                      <a:prstDash val="solid"/>
                    </a:lnB>
                    <a:solidFill>
                      <a:srgbClr val="E5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67F7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대상 / 계정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2E6"/>
                      </a:solidFill>
                      <a:prstDash val="solid"/>
                    </a:lnR>
                    <a:lnT w="9525">
                      <a:solidFill>
                        <a:srgbClr val="DCE2E6"/>
                      </a:solidFill>
                      <a:prstDash val="solid"/>
                    </a:lnT>
                    <a:lnB w="9525">
                      <a:solidFill>
                        <a:srgbClr val="DCE2E6"/>
                      </a:solidFill>
                      <a:prstDash val="solid"/>
                    </a:lnB>
                    <a:solidFill>
                      <a:srgbClr val="E5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67F7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실제 결과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2E6"/>
                      </a:solidFill>
                      <a:prstDash val="solid"/>
                    </a:lnR>
                    <a:lnT w="9525">
                      <a:solidFill>
                        <a:srgbClr val="DCE2E6"/>
                      </a:solidFill>
                      <a:prstDash val="solid"/>
                    </a:lnT>
                    <a:lnB w="9525">
                      <a:solidFill>
                        <a:srgbClr val="DCE2E6"/>
                      </a:solidFill>
                      <a:prstDash val="solid"/>
                    </a:lnB>
                    <a:solidFill>
                      <a:srgbClr val="E5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67F7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판정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2E6"/>
                      </a:solidFill>
                      <a:prstDash val="solid"/>
                    </a:lnR>
                    <a:lnT w="9525">
                      <a:solidFill>
                        <a:srgbClr val="DCE2E6"/>
                      </a:solidFill>
                      <a:prstDash val="solid"/>
                    </a:lnT>
                    <a:lnB w="9525">
                      <a:solidFill>
                        <a:srgbClr val="DCE2E6"/>
                      </a:solidFill>
                      <a:prstDash val="solid"/>
                    </a:lnB>
                    <a:solidFill>
                      <a:srgbClr val="E5F1F1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24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CE2E6"/>
                      </a:solidFill>
                      <a:prstDash val="solid"/>
                    </a:lnL>
                    <a:lnR w="9525">
                      <a:solidFill>
                        <a:srgbClr val="DCE2E6"/>
                      </a:solidFill>
                      <a:prstDash val="solid"/>
                    </a:lnR>
                    <a:lnB w="9525">
                      <a:solidFill>
                        <a:srgbClr val="DC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24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2E6"/>
                      </a:solidFill>
                      <a:prstDash val="solid"/>
                    </a:lnR>
                    <a:lnB w="9525">
                      <a:solidFill>
                        <a:srgbClr val="DC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24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2E6"/>
                      </a:solidFill>
                      <a:prstDash val="solid"/>
                    </a:lnR>
                    <a:lnB w="9525">
                      <a:solidFill>
                        <a:srgbClr val="DC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24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2E6"/>
                      </a:solidFill>
                      <a:prstDash val="solid"/>
                    </a:lnR>
                    <a:lnB w="9525">
                      <a:solidFill>
                        <a:srgbClr val="DC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24473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2678D1-5764-4813-B1DD-CA686674C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8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DA2"/>
          </a:solidFill>
          <a:ln xmlns:a="http://schemas.openxmlformats.org/drawingml/2006/main" w="0">
            <a:solidFill>
              <a:srgbClr val="1B9DA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AD52C2-46A7-4D9E-A8E1-75CE5E3FE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DA2"/>
          </a:solidFill>
          <a:ln xmlns:a="http://schemas.openxmlformats.org/drawingml/2006/main" w="0">
            <a:solidFill>
              <a:srgbClr val="1B9DA2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8880A6-DF8E-4B96-8528-876666E99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9057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B737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B7379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B7379"/>
                </a:solidFill>
                <a:latin typeface="Malgun Gothic"/>
                <a:ea typeface="Malgun Gothic"/>
                <a:cs typeface="Malgun Gothic"/>
              </a:rPr>
              <a:t>핵심 제공 기능 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DC4EB4-53C4-430B-8891-806867D85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57300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20242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202427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202427"/>
                </a:solidFill>
                <a:latin typeface="Malgun Gothic"/>
                <a:ea typeface="Malgun Gothic"/>
                <a:cs typeface="Malgun Gothic"/>
              </a:rPr>
              <a:t>08. 승인·마감 후 워크로그 변경 통제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6176E2-E8D8-431B-B0BC-9396714609C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7a2abb59274d84"/>
          <a:stretch xmlns:a="http://schemas.openxmlformats.org/drawingml/2006/main"/>
        </p:blipFill>
        <p:spPr>
          <a:xfrm xmlns:a="http://schemas.openxmlformats.org/drawingml/2006/main">
            <a:off x="495300" y="6441281"/>
            <a:ext cx="819150" cy="195263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808A13-39A5-4F9E-8036-9159A10FF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B737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B737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B7379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9CF5F0-1DBC-4939-B4AD-CED9B92B4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66975"/>
            <a:ext cx="2952750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3335">
            <a:solidFill>
              <a:srgbClr val="285BA5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875" b="0">
                <a:solidFill>
                  <a:srgbClr val="285BA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875" b="0">
                <a:solidFill>
                  <a:srgbClr val="285BA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85BA5"/>
                </a:solidFill>
                <a:latin typeface="Malgun Gothic"/>
                <a:ea typeface="Malgun Gothic"/>
                <a:cs typeface="Malgun Gothic"/>
              </a:rPr>
              <a:t>수정·삭제 요청</a:t>
            </a:r>
          </a:p>
          <a:p xmlns:a="http://schemas.openxmlformats.org/drawingml/2006/main">
            <a:pPr algn="ctr">
              <a:defRPr sz="1875" b="0">
                <a:solidFill>
                  <a:srgbClr val="285BA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85BA5"/>
                </a:solidFill>
                <a:latin typeface="Malgun Gothic"/>
                <a:ea typeface="Malgun Gothic"/>
                <a:cs typeface="Malgun Gothic"/>
              </a:rPr>
              <a:t>두 앱의 입력 경로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D4FA01-3D5D-41E3-99CB-2DCEC19A2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66975"/>
            <a:ext cx="2952750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5F0"/>
          </a:solidFill>
          <a:ln xmlns:a="http://schemas.openxmlformats.org/drawingml/2006/main" w="13335">
            <a:solidFill>
              <a:srgbClr val="167F70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875" b="0">
                <a:solidFill>
                  <a:srgbClr val="167F7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875" b="0">
                <a:solidFill>
                  <a:srgbClr val="167F7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67F70"/>
                </a:solidFill>
                <a:latin typeface="Malgun Gothic"/>
                <a:ea typeface="Malgun Gothic"/>
                <a:cs typeface="Malgun Gothic"/>
              </a:rPr>
              <a:t>Approval 확인</a:t>
            </a:r>
          </a:p>
          <a:p xmlns:a="http://schemas.openxmlformats.org/drawingml/2006/main">
            <a:pPr algn="ctr">
              <a:defRPr sz="1875" b="0">
                <a:solidFill>
                  <a:srgbClr val="167F7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67F70"/>
                </a:solidFill>
                <a:latin typeface="Malgun Gothic"/>
                <a:ea typeface="Malgun Gothic"/>
                <a:cs typeface="Malgun Gothic"/>
              </a:rPr>
              <a:t>승인 상태 / 기간 마감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B4AB97-93C6-4C80-9977-BBDFF450C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466975"/>
            <a:ext cx="2895600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B"/>
          </a:solidFill>
          <a:ln xmlns:a="http://schemas.openxmlformats.org/drawingml/2006/main" w="13335">
            <a:solidFill>
              <a:srgbClr val="A34E49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875" b="0">
                <a:solidFill>
                  <a:srgbClr val="A34E4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875" b="0">
                <a:solidFill>
                  <a:srgbClr val="A34E49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A34E49"/>
                </a:solidFill>
                <a:latin typeface="Malgun Gothic"/>
                <a:ea typeface="Malgun Gothic"/>
                <a:cs typeface="Malgun Gothic"/>
              </a:rPr>
              <a:t>변경 차단</a:t>
            </a:r>
          </a:p>
          <a:p xmlns:a="http://schemas.openxmlformats.org/drawingml/2006/main">
            <a:pPr algn="ctr">
              <a:defRPr sz="1875" b="0">
                <a:solidFill>
                  <a:srgbClr val="A34E49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A34E49"/>
                </a:solidFill>
                <a:latin typeface="Malgun Gothic"/>
                <a:ea typeface="Malgun Gothic"/>
                <a:cs typeface="Malgun Gothic"/>
              </a:rPr>
              <a:t>기존 기록 유지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646766-4AA2-4A27-BA50-730A5E68B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938463"/>
            <a:ext cx="118110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B9DA2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69B7D9-978E-428B-B9DA-E03589CF4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938463"/>
            <a:ext cx="118110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B9DA2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C738B6-DFD8-4341-8719-0BFAF6A0E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24325"/>
            <a:ext cx="228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1B9DA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B9DA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B9DA2"/>
                </a:solidFill>
                <a:latin typeface="Malgun Gothic"/>
                <a:ea typeface="Malgun Gothic"/>
                <a:cs typeface="Malgun Gothic"/>
              </a:rPr>
              <a:t>앱 입력 경로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EC2DCC-FED5-46A5-B58E-204C9E3B4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124325"/>
            <a:ext cx="8820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20242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0242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02427"/>
                </a:solidFill>
                <a:latin typeface="Malgun Gothic"/>
                <a:ea typeface="Malgun Gothic"/>
                <a:cs typeface="Malgun Gothic"/>
              </a:rPr>
              <a:t>저장 전 현재 승인·마감 상태를 확인하여 수정·삭제를 제한합니다.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C175C4-A4F1-46EB-A847-C935460E6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91100"/>
            <a:ext cx="228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1B9DA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B9DA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B9DA2"/>
                </a:solidFill>
                <a:latin typeface="Malgun Gothic"/>
                <a:ea typeface="Malgun Gothic"/>
                <a:cs typeface="Malgun Gothic"/>
              </a:rPr>
              <a:t>Jira 직접 경로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6FFECF-B85D-4E95-ABEB-BCE111CE7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991100"/>
            <a:ext cx="88201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20242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0242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02427"/>
                </a:solidFill>
                <a:latin typeface="Malgun Gothic"/>
                <a:ea typeface="Malgun Gothic"/>
                <a:cs typeface="Malgun Gothic"/>
              </a:rPr>
              <a:t>워크로그 접근 제한을 적용하고 실제 계정의 REST 요청으로 차단 효과를 확인합니다.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AFB950-F429-405E-B849-8CDBC9E07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81700"/>
            <a:ext cx="11163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B737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B7379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B7379"/>
                </a:solidFill>
                <a:latin typeface="Malgun Gothic"/>
                <a:ea typeface="Malgun Gothic"/>
                <a:cs typeface="Malgun Gothic"/>
              </a:rPr>
              <a:t>직접 경로는 계정·권한·호출 경로별 검증 후 범위를 확정합니다. 외부 신규 생성의 전면 사전 차단은 별도입니다.</a:t>
            </a:r>
          </a:p>
        </p:txBody>
      </p:sp>
    </p:spTree>
    <p:extLst>
      <p:ext uri="{BB962C8B-B14F-4D97-AF65-F5344CB8AC3E}">
        <p14:creationId xmlns:p14="http://schemas.microsoft.com/office/powerpoint/2010/main" val="62424821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38E224-2CF8-4187-A9D5-0157ED839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8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DA2"/>
          </a:solidFill>
          <a:ln xmlns:a="http://schemas.openxmlformats.org/drawingml/2006/main" w="0">
            <a:solidFill>
              <a:srgbClr val="1B9DA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2F4167-6E14-4E60-AFA6-8DD012D85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DA2"/>
          </a:solidFill>
          <a:ln xmlns:a="http://schemas.openxmlformats.org/drawingml/2006/main" w="0">
            <a:solidFill>
              <a:srgbClr val="1B9DA2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569AD5-6F60-40CB-BAA5-FEB8C92CA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9057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B737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B7379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B7379"/>
                </a:solidFill>
                <a:latin typeface="Malgun Gothic"/>
                <a:ea typeface="Malgun Gothic"/>
                <a:cs typeface="Malgun Gothic"/>
              </a:rPr>
              <a:t>기능 검증 · 증거 작성 영역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3F0F8E-68F0-4B76-A75D-17D4F4195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57300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20242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202427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202427"/>
                </a:solidFill>
                <a:latin typeface="Malgun Gothic"/>
                <a:ea typeface="Malgun Gothic"/>
                <a:cs typeface="Malgun Gothic"/>
              </a:rPr>
              <a:t>09. 앱 내 수정·삭제 차단 검증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F3838A-E815-4998-B269-DFE4B373E07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4ae31a93ea41e1"/>
          <a:stretch xmlns:a="http://schemas.openxmlformats.org/drawingml/2006/main"/>
        </p:blipFill>
        <p:spPr>
          <a:xfrm xmlns:a="http://schemas.openxmlformats.org/drawingml/2006/main">
            <a:off x="495300" y="6441281"/>
            <a:ext cx="819150" cy="195263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C22146-069C-459D-8CF3-26EAC5F8C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B737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B737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B7379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2A87D6-145D-41FB-B7F7-5286714B8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3835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1">
                <a:solidFill>
                  <a:srgbClr val="1B9DA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B9DA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B9DA2"/>
                </a:solidFill>
                <a:latin typeface="Malgun Gothic"/>
                <a:ea typeface="Malgun Gothic"/>
                <a:cs typeface="Malgun Gothic"/>
              </a:rPr>
              <a:t>Workforce와 Approval에서 동일 기록 확인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9DCF1F-9853-4E98-ABF9-8835F1ED8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38425"/>
            <a:ext cx="257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20242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20242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02427"/>
                </a:solidFill>
                <a:latin typeface="Malgun Gothic"/>
                <a:ea typeface="Malgun Gothic"/>
                <a:cs typeface="Malgun Gothic"/>
              </a:rPr>
              <a:t>검증 절차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25E063-6D36-4AED-A437-270E6CC66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95625"/>
            <a:ext cx="25908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6B737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B7379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B7379"/>
                </a:solidFill>
                <a:latin typeface="Malgun Gothic"/>
                <a:ea typeface="Malgun Gothic"/>
                <a:cs typeface="Malgun Gothic"/>
              </a:rPr>
              <a:t>1. 정상 미승인 기록 편집</a:t>
            </a:r>
          </a:p>
          <a:p xmlns:a="http://schemas.openxmlformats.org/drawingml/2006/main">
            <a:pPr>
              <a:defRPr sz="1575" b="0">
                <a:solidFill>
                  <a:srgbClr val="6B7379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B7379"/>
                </a:solidFill>
                <a:latin typeface="Malgun Gothic"/>
                <a:ea typeface="Malgun Gothic"/>
                <a:cs typeface="Malgun Gothic"/>
              </a:rPr>
              <a:t>2. 대상 기록 승인 또는 마감</a:t>
            </a:r>
          </a:p>
          <a:p xmlns:a="http://schemas.openxmlformats.org/drawingml/2006/main">
            <a:pPr>
              <a:defRPr sz="1575" b="0">
                <a:solidFill>
                  <a:srgbClr val="6B7379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B7379"/>
                </a:solidFill>
                <a:latin typeface="Malgun Gothic"/>
                <a:ea typeface="Malgun Gothic"/>
                <a:cs typeface="Malgun Gothic"/>
              </a:rPr>
              <a:t>3. 두 앱에서 수정·삭제 시도</a:t>
            </a:r>
          </a:p>
          <a:p xmlns:a="http://schemas.openxmlformats.org/drawingml/2006/main">
            <a:pPr>
              <a:defRPr sz="1575" b="0">
                <a:solidFill>
                  <a:srgbClr val="6B7379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B7379"/>
                </a:solidFill>
                <a:latin typeface="Malgun Gothic"/>
                <a:ea typeface="Malgun Gothic"/>
                <a:cs typeface="Malgun Gothic"/>
              </a:rPr>
              <a:t>4. 변경 전후 원본 비교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C1A3B5-D44F-4D8D-9A87-A63911C62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24425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1B9DA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B9DA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B9DA2"/>
                </a:solidFill>
                <a:latin typeface="Malgun Gothic"/>
                <a:ea typeface="Malgun Gothic"/>
                <a:cs typeface="Malgun Gothic"/>
              </a:rPr>
              <a:t>확인 기준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2B354A-9321-4E9B-9800-3E556B8F1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76850"/>
            <a:ext cx="2590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20242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202427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02427"/>
                </a:solidFill>
                <a:latin typeface="Malgun Gothic"/>
                <a:ea typeface="Malgun Gothic"/>
                <a:cs typeface="Malgun Gothic"/>
              </a:rPr>
              <a:t>변경 요청 거부</a:t>
            </a:r>
          </a:p>
          <a:p xmlns:a="http://schemas.openxmlformats.org/drawingml/2006/main">
            <a:pPr>
              <a:defRPr sz="1500" b="0">
                <a:solidFill>
                  <a:srgbClr val="202427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02427"/>
                </a:solidFill>
                <a:latin typeface="Malgun Gothic"/>
                <a:ea typeface="Malgun Gothic"/>
                <a:cs typeface="Malgun Gothic"/>
              </a:rPr>
              <a:t>작업일·기록 시간·기록 존재 유지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2917E0-9DEA-40D2-8995-44BBC4FA1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505075"/>
            <a:ext cx="39147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6B737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6B737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6B7379"/>
                </a:solidFill>
                <a:latin typeface="Malgun Gothic"/>
                <a:ea typeface="Malgun Gothic"/>
                <a:cs typeface="Malgun Gothic"/>
              </a:rPr>
              <a:t>차단 화면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CF5FD7-8EC5-442B-9E1D-7C6D06B7E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924175"/>
            <a:ext cx="391477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4C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4284E6-3D9D-46F0-A0BD-9B9781A8F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505075"/>
            <a:ext cx="39147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6B737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6B737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6B7379"/>
                </a:solidFill>
                <a:latin typeface="Malgun Gothic"/>
                <a:ea typeface="Malgun Gothic"/>
                <a:cs typeface="Malgun Gothic"/>
              </a:rPr>
              <a:t>변경 전후 원본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215923-F9AB-4318-8E17-09F68E80B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924175"/>
            <a:ext cx="391477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4CC"/>
            </a:solidFill>
          </a:ln>
        </p:spPr>
      </p:sp>
      <p:graphicFrame>
        <p:nvGraphicFrame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00A1B2-C669-4131-A8C4-72F7F02C8467}"/>
              </a:ext>
            </a:extLst>
          </p:cNvPr>
          <p:cNvGraphicFramePr/>
          <p:nvPr/>
        </p:nvGraphicFramePr>
        <p:xfrm>
          <a:off xmlns:a="http://schemas.openxmlformats.org/drawingml/2006/main" x="3619500" y="5495925"/>
          <a:ext xmlns:a="http://schemas.openxmlformats.org/drawingml/2006/main" cx="8058150" cy="742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43125"/>
                <a:gridCol w="2143125"/>
                <a:gridCol w="2333625"/>
                <a:gridCol w="1438275"/>
              </a:tblGrid>
              <a:tr h="37147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67F7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실행일 / 환경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CE2E6"/>
                      </a:solidFill>
                      <a:prstDash val="solid"/>
                    </a:lnL>
                    <a:lnR w="9525">
                      <a:solidFill>
                        <a:srgbClr val="DCE2E6"/>
                      </a:solidFill>
                      <a:prstDash val="solid"/>
                    </a:lnR>
                    <a:lnT w="9525">
                      <a:solidFill>
                        <a:srgbClr val="DCE2E6"/>
                      </a:solidFill>
                      <a:prstDash val="solid"/>
                    </a:lnT>
                    <a:lnB w="9525">
                      <a:solidFill>
                        <a:srgbClr val="DCE2E6"/>
                      </a:solidFill>
                      <a:prstDash val="solid"/>
                    </a:lnB>
                    <a:solidFill>
                      <a:srgbClr val="E5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67F7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대상 / 계정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2E6"/>
                      </a:solidFill>
                      <a:prstDash val="solid"/>
                    </a:lnR>
                    <a:lnT w="9525">
                      <a:solidFill>
                        <a:srgbClr val="DCE2E6"/>
                      </a:solidFill>
                      <a:prstDash val="solid"/>
                    </a:lnT>
                    <a:lnB w="9525">
                      <a:solidFill>
                        <a:srgbClr val="DCE2E6"/>
                      </a:solidFill>
                      <a:prstDash val="solid"/>
                    </a:lnB>
                    <a:solidFill>
                      <a:srgbClr val="E5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67F7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실제 결과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2E6"/>
                      </a:solidFill>
                      <a:prstDash val="solid"/>
                    </a:lnR>
                    <a:lnT w="9525">
                      <a:solidFill>
                        <a:srgbClr val="DCE2E6"/>
                      </a:solidFill>
                      <a:prstDash val="solid"/>
                    </a:lnT>
                    <a:lnB w="9525">
                      <a:solidFill>
                        <a:srgbClr val="DCE2E6"/>
                      </a:solidFill>
                      <a:prstDash val="solid"/>
                    </a:lnB>
                    <a:solidFill>
                      <a:srgbClr val="E5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67F7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판정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2E6"/>
                      </a:solidFill>
                      <a:prstDash val="solid"/>
                    </a:lnR>
                    <a:lnT w="9525">
                      <a:solidFill>
                        <a:srgbClr val="DCE2E6"/>
                      </a:solidFill>
                      <a:prstDash val="solid"/>
                    </a:lnT>
                    <a:lnB w="9525">
                      <a:solidFill>
                        <a:srgbClr val="DCE2E6"/>
                      </a:solidFill>
                      <a:prstDash val="solid"/>
                    </a:lnB>
                    <a:solidFill>
                      <a:srgbClr val="E5F1F1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24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CE2E6"/>
                      </a:solidFill>
                      <a:prstDash val="solid"/>
                    </a:lnL>
                    <a:lnR w="9525">
                      <a:solidFill>
                        <a:srgbClr val="DCE2E6"/>
                      </a:solidFill>
                      <a:prstDash val="solid"/>
                    </a:lnR>
                    <a:lnB w="9525">
                      <a:solidFill>
                        <a:srgbClr val="DC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24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2E6"/>
                      </a:solidFill>
                      <a:prstDash val="solid"/>
                    </a:lnR>
                    <a:lnB w="9525">
                      <a:solidFill>
                        <a:srgbClr val="DC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24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2E6"/>
                      </a:solidFill>
                      <a:prstDash val="solid"/>
                    </a:lnR>
                    <a:lnB w="9525">
                      <a:solidFill>
                        <a:srgbClr val="DC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24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2E6"/>
                      </a:solidFill>
                      <a:prstDash val="solid"/>
                    </a:lnR>
                    <a:lnB w="9525">
                      <a:solidFill>
                        <a:srgbClr val="DC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963434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CD99F6-5EE0-4A5E-8956-E5E20BDB5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8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DA2"/>
          </a:solidFill>
          <a:ln xmlns:a="http://schemas.openxmlformats.org/drawingml/2006/main" w="0">
            <a:solidFill>
              <a:srgbClr val="1B9DA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C4E51E-4AA0-4D9E-A8C9-EEBDD1AB1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DA2"/>
          </a:solidFill>
          <a:ln xmlns:a="http://schemas.openxmlformats.org/drawingml/2006/main" w="0">
            <a:solidFill>
              <a:srgbClr val="1B9DA2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CDC0C1-AAFC-49D6-8FD0-E7E93B34F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9057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B737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B7379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B7379"/>
                </a:solidFill>
                <a:latin typeface="Malgun Gothic"/>
                <a:ea typeface="Malgun Gothic"/>
                <a:cs typeface="Malgun Gothic"/>
              </a:rPr>
              <a:t>기능 검증 · 증거 작성 영역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643410-55BE-48BC-ABA8-416EEF8DF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57300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20242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202427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202427"/>
                </a:solidFill>
                <a:latin typeface="Malgun Gothic"/>
                <a:ea typeface="Malgun Gothic"/>
                <a:cs typeface="Malgun Gothic"/>
              </a:rPr>
              <a:t>10. Jira 직접 경로 차단 검증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46C242-8385-4F44-981D-ED2F10E3D2F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a14585f3864918"/>
          <a:stretch xmlns:a="http://schemas.openxmlformats.org/drawingml/2006/main"/>
        </p:blipFill>
        <p:spPr>
          <a:xfrm xmlns:a="http://schemas.openxmlformats.org/drawingml/2006/main">
            <a:off x="495300" y="6441281"/>
            <a:ext cx="819150" cy="195263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2EAA03-4F85-4B3E-AB88-79EBE3867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B737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B737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B7379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37D916-10A6-4946-8A60-7CE348D64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3835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1">
                <a:solidFill>
                  <a:srgbClr val="1B9DA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B9DA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B9DA2"/>
                </a:solidFill>
                <a:latin typeface="Malgun Gothic"/>
                <a:ea typeface="Malgun Gothic"/>
                <a:cs typeface="Malgun Gothic"/>
              </a:rPr>
              <a:t>정상 REST 요청과 원본 유지 확인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9F48D4-5D18-4143-A46E-2FD63C76D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38425"/>
            <a:ext cx="257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20242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20242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02427"/>
                </a:solidFill>
                <a:latin typeface="Malgun Gothic"/>
                <a:ea typeface="Malgun Gothic"/>
                <a:cs typeface="Malgun Gothic"/>
              </a:rPr>
              <a:t>검증 절차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AA3325-49DE-472D-88A9-7626F146C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95625"/>
            <a:ext cx="25908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6B737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B7379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B7379"/>
                </a:solidFill>
                <a:latin typeface="Malgun Gothic"/>
                <a:ea typeface="Malgun Gothic"/>
                <a:cs typeface="Malgun Gothic"/>
              </a:rPr>
              <a:t>1. 시험 계정·대상 기록 확인</a:t>
            </a:r>
          </a:p>
          <a:p xmlns:a="http://schemas.openxmlformats.org/drawingml/2006/main">
            <a:pPr>
              <a:defRPr sz="1575" b="0">
                <a:solidFill>
                  <a:srgbClr val="6B7379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B7379"/>
                </a:solidFill>
                <a:latin typeface="Malgun Gothic"/>
                <a:ea typeface="Malgun Gothic"/>
                <a:cs typeface="Malgun Gothic"/>
              </a:rPr>
              <a:t>2. 정상 수정·삭제 요청 실행</a:t>
            </a:r>
          </a:p>
          <a:p xmlns:a="http://schemas.openxmlformats.org/drawingml/2006/main">
            <a:pPr>
              <a:defRPr sz="1575" b="0">
                <a:solidFill>
                  <a:srgbClr val="6B7379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B7379"/>
                </a:solidFill>
                <a:latin typeface="Malgun Gothic"/>
                <a:ea typeface="Malgun Gothic"/>
                <a:cs typeface="Malgun Gothic"/>
              </a:rPr>
              <a:t>3. 응답과 원본 상태 확인</a:t>
            </a:r>
          </a:p>
          <a:p xmlns:a="http://schemas.openxmlformats.org/drawingml/2006/main">
            <a:pPr>
              <a:defRPr sz="1575" b="0">
                <a:solidFill>
                  <a:srgbClr val="6B7379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B7379"/>
                </a:solidFill>
                <a:latin typeface="Malgun Gothic"/>
                <a:ea typeface="Malgun Gothic"/>
                <a:cs typeface="Malgun Gothic"/>
              </a:rPr>
              <a:t>4. 계정·경로별 결과 기록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667DE8-A753-4262-BD15-AC5D9FAC5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24425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1B9DA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B9DA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B9DA2"/>
                </a:solidFill>
                <a:latin typeface="Malgun Gothic"/>
                <a:ea typeface="Malgun Gothic"/>
                <a:cs typeface="Malgun Gothic"/>
              </a:rPr>
              <a:t>확인 기준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A1B46B-7BA8-4803-A019-A6DF41405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76850"/>
            <a:ext cx="2590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20242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202427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02427"/>
                </a:solidFill>
                <a:latin typeface="Malgun Gothic"/>
                <a:ea typeface="Malgun Gothic"/>
                <a:cs typeface="Malgun Gothic"/>
              </a:rPr>
              <a:t>정상 요청의 거부와 원본 유지</a:t>
            </a:r>
          </a:p>
          <a:p xmlns:a="http://schemas.openxmlformats.org/drawingml/2006/main">
            <a:pPr>
              <a:defRPr sz="1500" b="0">
                <a:solidFill>
                  <a:srgbClr val="202427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02427"/>
                </a:solidFill>
                <a:latin typeface="Malgun Gothic"/>
                <a:ea typeface="Malgun Gothic"/>
                <a:cs typeface="Malgun Gothic"/>
              </a:rPr>
              <a:t>인증 실패·장애는 성공 증거 제외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469A0E-3589-4205-AA24-261924CAD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505075"/>
            <a:ext cx="39147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6B737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6B737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6B7379"/>
                </a:solidFill>
                <a:latin typeface="Malgun Gothic"/>
                <a:ea typeface="Malgun Gothic"/>
                <a:cs typeface="Malgun Gothic"/>
              </a:rPr>
              <a:t>REST 요청 · 응답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689DED-A336-44FA-BEDD-248E15B59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924175"/>
            <a:ext cx="391477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4C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9CDF2E-00FA-459C-A80C-9EFD277CB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505075"/>
            <a:ext cx="39147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6B737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6B737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6B7379"/>
                </a:solidFill>
                <a:latin typeface="Malgun Gothic"/>
                <a:ea typeface="Malgun Gothic"/>
                <a:cs typeface="Malgun Gothic"/>
              </a:rPr>
              <a:t>원본 유지 증거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0F8AA0-CCFA-410D-8235-A8207B2E0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924175"/>
            <a:ext cx="391477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4CC"/>
            </a:solidFill>
          </a:ln>
        </p:spPr>
      </p:sp>
      <p:graphicFrame>
        <p:nvGraphicFrame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02A756-6308-4D9A-A164-0909A7D43C3A}"/>
              </a:ext>
            </a:extLst>
          </p:cNvPr>
          <p:cNvGraphicFramePr/>
          <p:nvPr/>
        </p:nvGraphicFramePr>
        <p:xfrm>
          <a:off xmlns:a="http://schemas.openxmlformats.org/drawingml/2006/main" x="3619500" y="5495925"/>
          <a:ext xmlns:a="http://schemas.openxmlformats.org/drawingml/2006/main" cx="8058150" cy="742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43125"/>
                <a:gridCol w="2143125"/>
                <a:gridCol w="2333625"/>
                <a:gridCol w="1438275"/>
              </a:tblGrid>
              <a:tr h="37147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67F7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실행일 / 환경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CE2E6"/>
                      </a:solidFill>
                      <a:prstDash val="solid"/>
                    </a:lnL>
                    <a:lnR w="9525">
                      <a:solidFill>
                        <a:srgbClr val="DCE2E6"/>
                      </a:solidFill>
                      <a:prstDash val="solid"/>
                    </a:lnR>
                    <a:lnT w="9525">
                      <a:solidFill>
                        <a:srgbClr val="DCE2E6"/>
                      </a:solidFill>
                      <a:prstDash val="solid"/>
                    </a:lnT>
                    <a:lnB w="9525">
                      <a:solidFill>
                        <a:srgbClr val="DCE2E6"/>
                      </a:solidFill>
                      <a:prstDash val="solid"/>
                    </a:lnB>
                    <a:solidFill>
                      <a:srgbClr val="E5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67F7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대상 / 계정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2E6"/>
                      </a:solidFill>
                      <a:prstDash val="solid"/>
                    </a:lnR>
                    <a:lnT w="9525">
                      <a:solidFill>
                        <a:srgbClr val="DCE2E6"/>
                      </a:solidFill>
                      <a:prstDash val="solid"/>
                    </a:lnT>
                    <a:lnB w="9525">
                      <a:solidFill>
                        <a:srgbClr val="DCE2E6"/>
                      </a:solidFill>
                      <a:prstDash val="solid"/>
                    </a:lnB>
                    <a:solidFill>
                      <a:srgbClr val="E5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67F7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실제 결과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2E6"/>
                      </a:solidFill>
                      <a:prstDash val="solid"/>
                    </a:lnR>
                    <a:lnT w="9525">
                      <a:solidFill>
                        <a:srgbClr val="DCE2E6"/>
                      </a:solidFill>
                      <a:prstDash val="solid"/>
                    </a:lnT>
                    <a:lnB w="9525">
                      <a:solidFill>
                        <a:srgbClr val="DCE2E6"/>
                      </a:solidFill>
                      <a:prstDash val="solid"/>
                    </a:lnB>
                    <a:solidFill>
                      <a:srgbClr val="E5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67F7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판정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2E6"/>
                      </a:solidFill>
                      <a:prstDash val="solid"/>
                    </a:lnR>
                    <a:lnT w="9525">
                      <a:solidFill>
                        <a:srgbClr val="DCE2E6"/>
                      </a:solidFill>
                      <a:prstDash val="solid"/>
                    </a:lnT>
                    <a:lnB w="9525">
                      <a:solidFill>
                        <a:srgbClr val="DCE2E6"/>
                      </a:solidFill>
                      <a:prstDash val="solid"/>
                    </a:lnB>
                    <a:solidFill>
                      <a:srgbClr val="E5F1F1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24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CE2E6"/>
                      </a:solidFill>
                      <a:prstDash val="solid"/>
                    </a:lnL>
                    <a:lnR w="9525">
                      <a:solidFill>
                        <a:srgbClr val="DCE2E6"/>
                      </a:solidFill>
                      <a:prstDash val="solid"/>
                    </a:lnR>
                    <a:lnB w="9525">
                      <a:solidFill>
                        <a:srgbClr val="DC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24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2E6"/>
                      </a:solidFill>
                      <a:prstDash val="solid"/>
                    </a:lnR>
                    <a:lnB w="9525">
                      <a:solidFill>
                        <a:srgbClr val="DC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24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2E6"/>
                      </a:solidFill>
                      <a:prstDash val="solid"/>
                    </a:lnR>
                    <a:lnB w="9525">
                      <a:solidFill>
                        <a:srgbClr val="DC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24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2E6"/>
                      </a:solidFill>
                      <a:prstDash val="solid"/>
                    </a:lnR>
                    <a:lnB w="9525">
                      <a:solidFill>
                        <a:srgbClr val="DC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00548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2D96C0-A81D-4A11-B7C5-0960BE566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8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DA2"/>
          </a:solidFill>
          <a:ln xmlns:a="http://schemas.openxmlformats.org/drawingml/2006/main" w="0">
            <a:solidFill>
              <a:srgbClr val="1B9DA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983044-0E41-4FDA-9BE3-ED7CB5DDE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DA2"/>
          </a:solidFill>
          <a:ln xmlns:a="http://schemas.openxmlformats.org/drawingml/2006/main" w="0">
            <a:solidFill>
              <a:srgbClr val="1B9DA2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7D920D-D68C-4EA7-8DEE-509781450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9057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B737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B7379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B7379"/>
                </a:solidFill>
                <a:latin typeface="Malgun Gothic"/>
                <a:ea typeface="Malgun Gothic"/>
                <a:cs typeface="Malgun Gothic"/>
              </a:rPr>
              <a:t>개발 및 기능 제공 제안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970C18-28C8-4E45-8FFB-76B553BBF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57300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20242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202427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202427"/>
                </a:solidFill>
                <a:latin typeface="Malgun Gothic"/>
                <a:ea typeface="Malgun Gothic"/>
                <a:cs typeface="Malgun Gothic"/>
              </a:rPr>
              <a:t>11. Forge Storage 기반 승인·변경 이력 관리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FF7571-0DFC-450C-86F5-364D9E2EEC0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aafe9d700b4fbd"/>
          <a:stretch xmlns:a="http://schemas.openxmlformats.org/drawingml/2006/main"/>
        </p:blipFill>
        <p:spPr>
          <a:xfrm xmlns:a="http://schemas.openxmlformats.org/drawingml/2006/main">
            <a:off x="495300" y="6441281"/>
            <a:ext cx="819150" cy="195263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FCE02F-48AD-4018-B03C-C951276F7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B737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B737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B7379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02E701-895D-4FB3-85FA-13F6386070D7}"/>
              </a:ext>
            </a:extLst>
          </p:cNvPr>
          <p:cNvGraphicFramePr/>
          <p:nvPr/>
        </p:nvGraphicFramePr>
        <p:xfrm>
          <a:off xmlns:a="http://schemas.openxmlformats.org/drawingml/2006/main" x="514350" y="2181225"/>
          <a:ext xmlns:a="http://schemas.openxmlformats.org/drawingml/2006/main" cx="111633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5048250"/>
                <a:gridCol w="3638550"/>
              </a:tblGrid>
              <a:tr h="78581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67F7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저장 대상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CE2E6"/>
                      </a:solidFill>
                      <a:prstDash val="solid"/>
                    </a:lnL>
                    <a:lnR w="9525">
                      <a:solidFill>
                        <a:srgbClr val="DCE2E6"/>
                      </a:solidFill>
                      <a:prstDash val="solid"/>
                    </a:lnR>
                    <a:lnT w="9525">
                      <a:solidFill>
                        <a:srgbClr val="DCE2E6"/>
                      </a:solidFill>
                      <a:prstDash val="solid"/>
                    </a:lnT>
                    <a:lnB w="9525">
                      <a:solidFill>
                        <a:srgbClr val="DCE2E6"/>
                      </a:solidFill>
                      <a:prstDash val="solid"/>
                    </a:lnB>
                    <a:solidFill>
                      <a:srgbClr val="E5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67F7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보관할 정보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2E6"/>
                      </a:solidFill>
                      <a:prstDash val="solid"/>
                    </a:lnR>
                    <a:lnT w="9525">
                      <a:solidFill>
                        <a:srgbClr val="DCE2E6"/>
                      </a:solidFill>
                      <a:prstDash val="solid"/>
                    </a:lnT>
                    <a:lnB w="9525">
                      <a:solidFill>
                        <a:srgbClr val="DCE2E6"/>
                      </a:solidFill>
                      <a:prstDash val="solid"/>
                    </a:lnB>
                    <a:solidFill>
                      <a:srgbClr val="E5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67F7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 목적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2E6"/>
                      </a:solidFill>
                      <a:prstDash val="solid"/>
                    </a:lnR>
                    <a:lnT w="9525">
                      <a:solidFill>
                        <a:srgbClr val="DCE2E6"/>
                      </a:solidFill>
                      <a:prstDash val="solid"/>
                    </a:lnT>
                    <a:lnB w="9525">
                      <a:solidFill>
                        <a:srgbClr val="DCE2E6"/>
                      </a:solidFill>
                      <a:prstDash val="solid"/>
                    </a:lnB>
                    <a:solidFill>
                      <a:srgbClr val="E5F1F1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24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승인·반려 이력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CE2E6"/>
                      </a:solidFill>
                      <a:prstDash val="solid"/>
                    </a:lnL>
                    <a:lnR w="9525">
                      <a:solidFill>
                        <a:srgbClr val="DCE2E6"/>
                      </a:solidFill>
                      <a:prstDash val="solid"/>
                    </a:lnR>
                    <a:lnB w="9525">
                      <a:solidFill>
                        <a:srgbClr val="DC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24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대상 기록·승인자·결정·시각</a:t>
                      </a:r>
                    </a:p>
                    <a:p>
                      <a:r>
                        <a:rPr sz="1500" b="0">
                          <a:solidFill>
                            <a:srgbClr val="2024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승인 당시 작업일·시간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2E6"/>
                      </a:solidFill>
                      <a:prstDash val="solid"/>
                    </a:lnR>
                    <a:lnB w="9525">
                      <a:solidFill>
                        <a:srgbClr val="DC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24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승인 경위 확인</a:t>
                      </a:r>
                    </a:p>
                    <a:p>
                      <a:r>
                        <a:rPr sz="1500" b="0">
                          <a:solidFill>
                            <a:srgbClr val="2024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당시 인정 시간 보존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2E6"/>
                      </a:solidFill>
                      <a:prstDash val="solid"/>
                    </a:lnR>
                    <a:lnB w="9525">
                      <a:solidFill>
                        <a:srgbClr val="DC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24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워크로그 변경 이력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CE2E6"/>
                      </a:solidFill>
                      <a:prstDash val="solid"/>
                    </a:lnL>
                    <a:lnR w="9525">
                      <a:solidFill>
                        <a:srgbClr val="DCE2E6"/>
                      </a:solidFill>
                      <a:prstDash val="solid"/>
                    </a:lnR>
                    <a:lnB w="9525">
                      <a:solidFill>
                        <a:srgbClr val="DC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24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생성·수정·삭제 구분</a:t>
                      </a:r>
                    </a:p>
                    <a:p>
                      <a:r>
                        <a:rPr sz="1500" b="0">
                          <a:solidFill>
                            <a:srgbClr val="2024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가능한 행위자·변경 전후 값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2E6"/>
                      </a:solidFill>
                      <a:prstDash val="solid"/>
                    </a:lnR>
                    <a:lnB w="9525">
                      <a:solidFill>
                        <a:srgbClr val="DC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24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변경 추적</a:t>
                      </a:r>
                    </a:p>
                    <a:p>
                      <a:r>
                        <a:rPr sz="1500" b="0">
                          <a:solidFill>
                            <a:srgbClr val="2024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승인 이후 원본 대조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2E6"/>
                      </a:solidFill>
                      <a:prstDash val="solid"/>
                    </a:lnR>
                    <a:lnB w="9525">
                      <a:solidFill>
                        <a:srgbClr val="DC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24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워크로그 설명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CE2E6"/>
                      </a:solidFill>
                      <a:prstDash val="solid"/>
                    </a:lnL>
                    <a:lnR w="9525">
                      <a:solidFill>
                        <a:srgbClr val="DCE2E6"/>
                      </a:solidFill>
                      <a:prstDash val="solid"/>
                    </a:lnR>
                    <a:lnB w="9525">
                      <a:solidFill>
                        <a:srgbClr val="DC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24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설명 일부와 변경 여부</a:t>
                      </a:r>
                    </a:p>
                    <a:p>
                      <a:r>
                        <a:rPr sz="1500" b="0">
                          <a:solidFill>
                            <a:srgbClr val="2024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전체 원문 보존은 부분 지원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2E6"/>
                      </a:solidFill>
                      <a:prstDash val="solid"/>
                    </a:lnR>
                    <a:lnB w="9525">
                      <a:solidFill>
                        <a:srgbClr val="DC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24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필요한 맥락 확인</a:t>
                      </a:r>
                    </a:p>
                    <a:p>
                      <a:r>
                        <a:rPr sz="1500" b="0">
                          <a:solidFill>
                            <a:srgbClr val="2024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이력 저장량 관리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2E6"/>
                      </a:solidFill>
                      <a:prstDash val="solid"/>
                    </a:lnR>
                    <a:lnB w="9525">
                      <a:solidFill>
                        <a:srgbClr val="DC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6C0B7C-F00D-46EF-AFD0-7D9792277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0225"/>
            <a:ext cx="111633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1B9DA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B9DA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B9DA2"/>
                </a:solidFill>
                <a:latin typeface="Malgun Gothic"/>
                <a:ea typeface="Malgun Gothic"/>
                <a:cs typeface="Malgun Gothic"/>
              </a:rPr>
              <a:t>Approval의 Forge Storage에 승인·변경 이력을 누적하고, 권한 범위에 맞춰 조회·내보내기를 제공합니다.</a:t>
            </a:r>
          </a:p>
        </p:txBody>
      </p:sp>
    </p:spTree>
    <p:extLst>
      <p:ext uri="{BB962C8B-B14F-4D97-AF65-F5344CB8AC3E}">
        <p14:creationId xmlns:p14="http://schemas.microsoft.com/office/powerpoint/2010/main" val="176531307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CDDB53-DB68-4C82-B73B-D940710DB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8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DA2"/>
          </a:solidFill>
          <a:ln xmlns:a="http://schemas.openxmlformats.org/drawingml/2006/main" w="0">
            <a:solidFill>
              <a:srgbClr val="1B9DA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F941DD-0EFC-46C2-A7E4-989FC8921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DA2"/>
          </a:solidFill>
          <a:ln xmlns:a="http://schemas.openxmlformats.org/drawingml/2006/main" w="0">
            <a:solidFill>
              <a:srgbClr val="1B9DA2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EF267A-697D-4484-BC2F-841AF358C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9057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B737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B7379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B7379"/>
                </a:solidFill>
                <a:latin typeface="Malgun Gothic"/>
                <a:ea typeface="Malgun Gothic"/>
                <a:cs typeface="Malgun Gothic"/>
              </a:rPr>
              <a:t>개발 및 기능 제공 제안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B1E3DD-A463-42C7-A273-FEC372720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57300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20242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202427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202427"/>
                </a:solidFill>
                <a:latin typeface="Malgun Gothic"/>
                <a:ea typeface="Malgun Gothic"/>
                <a:cs typeface="Malgun Gothic"/>
              </a:rPr>
              <a:t>12. 정기 파일 내보내기와 저장공간 관리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9A4A8C-5034-4D80-B73C-FD014099BD9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7ae6e03e5e4260"/>
          <a:stretch xmlns:a="http://schemas.openxmlformats.org/drawingml/2006/main"/>
        </p:blipFill>
        <p:spPr>
          <a:xfrm xmlns:a="http://schemas.openxmlformats.org/drawingml/2006/main">
            <a:off x="495300" y="6441281"/>
            <a:ext cx="819150" cy="195263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44CEB5-F83F-4393-90A4-8088D7A5A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B737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B737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B7379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56CA34-9185-43F0-82E1-DAE538926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57450"/>
            <a:ext cx="2952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5F0"/>
          </a:solidFill>
          <a:ln xmlns:a="http://schemas.openxmlformats.org/drawingml/2006/main" w="13335">
            <a:solidFill>
              <a:srgbClr val="167F70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875" b="0">
                <a:solidFill>
                  <a:srgbClr val="167F7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875" b="0">
                <a:solidFill>
                  <a:srgbClr val="167F7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67F70"/>
                </a:solidFill>
                <a:latin typeface="Malgun Gothic"/>
                <a:ea typeface="Malgun Gothic"/>
                <a:cs typeface="Malgun Gothic"/>
              </a:rPr>
              <a:t>Forge Storage</a:t>
            </a:r>
          </a:p>
          <a:p xmlns:a="http://schemas.openxmlformats.org/drawingml/2006/main">
            <a:pPr algn="ctr">
              <a:defRPr sz="1875" b="0">
                <a:solidFill>
                  <a:srgbClr val="167F7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67F70"/>
                </a:solidFill>
                <a:latin typeface="Malgun Gothic"/>
                <a:ea typeface="Malgun Gothic"/>
                <a:cs typeface="Malgun Gothic"/>
              </a:rPr>
              <a:t>승인·변경 이력 누적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46D2C8-AACB-4B79-8535-12CA0C98A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57450"/>
            <a:ext cx="2952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BFF"/>
          </a:solidFill>
          <a:ln xmlns:a="http://schemas.openxmlformats.org/drawingml/2006/main" w="13335">
            <a:solidFill>
              <a:srgbClr val="7553AE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875" b="0">
                <a:solidFill>
                  <a:srgbClr val="7553A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875" b="0">
                <a:solidFill>
                  <a:srgbClr val="7553AE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7553AE"/>
                </a:solidFill>
                <a:latin typeface="Malgun Gothic"/>
                <a:ea typeface="Malgun Gothic"/>
                <a:cs typeface="Malgun Gothic"/>
              </a:rPr>
              <a:t>정기 파일 생성</a:t>
            </a:r>
          </a:p>
          <a:p xmlns:a="http://schemas.openxmlformats.org/drawingml/2006/main">
            <a:pPr algn="ctr">
              <a:defRPr sz="1875" b="0">
                <a:solidFill>
                  <a:srgbClr val="7553AE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7553AE"/>
                </a:solidFill>
                <a:latin typeface="Malgun Gothic"/>
                <a:ea typeface="Malgun Gothic"/>
                <a:cs typeface="Malgun Gothic"/>
              </a:rPr>
              <a:t>기간별 이력 내보내기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20BBBF-214E-4854-A31D-F01AA68A6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457450"/>
            <a:ext cx="28956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3335">
            <a:solidFill>
              <a:srgbClr val="285BA5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875" b="0">
                <a:solidFill>
                  <a:srgbClr val="285BA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875" b="0">
                <a:solidFill>
                  <a:srgbClr val="285BA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85BA5"/>
                </a:solidFill>
                <a:latin typeface="Malgun Gothic"/>
                <a:ea typeface="Malgun Gothic"/>
                <a:cs typeface="Malgun Gothic"/>
              </a:rPr>
              <a:t>고객 보관</a:t>
            </a:r>
          </a:p>
          <a:p xmlns:a="http://schemas.openxmlformats.org/drawingml/2006/main">
            <a:pPr algn="ctr">
              <a:defRPr sz="1875" b="0">
                <a:solidFill>
                  <a:srgbClr val="285BA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85BA5"/>
                </a:solidFill>
                <a:latin typeface="Malgun Gothic"/>
                <a:ea typeface="Malgun Gothic"/>
                <a:cs typeface="Malgun Gothic"/>
              </a:rPr>
              <a:t>감사·장기 조회 자료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F628FA-2E85-4A3D-BEEE-187E93FB9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933700"/>
            <a:ext cx="118110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B9DA2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FE02D8-BBE8-4422-ACA7-8CE92E4AB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933700"/>
            <a:ext cx="118110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B9DA2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981828-6555-484A-B9C0-14828DC64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24325"/>
            <a:ext cx="2143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1B9DA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B9DA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B9DA2"/>
                </a:solidFill>
                <a:latin typeface="Malgun Gothic"/>
                <a:ea typeface="Malgun Gothic"/>
                <a:cs typeface="Malgun Gothic"/>
              </a:rPr>
              <a:t>제공 방식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9FD8BA-C351-4803-B2F3-38E58240F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124325"/>
            <a:ext cx="8820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20242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0242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02427"/>
                </a:solidFill>
                <a:latin typeface="Malgun Gothic"/>
                <a:ea typeface="Malgun Gothic"/>
                <a:cs typeface="Malgun Gothic"/>
              </a:rPr>
              <a:t>저장공간 한도를 고려해 누적 이력을 주기적으로 파일로 제공합니다.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8EAFA5-CDBE-4485-8E89-9FE5D74F1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72050"/>
            <a:ext cx="2143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1B9DA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B9DA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B9DA2"/>
                </a:solidFill>
                <a:latin typeface="Malgun Gothic"/>
                <a:ea typeface="Malgun Gothic"/>
                <a:cs typeface="Malgun Gothic"/>
              </a:rPr>
              <a:t>보관 관리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321C09-217B-4D58-AAE3-CDDBB979C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972050"/>
            <a:ext cx="88201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20242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0242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02427"/>
                </a:solidFill>
                <a:latin typeface="Malgun Gothic"/>
                <a:ea typeface="Malgun Gothic"/>
                <a:cs typeface="Malgun Gothic"/>
              </a:rPr>
              <a:t>파일 생성·건수 대조·보관 확인 후 정리 가능한 이력을 관리합니다.</a:t>
            </a:r>
          </a:p>
          <a:p xmlns:a="http://schemas.openxmlformats.org/drawingml/2006/main">
            <a:pPr>
              <a:defRPr sz="1725" b="0">
                <a:solidFill>
                  <a:srgbClr val="20242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02427"/>
                </a:solidFill>
                <a:latin typeface="Malgun Gothic"/>
                <a:ea typeface="Malgun Gothic"/>
                <a:cs typeface="Malgun Gothic"/>
              </a:rPr>
              <a:t>현재 승인·잠금 판단에 필요한 핵심 근거는 유지합니다.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08E3A4-0AA1-417A-984C-57E84A4DB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19800"/>
            <a:ext cx="11163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6B737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B7379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6B7379"/>
                </a:solidFill>
                <a:latin typeface="Malgun Gothic"/>
                <a:ea typeface="Malgun Gothic"/>
                <a:cs typeface="Malgun Gothic"/>
              </a:rPr>
              <a:t>내보내기 주기·온라인 보관 기간·파일 형식·보관 위치는 적용 규모에 맞춰 확정합니다.</a:t>
            </a:r>
          </a:p>
        </p:txBody>
      </p:sp>
    </p:spTree>
    <p:extLst>
      <p:ext uri="{BB962C8B-B14F-4D97-AF65-F5344CB8AC3E}">
        <p14:creationId xmlns:p14="http://schemas.microsoft.com/office/powerpoint/2010/main" val="70567821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43A9DD-F510-4EB3-A9C5-A3EC0D2E9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8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DA2"/>
          </a:solidFill>
          <a:ln xmlns:a="http://schemas.openxmlformats.org/drawingml/2006/main" w="0">
            <a:solidFill>
              <a:srgbClr val="1B9DA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F75A59-091F-419A-BBD4-D9CA2BAD7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DA2"/>
          </a:solidFill>
          <a:ln xmlns:a="http://schemas.openxmlformats.org/drawingml/2006/main" w="0">
            <a:solidFill>
              <a:srgbClr val="1B9DA2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CA872D-8751-41E4-B2F4-C7E9C26C9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9057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B737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B7379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B7379"/>
                </a:solidFill>
                <a:latin typeface="Malgun Gothic"/>
                <a:ea typeface="Malgun Gothic"/>
                <a:cs typeface="Malgun Gothic"/>
              </a:rPr>
              <a:t>개발 및 기능 제공 제안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A0A29A-C9A5-482B-8ADE-4765E5529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57300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20242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202427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202427"/>
                </a:solidFill>
                <a:latin typeface="Malgun Gothic"/>
                <a:ea typeface="Malgun Gothic"/>
                <a:cs typeface="Malgun Gothic"/>
              </a:rPr>
              <a:t>13. 개발 및 검증 적용 순서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073B49-DD86-4D5A-8939-F54E0ACDA6D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4baf877b8e4260"/>
          <a:stretch xmlns:a="http://schemas.openxmlformats.org/drawingml/2006/main"/>
        </p:blipFill>
        <p:spPr>
          <a:xfrm xmlns:a="http://schemas.openxmlformats.org/drawingml/2006/main">
            <a:off x="495300" y="6441281"/>
            <a:ext cx="819150" cy="195263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E52704-63BD-4C68-AEF0-3A1EA706E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B737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B737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B7379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585A9C-DE8D-46E9-951F-D9F756666DE2}"/>
              </a:ext>
            </a:extLst>
          </p:cNvPr>
          <p:cNvGraphicFramePr/>
          <p:nvPr/>
        </p:nvGraphicFramePr>
        <p:xfrm>
          <a:off xmlns:a="http://schemas.openxmlformats.org/drawingml/2006/main" x="514350" y="2181225"/>
          <a:ext xmlns:a="http://schemas.openxmlformats.org/drawingml/2006/main" cx="11163300" cy="30575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5048250"/>
                <a:gridCol w="4019550"/>
              </a:tblGrid>
              <a:tr h="61150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67F7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단계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CE2E6"/>
                      </a:solidFill>
                      <a:prstDash val="solid"/>
                    </a:lnL>
                    <a:lnR w="9525">
                      <a:solidFill>
                        <a:srgbClr val="DCE2E6"/>
                      </a:solidFill>
                      <a:prstDash val="solid"/>
                    </a:lnR>
                    <a:lnT w="9525">
                      <a:solidFill>
                        <a:srgbClr val="DCE2E6"/>
                      </a:solidFill>
                      <a:prstDash val="solid"/>
                    </a:lnT>
                    <a:lnB w="9525">
                      <a:solidFill>
                        <a:srgbClr val="DCE2E6"/>
                      </a:solidFill>
                      <a:prstDash val="solid"/>
                    </a:lnB>
                    <a:solidFill>
                      <a:srgbClr val="E5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67F7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수행 내용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2E6"/>
                      </a:solidFill>
                      <a:prstDash val="solid"/>
                    </a:lnR>
                    <a:lnT w="9525">
                      <a:solidFill>
                        <a:srgbClr val="DCE2E6"/>
                      </a:solidFill>
                      <a:prstDash val="solid"/>
                    </a:lnT>
                    <a:lnB w="9525">
                      <a:solidFill>
                        <a:srgbClr val="DCE2E6"/>
                      </a:solidFill>
                      <a:prstDash val="solid"/>
                    </a:lnB>
                    <a:solidFill>
                      <a:srgbClr val="E5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67F7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완료 확인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2E6"/>
                      </a:solidFill>
                      <a:prstDash val="solid"/>
                    </a:lnR>
                    <a:lnT w="9525">
                      <a:solidFill>
                        <a:srgbClr val="DCE2E6"/>
                      </a:solidFill>
                      <a:prstDash val="solid"/>
                    </a:lnT>
                    <a:lnB w="9525">
                      <a:solidFill>
                        <a:srgbClr val="DCE2E6"/>
                      </a:solidFill>
                      <a:prstDash val="solid"/>
                    </a:lnB>
                    <a:solidFill>
                      <a:srgbClr val="E5F1F1"/>
                    </a:solidFill>
                  </a:tcPr>
                </a:tc>
              </a:tr>
              <a:tr h="611505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24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연결 구성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CE2E6"/>
                      </a:solidFill>
                      <a:prstDash val="solid"/>
                    </a:lnL>
                    <a:lnR w="9525">
                      <a:solidFill>
                        <a:srgbClr val="DCE2E6"/>
                      </a:solidFill>
                      <a:prstDash val="solid"/>
                    </a:lnR>
                    <a:lnB w="9525">
                      <a:solidFill>
                        <a:srgbClr val="DC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24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앱별 API와 필요한 정보 제공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2E6"/>
                      </a:solidFill>
                      <a:prstDash val="solid"/>
                    </a:lnR>
                    <a:lnB w="9525">
                      <a:solidFill>
                        <a:srgbClr val="DC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24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정상 호출·권한 범위 확인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2E6"/>
                      </a:solidFill>
                      <a:prstDash val="solid"/>
                    </a:lnR>
                    <a:lnB w="9525">
                      <a:solidFill>
                        <a:srgbClr val="DC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1505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24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 연결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CE2E6"/>
                      </a:solidFill>
                      <a:prstDash val="solid"/>
                    </a:lnL>
                    <a:lnR w="9525">
                      <a:solidFill>
                        <a:srgbClr val="DCE2E6"/>
                      </a:solidFill>
                      <a:prstDash val="solid"/>
                    </a:lnR>
                    <a:lnB w="9525">
                      <a:solidFill>
                        <a:srgbClr val="DC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24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입력·승인·통제·이력 저장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2E6"/>
                      </a:solidFill>
                      <a:prstDash val="solid"/>
                    </a:lnR>
                    <a:lnB w="9525">
                      <a:solidFill>
                        <a:srgbClr val="DC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24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승인 결과와 원본 일치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2E6"/>
                      </a:solidFill>
                      <a:prstDash val="solid"/>
                    </a:lnR>
                    <a:lnB w="9525">
                      <a:solidFill>
                        <a:srgbClr val="DC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1505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24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증거 확보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CE2E6"/>
                      </a:solidFill>
                      <a:prstDash val="solid"/>
                    </a:lnL>
                    <a:lnR w="9525">
                      <a:solidFill>
                        <a:srgbClr val="DCE2E6"/>
                      </a:solidFill>
                      <a:prstDash val="solid"/>
                    </a:lnR>
                    <a:lnB w="9525">
                      <a:solidFill>
                        <a:srgbClr val="DC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24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API·차단·이력·파일 내보내기 시연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2E6"/>
                      </a:solidFill>
                      <a:prstDash val="solid"/>
                    </a:lnR>
                    <a:lnB w="9525">
                      <a:solidFill>
                        <a:srgbClr val="DC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24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화면·원본·파일 대조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2E6"/>
                      </a:solidFill>
                      <a:prstDash val="solid"/>
                    </a:lnR>
                    <a:lnB w="9525">
                      <a:solidFill>
                        <a:srgbClr val="DC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1505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24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적용 범위 확정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CE2E6"/>
                      </a:solidFill>
                      <a:prstDash val="solid"/>
                    </a:lnL>
                    <a:lnR w="9525">
                      <a:solidFill>
                        <a:srgbClr val="DCE2E6"/>
                      </a:solidFill>
                      <a:prstDash val="solid"/>
                    </a:lnR>
                    <a:lnB w="9525">
                      <a:solidFill>
                        <a:srgbClr val="DC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24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고객 경로·보관 주기·파일 전달 확인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2E6"/>
                      </a:solidFill>
                      <a:prstDash val="solid"/>
                    </a:lnR>
                    <a:lnB w="9525">
                      <a:solidFill>
                        <a:srgbClr val="DC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242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검증된 범위 기준 적용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2E6"/>
                      </a:solidFill>
                      <a:prstDash val="solid"/>
                    </a:lnR>
                    <a:lnB w="9525">
                      <a:solidFill>
                        <a:srgbClr val="DCE2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C8D228-A7C5-4009-846F-0D02DA6A5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91175"/>
            <a:ext cx="2476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1B9DA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B9DA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B9DA2"/>
                </a:solidFill>
                <a:latin typeface="Malgun Gothic"/>
                <a:ea typeface="Malgun Gothic"/>
                <a:cs typeface="Malgun Gothic"/>
              </a:rPr>
              <a:t>기존 개발 검증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DC53EA-340C-4A37-9D8A-E915D84CB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60070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20242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0242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02427"/>
                </a:solidFill>
                <a:latin typeface="Malgun Gothic"/>
                <a:ea typeface="Malgun Gothic"/>
                <a:cs typeface="Malgun Gothic"/>
              </a:rPr>
              <a:t>선택 자동 테스트 151개 및 번들 로드 검증 통과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98E106-0997-4472-B3FE-85A99EA16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67425"/>
            <a:ext cx="11163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B737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B7379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B7379"/>
                </a:solidFill>
                <a:latin typeface="Malgun Gothic"/>
                <a:ea typeface="Malgun Gothic"/>
                <a:cs typeface="Malgun Gothic"/>
              </a:rPr>
              <a:t>2026-10-15 기존 로직 검증 결과입니다. 신규 API 호출 및 고객 환경 수정 차단의 실증 결과는 별도로 작성합니다.</a:t>
            </a:r>
          </a:p>
        </p:txBody>
      </p:sp>
    </p:spTree>
    <p:extLst>
      <p:ext uri="{BB962C8B-B14F-4D97-AF65-F5344CB8AC3E}">
        <p14:creationId xmlns:p14="http://schemas.microsoft.com/office/powerpoint/2010/main" val="4089765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algun Gothic"/>
        <a:ea typeface=""/>
        <a:cs typeface=""/>
      </a:majorFont>
      <a:minorFont>
        <a:latin typeface="Malgun Gothi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2026-10-16T04:32:58.5220000Z</dcterms:created>
  <dcterms:modified xsi:type="dcterms:W3CDTF">2026-10-16T04:32:58.5220000Z</dcterms:modified>
</coreProperties>
</file>