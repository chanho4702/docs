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378538f1bb4251" /><Relationship Type="http://schemas.openxmlformats.org/officeDocument/2006/relationships/extended-properties" Target="/docProps/app.xml" Id="Rd67a66db026b437e" /><Relationship Type="http://schemas.openxmlformats.org/officeDocument/2006/relationships/officeDocument" Target="/ppt/presentation.xml" Id="R5a22181d22f3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5b71fe07964a96"/>
  </p:sldMasterIdLst>
  <p:notesMasterIdLst>
    <p:notesMasterId xmlns:r="http://schemas.openxmlformats.org/officeDocument/2006/relationships" r:id="R81de8a9eb3a14b91"/>
  </p:notesMasterIdLst>
  <p:sldIdLst>
    <p:sldId xmlns:r="http://schemas.openxmlformats.org/officeDocument/2006/relationships" id="256" r:id="R0be0307b62714e87"/>
    <p:sldId xmlns:r="http://schemas.openxmlformats.org/officeDocument/2006/relationships" id="257" r:id="R62383e4f11fd4b24"/>
    <p:sldId xmlns:r="http://schemas.openxmlformats.org/officeDocument/2006/relationships" id="258" r:id="R5a1bff182668427a"/>
    <p:sldId xmlns:r="http://schemas.openxmlformats.org/officeDocument/2006/relationships" id="259" r:id="R617df88a05fd4af0"/>
    <p:sldId xmlns:r="http://schemas.openxmlformats.org/officeDocument/2006/relationships" id="260" r:id="R317f79d9afb34178"/>
    <p:sldId xmlns:r="http://schemas.openxmlformats.org/officeDocument/2006/relationships" id="261" r:id="Reef4a4fbaabe43d1"/>
    <p:sldId xmlns:r="http://schemas.openxmlformats.org/officeDocument/2006/relationships" id="262" r:id="R1a004528363245ed"/>
    <p:sldId xmlns:r="http://schemas.openxmlformats.org/officeDocument/2006/relationships" id="263" r:id="R41a33c6b280e4bee"/>
    <p:sldId xmlns:r="http://schemas.openxmlformats.org/officeDocument/2006/relationships" id="264" r:id="Rf0a3d57c7ff54073"/>
    <p:sldId xmlns:r="http://schemas.openxmlformats.org/officeDocument/2006/relationships" id="265" r:id="Rf118661122d14d1f"/>
    <p:sldId xmlns:r="http://schemas.openxmlformats.org/officeDocument/2006/relationships" id="266" r:id="R98b01208d6b843eb"/>
    <p:sldId xmlns:r="http://schemas.openxmlformats.org/officeDocument/2006/relationships" id="267" r:id="R355f000e378f498d"/>
    <p:sldId xmlns:r="http://schemas.openxmlformats.org/officeDocument/2006/relationships" id="268" r:id="R270f43b6920d40da"/>
    <p:sldId xmlns:r="http://schemas.openxmlformats.org/officeDocument/2006/relationships" id="269" r:id="Rc186536917ac42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14b07071e46b7" /><Relationship Type="http://schemas.openxmlformats.org/officeDocument/2006/relationships/slideMaster" Target="/ppt/slideMasters/slideMaster1.xml" Id="R9f5b71fe07964a96" /><Relationship Type="http://schemas.openxmlformats.org/officeDocument/2006/relationships/notesMaster" Target="/ppt/notesMasters/notesMaster1.xml" Id="R81de8a9eb3a14b91" /><Relationship Type="http://schemas.openxmlformats.org/officeDocument/2006/relationships/presProps" Target="/ppt/presProps.xml" Id="R76b780e14c6f4c05" /><Relationship Type="http://schemas.openxmlformats.org/officeDocument/2006/relationships/tableStyles" Target="/ppt/tableStyles.xml" Id="R9ca74768c8d84b2a" /><Relationship Type="http://schemas.openxmlformats.org/officeDocument/2006/relationships/slide" Target="/ppt/slides/slide1.xml" Id="R0be0307b62714e87" /><Relationship Type="http://schemas.openxmlformats.org/officeDocument/2006/relationships/slide" Target="/ppt/slides/slide2.xml" Id="R62383e4f11fd4b24" /><Relationship Type="http://schemas.openxmlformats.org/officeDocument/2006/relationships/slide" Target="/ppt/slides/slide3.xml" Id="R5a1bff182668427a" /><Relationship Type="http://schemas.openxmlformats.org/officeDocument/2006/relationships/slide" Target="/ppt/slides/slide4.xml" Id="R617df88a05fd4af0" /><Relationship Type="http://schemas.openxmlformats.org/officeDocument/2006/relationships/slide" Target="/ppt/slides/slide5.xml" Id="R317f79d9afb34178" /><Relationship Type="http://schemas.openxmlformats.org/officeDocument/2006/relationships/slide" Target="/ppt/slides/slide6.xml" Id="Reef4a4fbaabe43d1" /><Relationship Type="http://schemas.openxmlformats.org/officeDocument/2006/relationships/slide" Target="/ppt/slides/slide7.xml" Id="R1a004528363245ed" /><Relationship Type="http://schemas.openxmlformats.org/officeDocument/2006/relationships/slide" Target="/ppt/slides/slide8.xml" Id="R41a33c6b280e4bee" /><Relationship Type="http://schemas.openxmlformats.org/officeDocument/2006/relationships/slide" Target="/ppt/slides/slide9.xml" Id="Rf0a3d57c7ff54073" /><Relationship Type="http://schemas.openxmlformats.org/officeDocument/2006/relationships/slide" Target="/ppt/slides/slide10.xml" Id="Rf118661122d14d1f" /><Relationship Type="http://schemas.openxmlformats.org/officeDocument/2006/relationships/slide" Target="/ppt/slides/slide11.xml" Id="R98b01208d6b843eb" /><Relationship Type="http://schemas.openxmlformats.org/officeDocument/2006/relationships/slide" Target="/ppt/slides/slide12.xml" Id="R355f000e378f498d" /><Relationship Type="http://schemas.openxmlformats.org/officeDocument/2006/relationships/slide" Target="/ppt/slides/slide13.xml" Id="R270f43b6920d40da" /><Relationship Type="http://schemas.openxmlformats.org/officeDocument/2006/relationships/slide" Target="/ppt/slides/slide14.xml" Id="Rc186536917ac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445c64510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KR"/>
        <a:ea typeface=""/>
        <a:cs typeface=""/>
      </a:majorFont>
      <a:minorFont>
        <a:latin typeface="Noto Sans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ed8d30e5142c1" /><Relationship Type="http://schemas.openxmlformats.org/officeDocument/2006/relationships/notesMaster" Target="/ppt/notesMasters/notesMaster1.xml" Id="Ra2efb73e645b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cbe789f094c92" /><Relationship Type="http://schemas.openxmlformats.org/officeDocument/2006/relationships/notesMaster" Target="/ppt/notesMasters/notesMaster1.xml" Id="R264d6ff953564a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30421eb9d432f" /><Relationship Type="http://schemas.openxmlformats.org/officeDocument/2006/relationships/notesMaster" Target="/ppt/notesMasters/notesMaster1.xml" Id="R3205ea3a8e0146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844f4d6ba542a9" /><Relationship Type="http://schemas.openxmlformats.org/officeDocument/2006/relationships/notesMaster" Target="/ppt/notesMasters/notesMaster1.xml" Id="Rc75329f36f4543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4f86b3361490d" /><Relationship Type="http://schemas.openxmlformats.org/officeDocument/2006/relationships/notesMaster" Target="/ppt/notesMasters/notesMaster1.xml" Id="R46e688b097e44a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804ffe73374111" /><Relationship Type="http://schemas.openxmlformats.org/officeDocument/2006/relationships/notesMaster" Target="/ppt/notesMasters/notesMaster1.xml" Id="Rac9457235f544b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71d394ccfe431a" /><Relationship Type="http://schemas.openxmlformats.org/officeDocument/2006/relationships/notesMaster" Target="/ppt/notesMasters/notesMaster1.xml" Id="R8dcd95e85e61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772f999d2a4847" /><Relationship Type="http://schemas.openxmlformats.org/officeDocument/2006/relationships/notesMaster" Target="/ppt/notesMasters/notesMaster1.xml" Id="R9eb3a355ca7142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1a4c69a84467b" /><Relationship Type="http://schemas.openxmlformats.org/officeDocument/2006/relationships/notesMaster" Target="/ppt/notesMasters/notesMaster1.xml" Id="Rafd20e91faf640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3d046673c549ca" /><Relationship Type="http://schemas.openxmlformats.org/officeDocument/2006/relationships/notesMaster" Target="/ppt/notesMasters/notesMaster1.xml" Id="R95b76c7521234d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8f9b12c0e14539" /><Relationship Type="http://schemas.openxmlformats.org/officeDocument/2006/relationships/notesMaster" Target="/ppt/notesMasters/notesMaster1.xml" Id="Rb5734d04774349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e9681c15014077" /><Relationship Type="http://schemas.openxmlformats.org/officeDocument/2006/relationships/notesMaster" Target="/ppt/notesMasters/notesMaster1.xml" Id="Rb2de1b11d66946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341016bd3a4ad2" /><Relationship Type="http://schemas.openxmlformats.org/officeDocument/2006/relationships/notesMaster" Target="/ppt/notesMasters/notesMaster1.xml" Id="R40542e5c11b94f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a8f73664a347d6" /><Relationship Type="http://schemas.openxmlformats.org/officeDocument/2006/relationships/notesMaster" Target="/ppt/notesMasters/notesMaster1.xml" Id="R1a53021b083c43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디자인 참조용 PDF의 로고와 원형 장식 사용. 기능 검증은 후속 증거 작성 전 단계.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Forge SQL 및 KVS/Custom Entity 사용. 앱별 저장소는 분리. 앱 상호 API는 제안 구조이며 현재 제공 완료 주장이 아님. https://developer.atlassian.com/platform/forge/app-rest-apis/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플랫폼 근거: https://developer.atlassian.com/platform/forge/app-rest-apis/ . API 실제 호출 성공 결과는 미기입. 연결 설치, scope 및 호출자 권한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앱 통제와 Jira visibility 제한을 구분. 일반 작성자·관리자·Automation은 별도 시험. 단순 오류 응답은 차단 증거가 아니며 원본 유지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요청: 워크로그 업데이트·승인 이력을 Forge Storage에 저장, 설명 부분 지원. 이력 원장은 Forge SQL을 사용. 확인되지 않은 행위자는 추정하지 않음. 설명 전체 원문 및 과거 모든 버전 복원을 보장하지 않음. 부분 보존 범위는 고객과 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제안 추가 개발 범위: 정기 이력 파일 생성과 고객 보관 연계. 현재 정기 자동 내보내기가 구현·검증 완료라는 의미는 아님. 파일 생성만으로 Forge 공간이 회수되는 것은 아니며 확정된 보관 정책에 따른 정리 대상만 처리. 실패·누락·전달 미확인 시 원본을 보존. 설명 부분 보존의 한계는 파일에도 동일 적용.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기존 테스트 6 suites / 151 passed, check:bundle passed. 원본: evidence/approval-jest-results.json 및 approval-bundle-console.log. 모의 테스트는 실사이트 차단 증거가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9ef7dca3943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13e001d024b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cc463cdc146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3913294de45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67b25be5c4d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4e0b162174b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1C4669-E953-4754-9C4D-02F9681AFA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553564-FF01-4FED-8586-82640D5C24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AC085A-E8A8-4871-988F-AAABA7FE6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1DE702-260E-421C-8D1C-FAAADA9B6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4DE241-D96A-4A1B-B604-9B4FE7F961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1F4B83-D54E-4AA4-BC12-1704E0965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83316F-FFB1-4734-B13D-B2DA5FCE2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74BBEF-45BC-4BEC-BCB1-90FC5879C4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298C9-2921-4CCF-80B1-8F3464AD4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77FADC-D8FE-4B30-9590-0CC17FEB08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22a5eb76fc4ee3" /><Relationship Type="http://schemas.openxmlformats.org/officeDocument/2006/relationships/slideLayout" Target="/ppt/slideLayouts/slideLayout1.xml" Id="R97213e9515f34ef4" /><Relationship Type="http://schemas.openxmlformats.org/officeDocument/2006/relationships/slideLayout" Target="/ppt/slideLayouts/slideLayout2.xml" Id="Re9595d90e14f49e0" /><Relationship Type="http://schemas.openxmlformats.org/officeDocument/2006/relationships/slideLayout" Target="/ppt/slideLayouts/slideLayout3.xml" Id="R4b8a32d51e324057" /><Relationship Type="http://schemas.openxmlformats.org/officeDocument/2006/relationships/slideLayout" Target="/ppt/slideLayouts/slideLayout4.xml" Id="Rb01a65d1b8034175" /><Relationship Type="http://schemas.openxmlformats.org/officeDocument/2006/relationships/slideLayout" Target="/ppt/slideLayouts/slideLayout5.xml" Id="R6b7d7a88c2f24ccd" /><Relationship Type="http://schemas.openxmlformats.org/officeDocument/2006/relationships/slideLayout" Target="/ppt/slideLayouts/slideLayout6.xml" Id="R1e7260d7350f4d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213e9515f34ef4"/>
    <p:sldLayoutId xmlns:r="http://schemas.openxmlformats.org/officeDocument/2006/relationships" id="2147483650" r:id="Re9595d90e14f49e0"/>
    <p:sldLayoutId xmlns:r="http://schemas.openxmlformats.org/officeDocument/2006/relationships" id="2147483651" r:id="R4b8a32d51e324057"/>
    <p:sldLayoutId xmlns:r="http://schemas.openxmlformats.org/officeDocument/2006/relationships" id="2147483652" r:id="Rb01a65d1b8034175"/>
    <p:sldLayoutId xmlns:r="http://schemas.openxmlformats.org/officeDocument/2006/relationships" id="2147483653" r:id="R6b7d7a88c2f24ccd"/>
    <p:sldLayoutId xmlns:r="http://schemas.openxmlformats.org/officeDocument/2006/relationships" id="2147483654" r:id="R1e7260d7350f4d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KR"/>
        <a:ea typeface=""/>
        <a:cs typeface=""/>
      </a:majorFont>
      <a:minorFont>
        <a:latin typeface="Noto Sans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7e3f3473e4be4" /><Relationship Type="http://schemas.openxmlformats.org/officeDocument/2006/relationships/image" Target="/ppt/media/image.png" Id="R7e6c01b0044247bb" /><Relationship Type="http://schemas.openxmlformats.org/officeDocument/2006/relationships/image" Target="/ppt/media/image2.png" Id="Raf600de5ef354b67" /><Relationship Type="http://schemas.openxmlformats.org/officeDocument/2006/relationships/notesSlide" Target="/ppt/notesSlides/notesSlide1.xml" Id="Ra017f00d6df54d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ec045d564451f" /><Relationship Type="http://schemas.openxmlformats.org/officeDocument/2006/relationships/image" Target="/ppt/media/image3.png" Id="R98cd2b04490c4cbf" /><Relationship Type="http://schemas.openxmlformats.org/officeDocument/2006/relationships/notesSlide" Target="/ppt/notesSlides/notesSlide2.xml" Id="R0ab98c37afca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c0a87511f4688" /><Relationship Type="http://schemas.openxmlformats.org/officeDocument/2006/relationships/image" Target="/ppt/media/image4.png" Id="Rf7df7abd02e74779" /><Relationship Type="http://schemas.openxmlformats.org/officeDocument/2006/relationships/notesSlide" Target="/ppt/notesSlides/notesSlide3.xml" Id="Rc54a3eaf08dc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990e8ae794041" /><Relationship Type="http://schemas.openxmlformats.org/officeDocument/2006/relationships/image" Target="/ppt/media/image5.png" Id="Rc3ffa0b0be854d47" /><Relationship Type="http://schemas.openxmlformats.org/officeDocument/2006/relationships/notesSlide" Target="/ppt/notesSlides/notesSlide4.xml" Id="Rbb8f1eac30c2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f5ce803ad4954" /><Relationship Type="http://schemas.openxmlformats.org/officeDocument/2006/relationships/image" Target="/ppt/media/image6.png" Id="R5d52dd511bbf4214" /><Relationship Type="http://schemas.openxmlformats.org/officeDocument/2006/relationships/notesSlide" Target="/ppt/notesSlides/notesSlide5.xml" Id="R1329a0e8473443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db4aebe854bfe" /><Relationship Type="http://schemas.openxmlformats.org/officeDocument/2006/relationships/image" Target="/ppt/media/image7.png" Id="R7cde8ba07ea64b29" /><Relationship Type="http://schemas.openxmlformats.org/officeDocument/2006/relationships/notesSlide" Target="/ppt/notesSlides/notesSlide6.xml" Id="Ra9d6b53e3e684d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0683cedc74aa0" /><Relationship Type="http://schemas.openxmlformats.org/officeDocument/2006/relationships/image" Target="/ppt/media/image8.png" Id="Rd4eb1d6e7eec4494" /><Relationship Type="http://schemas.openxmlformats.org/officeDocument/2006/relationships/notesSlide" Target="/ppt/notesSlides/notesSlide7.xml" Id="Rca048c7d6e2447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6d831b11d4a20" /><Relationship Type="http://schemas.openxmlformats.org/officeDocument/2006/relationships/image" Target="/ppt/media/image9.png" Id="R183b91f807b646a9" /><Relationship Type="http://schemas.openxmlformats.org/officeDocument/2006/relationships/notesSlide" Target="/ppt/notesSlides/notesSlide8.xml" Id="Ra10b6a109872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a35358e2c446a" /><Relationship Type="http://schemas.openxmlformats.org/officeDocument/2006/relationships/image" Target="/ppt/media/image10.png" Id="Ra5e8a9a851804807" /><Relationship Type="http://schemas.openxmlformats.org/officeDocument/2006/relationships/notesSlide" Target="/ppt/notesSlides/notesSlide9.xml" Id="R2ac5c4287e9449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c54b4ba694bf5" /><Relationship Type="http://schemas.openxmlformats.org/officeDocument/2006/relationships/image" Target="/ppt/media/image11.png" Id="R2c48247fd046434e" /><Relationship Type="http://schemas.openxmlformats.org/officeDocument/2006/relationships/notesSlide" Target="/ppt/notesSlides/notesSlide10.xml" Id="R635e1ce53f1048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d30ec0e7640a8" /><Relationship Type="http://schemas.openxmlformats.org/officeDocument/2006/relationships/image" Target="/ppt/media/image12.png" Id="R62e4bf744f5f449a" /><Relationship Type="http://schemas.openxmlformats.org/officeDocument/2006/relationships/notesSlide" Target="/ppt/notesSlides/notesSlide11.xml" Id="Rd0e8134aaf194c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0eb2539e245ae" /><Relationship Type="http://schemas.openxmlformats.org/officeDocument/2006/relationships/image" Target="/ppt/media/image13.png" Id="Raaef19b31daf4f34" /><Relationship Type="http://schemas.openxmlformats.org/officeDocument/2006/relationships/notesSlide" Target="/ppt/notesSlides/notesSlide12.xml" Id="Ra7460f95560e41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485a544b34cf7" /><Relationship Type="http://schemas.openxmlformats.org/officeDocument/2006/relationships/image" Target="/ppt/media/image14.png" Id="Re3ab6c5974ee4581" /><Relationship Type="http://schemas.openxmlformats.org/officeDocument/2006/relationships/notesSlide" Target="/ppt/notesSlides/notesSlide13.xml" Id="Rd9e9a7a4afec44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730ea684a4fa3" /><Relationship Type="http://schemas.openxmlformats.org/officeDocument/2006/relationships/image" Target="/ppt/media/image15.png" Id="Rd6238c54449f4f04" /><Relationship Type="http://schemas.openxmlformats.org/officeDocument/2006/relationships/notesSlide" Target="/ppt/notesSlides/notesSlide14.xml" Id="Rde94cfa51759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F99A1-96BE-4010-B989-6EA86D560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c01b0044247bb"/>
          <a:stretch xmlns:a="http://schemas.openxmlformats.org/drawingml/2006/main"/>
        </p:blipFill>
        <p:spPr>
          <a:xfrm xmlns:a="http://schemas.openxmlformats.org/drawingml/2006/main">
            <a:off x="7962900" y="1610"/>
            <a:ext cx="4229100" cy="42639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70738-0E97-4750-9A97-3E6F020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디무브  기술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5E974-1CD0-42FC-9955-45E7B1F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A4ACA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A4ACA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A4ACAF"/>
                </a:solidFill>
                <a:latin typeface="Noto Sans KR"/>
                <a:ea typeface="Noto Sans KR"/>
                <a:cs typeface="Noto Sans KR"/>
              </a:rPr>
              <a:t>Moves Workforce / Moves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9140F-73CA-451B-A0A4-8ED11F59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스트라드비전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워크로그 승인 및 통제 방안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3B68-43CC-41C1-A028-098412C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solidFill>
              <a:srgbClr val="258D9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3FAE7-9F11-454C-9AE6-8C1C5DA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B0B6B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0B6B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0B6BA"/>
                </a:solidFill>
                <a:latin typeface="Noto Sans KR"/>
                <a:ea typeface="Noto Sans KR"/>
                <a:cs typeface="Noto Sans KR"/>
              </a:rPr>
              <a:t>Atlassian Forge 기반 두 앱 연동과 외부 API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FDDF8-C211-4C99-94CF-AA168F5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9DA6A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DA6A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DA6AB"/>
                </a:solidFill>
                <a:latin typeface="Noto Sans KR"/>
                <a:ea typeface="Noto Sans KR"/>
                <a:cs typeface="Noto Sans KR"/>
              </a:rPr>
              <a:t>2026.10.16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4C65-C870-4392-8E23-664F35B1A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00de5ef354b67"/>
          <a:stretch xmlns:a="http://schemas.openxmlformats.org/drawingml/2006/main"/>
        </p:blipFill>
        <p:spPr>
          <a:xfrm xmlns:a="http://schemas.openxmlformats.org/drawingml/2006/main">
            <a:off x="10429875" y="6107906"/>
            <a:ext cx="1247775" cy="3000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4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2E717-C9B6-4752-8B74-20782C00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93CBA-61ED-4132-828D-B897AD8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제안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00E7E-A014-405E-BDE5-CE1A347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DCDAC-05DD-4540-8239-CABD82A8C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d2b04490c4cbf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D4C5B-096B-4FC9-8548-072B945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803E7-7C2E-4835-999A-556DD84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145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0F204-992E-4B18-A09C-2DD5CC06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두 앱의 역할 분담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44038-F992-4C65-9115-4D0E518E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Workforce는 조직·입력·보고를, Approval은 승인·마감·통제를 담당합니다.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D5366-AF55-43E6-9BFB-036F2D95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41E6F-D889-461B-AEED-B7B818F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21E59-B4F5-4BC9-BA89-DA0E271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242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외부 REST API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490E4-D8A2-4547-9BD0-40E554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앱 간 연동과 외부 시스템에 필요한 정보를 인증된 API로 제공하도록 개발합니다.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B55D8-EFD4-4149-8C5B-A9A55720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7B305-DBF0-4780-A6D8-8B3CA15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CA362-E954-487F-8416-DFB29B3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815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승인 기록 보호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D481E-CA4E-47D9-81CE-D996C86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승인·마감된 워크로그의 수정·삭제를 제한하고 변경 이력을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1774707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FD3BD-6B4B-4AC0-8585-513EBF7E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85039-5FE0-4970-BC5B-BAFB91E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Atlassian Forge 기반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397E-600C-46AF-A4EA-699F77C6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B1924-2ABE-44B5-95A9-731839F9F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f7abd02e74779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5ABD6-4A77-4027-A287-A46B60A7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44D62-7CC1-47B4-8302-1EAF39C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11633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CC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81983-A2BE-40FB-BCCD-D050E0C8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Atlassian Cloud · Forge 관리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0528-AA5F-4E77-B459-C81AD4C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Moves Workforce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조직 · 프로젝트 · 입력 ·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5962-CE9A-48A2-B661-3429694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14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Moves Approval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승인 · 마감 · 통제 · 이력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892B4-4338-4A0C-ACD9-1AC6054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76588"/>
            <a:ext cx="23431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8EE84-121A-43EB-A126-101A3970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인증된 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628F6-0C5B-4FF7-9B5F-E9361AA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Workforce DB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사용자 · 팀 · 프로젝트 · 참여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5BB48-6071-4506-B37D-A03B47C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100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Approval DB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승인 결정 · 잠금 · 승인 당시 값 · 이력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521DA-2E37-4323-8226-93F892FC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14750"/>
            <a:ext cx="762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65F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6980B-5BDA-4915-8485-B1B710E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762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7B7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DCA72-6CD9-4832-95C4-0B77C3C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6717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Jira REST API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작업 기록 원본 조회·저장·통제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23C74-6EA5-43E1-A10D-1EE4D5D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외부 시스템 / SAP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C06F1-721E-42A4-A54F-24F0225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62625"/>
            <a:ext cx="823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인증된 HTTPS API로 필요한 정보 제공 · 별도 연결 범위로 개발</a:t>
            </a:r>
          </a:p>
        </p:txBody>
      </p:sp>
    </p:spTree>
    <p:extLst>
      <p:ext uri="{BB962C8B-B14F-4D97-AF65-F5344CB8AC3E}">
        <p14:creationId xmlns:p14="http://schemas.microsoft.com/office/powerpoint/2010/main" val="1041724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3434-E178-4C2D-ACE0-D2E46980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1E69E-2E75-4FAB-B050-0338FD69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DB에 보관하는 정보와 앱별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E3086-2B88-4A63-A553-2520CA5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9FEA-08F4-4FF8-B2CA-0A2AB2B2C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fa0b0be854d47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57273-1755-48BC-810F-50EF157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2B264-D045-41B8-8DFE-A01F6B52E39A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11163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33875"/>
                <a:gridCol w="4448175"/>
              </a:tblGrid>
              <a:tr h="80962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보관하는 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제공하는 기능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80962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Workforce DB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조직·팀장·프로젝트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참여·입력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입력과 현황 관리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결과 표시·보고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Approval DB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요청·결정·잠금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당시 시간·변경 이력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팀장 승인·반려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가능 여부 판정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0962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Jira 원본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이슈·작성자·작업일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기록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허용된 작업 기록 저장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양쪽 앱의 원본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5F740-2825-464C-B5FB-E4D9B70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43575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상대 앱 DB에 직접 접근하지 않고, 필요한 업무 정보만 API로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566820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F605C-9DA1-4F84-B0AC-AB2CE8BB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146C1-8C22-4AD9-A1DB-9B68E2F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두 앱이 주고받는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195CC-4ECA-4173-9117-E4618098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94574-F252-485D-8477-70757F514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2dd511bbf4214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12D01-B0E4-4530-B8FD-142B85A9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1EE28-E264-4FAE-8158-01E498FE9B71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111633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191000"/>
                <a:gridCol w="4162425"/>
              </a:tblGrid>
              <a:tr h="984250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 방향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 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수신 앱에서의 활용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984250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Workforce → Approval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소속 팀·팀장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 참여·입력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승인자와 대상 범위 확인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요청 접수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Approval → Workforce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상태·인정 시간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잠금·마감·변경 가능 여부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표시·승인 기준 집계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차단 및 사유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7DABD-902C-4C94-9C16-43369F9D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작성자는 본인 기록을, 팀장은 담당 팀의 승인 대상을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8E546-E59F-4C65-91A3-999CDBA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급여·단가 등 승인에 불필요한 정보는 연동 응답에서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50056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9B585-3B76-4351-990A-4F7BCD1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314B1-5E59-4F6D-895C-5296A535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사용자 이용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9A963-C274-4BFD-885E-F5CE20E9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5BB9A-A11A-403A-B09F-860C92772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8ba07ea64b29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368F8-C372-40A2-91D3-66C17D9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C88BC-78B2-4729-A8A6-E9F1FE1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0E33E-E33F-4673-8D8C-2D8448E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작업 기록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56F43-07BF-4C5D-8A11-B9B589B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19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6972-9FFA-4976-8402-969DFAD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팀장 승인·반려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CAB98-2E61-46C4-A895-38696B0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CA7EB-E33D-45E2-96D9-C13F669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승인 기록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E153-9F5B-4AD4-8C87-274E4F5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19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26403-4B41-4E42-83DE-6CA82BB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보고·집계 반영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7CF0A-8C64-4E9F-9D4A-9698A9F8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71900"/>
            <a:ext cx="228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685AF-2028-46D8-BA03-7052BC5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71900"/>
            <a:ext cx="228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DBEF6-BB23-4378-8FB9-48551D5C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71900"/>
            <a:ext cx="228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CCB36-CB3A-4103-8141-0E23190E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11163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Workforce에서 입력하고, Approval에서 결정하며, 결과를 다시 Workforce에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77838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DC0B7-7493-4E9B-B6CA-9A29E0E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핵심 제공 기능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993C6-D00D-4851-8F68-DD46D4D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외부 연결 가능한 REST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62966-3739-4189-BFFE-4EF39EBD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1260D-C048-45D0-AA5C-FF9E07CA4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b1d6e7eec4494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6E3F-F656-456E-A01F-B1FF0C1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6316-2E25-426A-BF2D-5361411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4648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외부 시스템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고객 연계 도구 / SAP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2527B-AB19-4F67-B5C3-3C324B7E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4648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인증된 HTTPS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Forge app REST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CDCD-4843-4EE6-9185-173B5D7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479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앱 업무 기능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조직 / 승인 /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DE660-F60B-4C66-860B-271EC338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7513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BF5F5-DF5B-4D1B-8E36-D32B51A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7513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D4C8F-7D73-471F-B231-A659B18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제공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813EC-51AD-414A-8C23-82BD4EE4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조직·프로젝트 참여 정보, 승인 상태, 승인 인정 시간, 변경 가능 여부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6D98B-10E5-41F8-8A78-59AC0C85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연결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8C7EC-C5F7-4403-A0E9-CB7604C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사이트에서 활성화한 API와 허용 범위 안에서 인증된 요청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00D93-E784-407F-BB0B-ADC97037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Forge app REST API는 Preview입니다. OAuth 2.0 연결과 양방향 호출은 통합 시험으로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52817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DDCE6-2733-4A96-BED9-F16FEE12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기능 검증 · 증거 작성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84C44-51A6-40D8-9FDF-B100D13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외부 API 제공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803DC-19E6-47D6-99AF-50CD90BA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2E52E-6D46-4964-B406-24063F9F2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b91f807b646a9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8847D-FFD3-4F32-92B1-B251EFD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EF63-D0EB-4077-9135-3BCC07AA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API 호출과 제공 정보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378AB-BED3-4443-9273-3D7E67E6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검증 절차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8E086-57BD-41ED-8672-B300E44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1. 외부 호출 환경 준비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2. 정상 인증으로 API 요청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3. 응답 정보와 원본 대조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4. 권한 없는 요청 거부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BFA8-23A5-42C3-A80D-63BE3DE4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확인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7D9F7-6AE2-438A-8202-AF45B23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정상 요청의 응답 내용 일치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허용 범위 밖 정보 비노출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AC84D-800B-45DF-905A-CAD53FF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요청 · 응답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1E669-2371-469C-96B0-DFDE8A2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D7EC3-49EE-4F04-B112-766CE39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원본 정보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92C73-9C50-414C-842C-3CC079AE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0C6A5-0E96-41DF-A58B-C610649AC3A4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실행일 / 환경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/ 계정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371475"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26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2E41F-0BD4-4189-A1D4-8A56383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핵심 제공 기능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2D786-67BB-4127-9F1D-8AE0E598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승인·마감 후 워크로그 변경 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447D7-78AB-4A90-B96C-52ACF193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C019C-D768-4D94-A931-4C93FD1A7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8a9a851804807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A7F11-EF29-4746-9211-B67BA63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911F-82E3-4ED7-B87B-853EC574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2952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수정·삭제 요청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두 앱의 입력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7B46D-CE3F-4AAA-B89E-DBF80A3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2952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Approval 확인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승인 상태 / 기간 마감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27ED6-25D8-480D-811C-7CD9DD74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66975"/>
            <a:ext cx="2895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B"/>
          </a:solidFill>
          <a:ln xmlns:a="http://schemas.openxmlformats.org/drawingml/2006/main" w="13335">
            <a:solidFill>
              <a:srgbClr val="A34E4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A34E4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A34E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34E49"/>
                </a:solidFill>
                <a:latin typeface="Noto Sans KR"/>
                <a:ea typeface="Noto Sans KR"/>
                <a:cs typeface="Noto Sans KR"/>
              </a:rPr>
              <a:t>변경 차단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A34E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34E49"/>
                </a:solidFill>
                <a:latin typeface="Noto Sans KR"/>
                <a:ea typeface="Noto Sans KR"/>
                <a:cs typeface="Noto Sans KR"/>
              </a:rPr>
              <a:t>기존 기록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427C2-D8CB-41CD-8F03-9244EFC2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7513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82539-F917-40C6-8A9C-FE54D63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7513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15B82-291B-46CC-83FE-11954BB5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앱 입력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4191E-CCC2-4244-B550-37981EB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882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저장 전 현재 승인·마감 상태를 확인하여 수정·삭제를 제한합니다.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792B5-4E8E-4ECD-B195-3A01F15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Jira 직접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11ACB-7446-4FD6-9259-18E8303C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82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워크로그 접근 제한을 적용하고 실제 계정의 REST 요청으로 차단 효과를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E8FF6-B8F7-42D6-BD0E-A6060E28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직접 경로는 계정·권한·호출 경로별 검증 후 범위를 확정합니다. 외부 신규 생성의 전면 사전 차단은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658502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DBB94-E86F-4C7C-A1BA-88CF7C8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기능 검증 · 증거 작성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9008E-07EC-4A41-99B8-287D9725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앱 내 수정·삭제 차단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0EC73-BEB8-437C-9104-EC10A30D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F80F8-F6C0-483E-B56F-F38AFCE83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8247fd046434e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A9DC2-B0BA-494D-BEE8-4DBFD07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BABE-229C-492C-9BF1-F4920DD7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Workforce와 Approval에서 동일 기록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6A006-5B08-472A-B90A-2E03C0F3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검증 절차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6E30E-5567-48AD-B3D3-7B6CC4C7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1. 정상 미승인 기록 편집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2. 대상 기록 승인 또는 마감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3. 두 앱에서 수정·삭제 시도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4. 변경 전후 원본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603D7-80F6-4E80-B28E-BA8E6A6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확인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60BA6-DFB8-418B-A53C-90D4D67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변경 요청 거부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작업일·기록 시간·기록 존재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0F346-B021-4364-AB75-C4496DF0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차단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5ADC5-7F7B-481F-8CA0-38943C15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71822-69C4-46DC-BC3F-F49D542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변경 전후 원본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1F721-8AD4-49CD-B916-B4251C7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F9FC-0267-45A3-B598-DCDA30C5827F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실행일 / 환경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/ 계정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371475"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561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48634-C40A-4328-BC14-39C81FEC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기능 검증 · 증거 작성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FE724-D9C7-4EE1-9ECA-7ECCCF7F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Jira 직접 경로 차단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86435-BEFD-47F0-8848-626EEC8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2B53A-CD7F-4B25-8661-3418A3B04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4bf744f5f449a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AC88C-6B83-46BD-96F0-FF7FE4E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485F-A558-4890-9DEE-A86A018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정상 REST 요청과 원본 유지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50BE4-4A18-4222-80E2-AB051097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검증 절차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3FD15-1322-4F0B-8C9E-63886C5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1. 시험 계정·대상 기록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2. 정상 수정·삭제 요청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3. 응답과 원본 상태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4. 계정·경로별 결과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D1249-EA81-4ADF-A419-E8D8810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확인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E8570-57BA-47CB-855B-07D261B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정상 요청의 거부와 원본 유지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인증 실패·장애는 성공 증거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31D79-B8AA-48D2-A517-871108EC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REST 요청 ·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3B0C-3299-45F9-BD01-B95E07B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C0D64-525D-406C-AD1D-82540CF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원본 유지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9D3D2-9E5F-43BE-9E40-222A349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78C2D-0559-471D-A956-24307D78CDB8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실행일 / 환경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/ 계정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371475"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0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E3A17-5543-4736-8010-B4D21D5D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33A2D-372E-45AE-A790-89E8FCD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Forge Storage 기반 승인·변경 이력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6FB8-F780-4BB3-94FA-6DF96792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A9091-6AF1-4B07-A155-7C8C3C0E7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19b31daf4f34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21884-8F62-4F26-B8AC-735CA4DC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ED7E5-949B-417C-94E2-1DDAB51D0285}"/>
              </a:ext>
            </a:extLst>
          </p:cNvPr>
          <p:cNvGraphicFramePr/>
          <p:nvPr/>
        </p:nvGraphicFramePr>
        <p:xfrm>
          <a:off xmlns:a="http://schemas.openxmlformats.org/drawingml/2006/main" x="514350" y="2181225"/>
          <a:ext xmlns:a="http://schemas.openxmlformats.org/drawingml/2006/main" cx="11163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048250"/>
                <a:gridCol w="3638550"/>
              </a:tblGrid>
              <a:tr h="785813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보관할 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목적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785813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승인·반려 이력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기록·승인자·결정·시각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당시 작업일·시간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경위 확인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당시 인정 시간 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워크로그 변경 이력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생성·수정·삭제 구분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가능한 행위자·변경 전후 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추적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이후 원본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785813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워크로그 설명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설명 일부와 변경 여부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원문 보존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필요한 맥락 확인</a:t>
                      </a:r>
                    </a:p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이력 저장량 관리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6B6E9-F205-4375-A8C6-D85BFF67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0225"/>
            <a:ext cx="11163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Approval의 Forge Storage에 승인·변경 이력을 누적하고, 권한 범위에 맞춰 조회·내보내기를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28809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89626-4EC5-4FC9-B0BC-B6F9156E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B0D8F-1195-4CFF-A746-3ADE6D4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정기 파일 내보내기와 저장공간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00C01-6469-45BB-9990-0351F693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6B15A-2F39-4612-966F-5693DF455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b6c5974ee4581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BD61F-6CFB-4874-9305-7B87463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9082B-C548-4642-8BC4-0022DE07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257B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Forge Storage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7B70"/>
                </a:solidFill>
                <a:latin typeface="Noto Sans KR"/>
                <a:ea typeface="Noto Sans KR"/>
                <a:cs typeface="Noto Sans KR"/>
              </a:rPr>
              <a:t>승인·변경 이력 누적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4121A-4D44-4D94-98BB-E2974F8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4648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정기 파일 생성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74648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4648F"/>
                </a:solidFill>
                <a:latin typeface="Noto Sans KR"/>
                <a:ea typeface="Noto Sans KR"/>
                <a:cs typeface="Noto Sans KR"/>
              </a:rPr>
              <a:t>기간별 이력 내보내기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5E36D-1597-4D8B-82F2-0CBCCD1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2895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65F8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고객 보관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5F8C"/>
                </a:solidFill>
                <a:latin typeface="Noto Sans KR"/>
                <a:ea typeface="Noto Sans KR"/>
                <a:cs typeface="Noto Sans KR"/>
              </a:rPr>
              <a:t>감사·장기 조회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1E944-4197-4CD8-A93D-E0A81A1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F57EA-17A0-4EB7-BD6D-DE742CC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181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8D9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A9581-C621-4D79-BAE9-B152ADF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제공 방식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4BD0D-6E09-4EB9-A3C9-49B9F79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882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저장공간 한도를 고려해 누적 이력을 주기적으로 파일로 제공합니다.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5BB92-9362-4345-BDCC-D28476B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보관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3395E-F4F3-40BB-B9FB-DF3150F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8820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파일 생성·건수 대조·보관 확인 후 정리 가능한 이력을 관리합니다.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현재 승인·잠금 판단에 필요한 핵심 근거는 유지합니다.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4716A-A06B-4B32-AE91-1AB24E5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내보내기 주기·온라인 보관 기간·파일 형식·보관 위치는 적용 규모에 맞춰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7617834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988BB-4D93-4AB6-9A66-E813CA0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개발 및 기능 제공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50987-8F5E-4761-A82D-6C9D29B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개발 및 검증 적용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B6521-6E47-434B-9C16-13DB983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B"/>
          </a:solidFill>
          <a:ln xmlns:a="http://schemas.openxmlformats.org/drawingml/2006/main" w="0">
            <a:solidFill>
              <a:srgbClr val="E2E7EB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7DAB-CB00-4224-8E7A-0D013F0ED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38c54449f4f04"/>
          <a:stretch xmlns:a="http://schemas.openxmlformats.org/drawingml/2006/main"/>
        </p:blipFill>
        <p:spPr>
          <a:xfrm xmlns:a="http://schemas.openxmlformats.org/drawingml/2006/main">
            <a:off x="51435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7CA42-DC08-4650-A4D9-F886149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2A292-3743-4A06-A040-3482659693B9}"/>
              </a:ext>
            </a:extLst>
          </p:cNvPr>
          <p:cNvGraphicFramePr/>
          <p:nvPr/>
        </p:nvGraphicFramePr>
        <p:xfrm>
          <a:off xmlns:a="http://schemas.openxmlformats.org/drawingml/2006/main" x="514350" y="2181225"/>
          <a:ext xmlns:a="http://schemas.openxmlformats.org/drawingml/2006/main" cx="111633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4019550"/>
              </a:tblGrid>
              <a:tr h="61150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수행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T w="9525">
                      <a:solidFill>
                        <a:srgbClr val="E2E7EB"/>
                      </a:solidFill>
                      <a:prstDash val="solid"/>
                    </a:lnT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334C60"/>
                    </a:solidFill>
                  </a:tcPr>
                </a:tc>
              </a:tr>
              <a:tr h="61150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앱별 API와 필요한 정보 제공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정상 호출·권한 범위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업무 연결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입력·승인·통제·이력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결과와 원본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1150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증거 확보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API·차단·이력·파일 내보내기 시연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화면·원본·파일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범위 확정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2E7EB"/>
                      </a:solidFill>
                      <a:prstDash val="solid"/>
                    </a:lnL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경로·보관 주기·파일 전달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52400" tIns="95250" rIns="1333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33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검증된 범위 기준 적용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2E7EB"/>
                      </a:solidFill>
                      <a:prstDash val="solid"/>
                    </a:lnR>
                    <a:lnB w="9525">
                      <a:solidFill>
                        <a:srgbClr val="E2E7EB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6DF8D-6674-43D0-BD96-1DAD8ABA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91175"/>
            <a:ext cx="247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58D90"/>
                </a:solidFill>
                <a:latin typeface="Noto Sans KR"/>
                <a:ea typeface="Noto Sans KR"/>
                <a:cs typeface="Noto Sans KR"/>
              </a:rPr>
              <a:t>기존 개발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8207B-3DDA-48BF-B4F5-8BD14B6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33244"/>
                </a:solidFill>
                <a:latin typeface="Noto Sans KR"/>
                <a:ea typeface="Noto Sans KR"/>
                <a:cs typeface="Noto Sans KR"/>
              </a:rPr>
              <a:t>선택 자동 테스트 151개 및 번들 로드 검증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BD8F2-4E1B-4548-B128-674480F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2026-10-15 기존 로직 검증 결과입니다. 신규 API 호출 및 고객 환경 수정 차단의 실증 결과는 별도로 작성합니다.</a:t>
            </a:r>
          </a:p>
        </p:txBody>
      </p:sp>
    </p:spTree>
    <p:extLst>
      <p:ext uri="{BB962C8B-B14F-4D97-AF65-F5344CB8AC3E}">
        <p14:creationId xmlns:p14="http://schemas.microsoft.com/office/powerpoint/2010/main" val="572237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KR"/>
        <a:ea typeface=""/>
        <a:cs typeface=""/>
      </a:majorFont>
      <a:minorFont>
        <a:latin typeface="Noto Sans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2026-10-16T04:38:13.6850000Z</dcterms:created>
  <dcterms:modified xsi:type="dcterms:W3CDTF">2026-10-16T04:38:13.6850000Z</dcterms:modified>
</coreProperties>
</file>