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Moves Workforce는 Atlassian Jira Cloud용 Forge 앱입니다. Jira 이슈와 워크로그에 인력·팀·근무 기준·급여 정책을 연결해 프로젝트 운영에 필요한 정보를 한곳에서 확인합니다. 오른쪽은 실제 통합 대시보드 화면(데모 데이터)입니다.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Jira는 이슈 트래킹 도구입니다. 프로젝트 인력 배정, MD/MM 공수, 가동률, 인건비를 계산해 주지 않습니다. 이런 수치는 보통 별도 스프레드시트로 수기 관리되며 Jira의 실데이터와 쉽게 어긋납니다.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이슈는 Jira에, 인력 배치는 엑셀에, 비용은 별도 시트에 관리하는 조직에서는 보고할 때마다 자료를 모으고 기준을 맞춰야 합니다. Moves Workforce는 이 정보를 연결해 반복 집계와 대조 작업을 줄이는 데 도움을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제품 소개서 §1의 다섯 가지 대비입니다. 핵심은 사람이 기억하던 기준(1MM 며칠, 휴가 반영)을 설정값으로 옮겨 자동 계산한다는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설명용 예시입니다. 완성 진척은 일정 진척보다 12.4%p 낮고 공수 소진은 더 큽니다. 이 차이를 근거로 작업 범위·추정 공수·병목을 점검할 수 있습니다. 완성 진척에는 진행 중 이슈의 공수 비율에 따른 근사가 포함됩니다.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입력은 네 가지입니다. Jira의 이슈·워크로그, 조직의 근무 기준과 공휴일, 인력·팀·스킬, 급여 정책. 이것을 연결하면 진척·분석·배정·비용·일정·전사 대시보드가 나옵니다. Forge 위에서 실행되므로 고객이 별도 앱 서버나 외부 DB를 구축할 필요가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제품 소개서의 역할별 표를 확장했습니다. 재무·원가 담당과 IT 관리자를 추가한 이유는, 급여 데이터 접근과 권한 운영이 도입 의사결정에서 반드시 나오는 질문이기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제품 브리프 §5의 실제 사용 시나리오입니다. 매일 → 주간 → 월간 → 경영 보고 순으로 같은 워크로그가 다른 화면에서 재사용됩니다.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사용자 매뉴얼 1.3의 메뉴 구성입니다. 통합 대시보드는 REPORT 읽기, 자원관리는 RESOURCE_MANAGEMENT 읽기 권한이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워크로그가 유일한 원천입니다. 워크로그를 일 단위로 환산한 것이 MD이고 1MM은 그 달의 실제 근무일로 자동 계산됩니다. 워크로그가 기록되지 않으면 지표가 0에 가깝게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구독: 스페이스의 새 이슈는 생성 이벤트로 빠르게 편입되고, 이벤트 누락·이슈 이동은 시간별 리컨실이 보완합니다. 기존 이슈까지 편입하려면 구독 생성 시 백필을 선택합니다. 해제는 앞으로의 자동 편입만 멈추며 이미 편입된 이슈는 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작업 관리는 목록 · 트리 · 간트 세 뷰로 전환됩니다. 트리와 간트는 같은 데이터와 계층을 재사용하며, 필터는 트리↔간트 사이에서 공유됩니다.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간트는 SVAR Gantt 기반입니다. 선후행은 Jira 네이티브 이슈 링크로, 계층은 상위 지정 필드로 저장되므로 앱을 제거해도 관계 데이터가 Jira에 남습니다. 폴더 진척은 하위 이슈의 MD 가중 롤업입니다.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층을 한 숫자로 합치지 않습니다. 주 신호는 완성 vs 일정, 보조 신호는 공수 vs 완성입니다. 예측 지연은 이슈별 예상 종료일의 최댓값 기준이라 병렬 작업 한계를 무시한 낙관 근사치입니다.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작업 분석은 계획 공수 대비 실투입 MD를 비교합니다. 초록/주황/빨강 배지로 공수 블랙홀을 우선 표시하고, 남은 공수 추세로 예상 완료일을 계산합니다. 상단 필터로 범위를 좁히고 엑셀로 내보낼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가동률은 기록된 업무 부하를 보여주는 지표입니다. 개인의 성과·역량 점수가 아니며 미기록 업무와 조회 범위를 함께 확인해야 합니다. 이 화면은 프로젝트 기준 가동률이라 전사 종합 가동률과 분모가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계획 인건비는 유효 투입급여 합산, 소진 비용(AC)은 계획 인건비를 일정 진척률로 안분한 추정값입니다. 이슈별 비용은 인원별 소진 추정액을 워크로그 비중으로 배분합니다. 외부 소개에는 가상 인물·가상 급여 데모 화면을 사용합니다.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상세 대시보드는 react-grid-layout 기반 위젯 그리드입니다. 위젯별 사용자 정의 필터를 저장·편집할 수 있고, 총 인건비 위젯은 비용 권한자에게만 표시됩니다.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상세의 작업 배정 탭입니다. 자원관리의 프로젝트 배정이 "프로젝트에 누구를 넣을까"라면, 이 화면은 "이 사람에게 무엇을 맡길까" 관점입니다. 프로젝트 내 부하와 전사 부하를 한 행에 나란히 놓아 이 프로젝트만 보면 여유 있어 보이지만 밖에서 과부하인 인원을 잡아내는 것이 목적입니다. 전사 가동률은 하루 한 번 집계한 참고값입니다.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인력 현황의 가동률은 배치 집계 기준입니다. 관리자·PMO·PM은 전사, 팀장은 자신이 이끄는 팀 인원만 보입니다. 드로어의 "내 몫"은 참여 인원으로 균등 분할한 근사치입니다.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배정 화면입니다. 왼쪽에서 프로젝트를 선택하면 오른쪽 후보의 적합도가 계산됩니다. 배정 관계도의 링크 기준은 배정 명단이지 워크로그 투입이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조직 현황은 계층형 팀 트리, 팀 분석은 여러 팀·프로젝트를 가로지르는 자원 지표입니다. 팀 분석은 현재 소속 기준이며 과거 소속 이력을 소급하지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 프로젝트를 가로지르는 집계는 하루 한 번 배치로 스냅샷을 만들고 화면은 그 스냅샷을 읽습니다. 필요하면 재집계 버튼으로 갱신할 수 있으며 비동기 완료와 기준 시각을 확인해야 합니다. 프로젝트 필터에 따른 분포·합산은 프론트에서 즉시 재계산됩니다.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마이페이지는 프로젝트 선택형 개인 대시보드입니다. 팀 관련 화면이 세 개(마이페이지 내 팀, 자원관리 팀 분석, 프로젝트 팀 분석)인 이유는 각각 답하는 질문이 다르기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설치하면 역할·등급·스킬·권한 프리셋이 자동 초기화되고, 관리자가 수정한 값을 이후 시드가 덮어쓰지 않습니다. 공휴일을 등록하면 1MM·가동률·일정률 계산에 자동 반영됩니다.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핵심로직 정의서와 제품 소개서 §3의 산식입니다. 1일 근무 시간과 공휴일을 먼저 설정해야 조직 기준에 맞는 수치가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화면마다 가동률 숫자가 다르면 버그인가요? 프로젝트 신호등의 R(그 프로젝트 인원 평균)과 헤더의 전사 가동률(인원 기간 합집합 분모)은 의도적으로 다른 지표입니다. 그 외 같은 이름의 지표는 분모를 통일하도록 설계되어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경쟁 분석(2026-09) 결론: 조사한 Jira 리소스 관리 앱의 원가는 모두 시급 단가 기반이며, 급여 자체를 저장·환산하는 앱은 확인되지 않았습니다. 급여 가시성 정책과 비용 권한을 별개로 이중 게이팅하는 구조도 우리만의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경쟁사 실명은 쓰지 않습니다. 유형 일반론이며 개별 제품은 다를 수 있습니다. 우리가 확실히 앞서는 지점은 급여 기반 원가, MD/MM→원가 연결, Forge 내 저장, 한국어, 한 앱 통합입니다. 반대로 타임시트 승인·휴가 승인 워크플로는 아직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숨김은 UX용이고 실제 보안 경계는 서버입니다. 모든 백엔드 호출은 권한 가드로 검증되며 매핑되지 않은 함수는 기본 거부됩니다. 본인 데이터 함수는 클라이언트가 보낸 신원을 무시하고 서버가 실제 호출자 기준으로 처리합니다.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프로젝트·인력·팀·구독 규칙은 Forge SQL, 설정성 데이터·캐시는 Forge KVS에 저장됩니다. 워크로그 원본은 앱에 복제하지 않고 Jira를 단일 원천으로 사용합니다. Forge SQL은 설치당 1GiB 한도이며 저장 공간 관리 화면에서 미리 감지합니다.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제품 소개서 §5.1의 네 단계입니다. 관리자가 수정한 프리셋 값을 이후 시드가 덮어쓰지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제품 소개서 §5.3 도입 전 확인할 점입니다. 특히 워크로그 기록과 계획 공수 입력은 지표 정확도의 전제라 초기 교육에서 강조해야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파일럿은 대표 프로젝트 하나로 시작합니다. 구체적 요금·평가 조건은 배포 채널(Marketplace 리스팅)의 안내를 따릅니다. 연락처와 링크는 확정 후 기입합니다.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줄 가치 요약은 3장(핵심 통찰)과 같은 순서입니다. 연락처·Marketplace 링크는 확정 전까지 기입 자리로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제품 소개서 §2.8입니다. 과거 기간을 선택했다고 모든 항목이 그 시점의 상태로 복원되는 것은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FAQ 문서 v1.3 발췌입니다.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pic>
        <p:nvPicPr>
          <p:cNvPr id="3" name="Image 0" descr="C:\CloudJira\moves-workforce\_workspace\product-intro-ppt\assets\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783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30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ATLASSIAN JIRA CLOUD  ·  APP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21031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777240" y="31546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Jira의 업무 기록을</a:t>
            </a:r>
            <a:endParaRPr lang="en-US" sz="2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인력·공수·진척·비용의 판단 근거로.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4251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B9D9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이슈와 워크로그에 인력·팀·근무 기준·급여 정책을 연결해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B9D9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운영에 필요한 숫자를 Jira 안에서 만듭니다.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" y="521208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B4F49"/>
          </a:solidFill>
          <a:ln w="12700">
            <a:solidFill>
              <a:srgbClr val="1B4F4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21208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일정·완성·공수 분리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350008" y="521208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B4F49"/>
          </a:solidFill>
          <a:ln w="12700">
            <a:solidFill>
              <a:srgbClr val="1B4F4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50008" y="521208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근무일 기반 MD·MM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922776" y="521208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B4F49"/>
          </a:solidFill>
          <a:ln w="12700">
            <a:solidFill>
              <a:srgbClr val="1B4F4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22776" y="521208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급여 기반 인건비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95544" y="521208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1B4F49"/>
          </a:solidFill>
          <a:ln w="12700">
            <a:solidFill>
              <a:srgbClr val="1B4F4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95544" y="521208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전사 통합 대시보드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360920" y="1051560"/>
            <a:ext cx="4389120" cy="2813695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360920" y="1051560"/>
            <a:ext cx="4389120" cy="237744"/>
          </a:xfrm>
          <a:prstGeom prst="rect">
            <a:avLst/>
          </a:prstGeom>
          <a:solidFill>
            <a:srgbClr val="EDF2F1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470648" y="1124712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26096" y="1124712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81544" y="1124712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01000" y="10515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대시보드</a:t>
            </a:r>
            <a:endParaRPr lang="en-US" sz="850" dirty="0"/>
          </a:p>
        </p:txBody>
      </p:sp>
      <p:pic>
        <p:nvPicPr>
          <p:cNvPr id="22" name="Image 1" descr="C:\CloudJira\moves-workforce\_workspace\product-intro-ppt\captures\_cropped\portfol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072" y="1362456"/>
            <a:ext cx="4242816" cy="2429647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360920" y="46817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FBD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제품 화면 · 데모 데이터</a:t>
            </a:r>
            <a:endParaRPr lang="en-US" sz="900" dirty="0"/>
          </a:p>
        </p:txBody>
      </p:sp>
      <p:pic>
        <p:nvPicPr>
          <p:cNvPr id="24" name="Image 2" descr="C:\CloudJira\moves-workforce\_workspace\product-intro-ppt\assets\dmove_wordmar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144768"/>
            <a:ext cx="11887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686800" y="61447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spc="20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소개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다룰 내용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Jira만으로는 부족한 이유에서 시작해, 기능·지표·차별점·도입 순서로 설명합니다.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84248"/>
            <a:ext cx="351525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84248"/>
            <a:ext cx="73152" cy="192024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854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1AD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276148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필요한가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Jira가 답하지 못하는 질문과 흩어진 숫자의 비용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38218" y="1984248"/>
            <a:ext cx="3515258" cy="1920240"/>
          </a:xfrm>
          <a:prstGeom prst="rect">
            <a:avLst/>
          </a:prstGeom>
          <a:solidFill>
            <a:srgbClr val="E9F7F4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38218" y="1984248"/>
            <a:ext cx="73152" cy="192024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2538" y="21854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1AD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12538" y="276148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2538" y="315468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 정의, 역할별 가치, 사용 시나리오, 화면 지도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27797" y="1984248"/>
            <a:ext cx="351525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27797" y="1984248"/>
            <a:ext cx="73152" cy="192024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02117" y="21854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1AD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402117" y="276148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02117" y="315468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워크로그부터 통합 대시보드까지 16개 화면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78808"/>
            <a:ext cx="351525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178808"/>
            <a:ext cx="73152" cy="192024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3799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1AD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22960" y="495604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숫자의 신뢰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534924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MD·MM, 가동률, 완성 진척의 산식과 원칙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38218" y="4178808"/>
            <a:ext cx="3515258" cy="1920240"/>
          </a:xfrm>
          <a:prstGeom prst="rect">
            <a:avLst/>
          </a:prstGeom>
          <a:solidFill>
            <a:srgbClr val="E9F7F4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38218" y="4178808"/>
            <a:ext cx="73152" cy="192024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2538" y="43799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1AD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612538" y="495604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우리인가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12538" y="534924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차별점 5가지, 유형별 비교, 보안·권한, 데이터 위치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27797" y="4178808"/>
            <a:ext cx="351525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27797" y="4178808"/>
            <a:ext cx="73152" cy="192024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02117" y="43799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1AD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402117" y="495604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02117" y="534924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4단계 셋업, 도입 전 확인, 파일럿 제안</a:t>
            </a:r>
            <a:endParaRPr lang="en-US" sz="1100" dirty="0"/>
          </a:p>
        </p:txBody>
      </p:sp>
      <p:pic>
        <p:nvPicPr>
          <p:cNvPr id="35" name="Image 0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/ 45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3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601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0" b="1" dirty="0">
                <a:solidFill>
                  <a:srgbClr val="1475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777240" y="3063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필요한가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9319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Jira는 이슈를 잘 추적합니다.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그러나 프로젝트를 운영하려면 이슈 너머의 숫자가 필요합니다.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818120" y="1188720"/>
            <a:ext cx="36576" cy="1819656"/>
          </a:xfrm>
          <a:prstGeom prst="rect">
            <a:avLst/>
          </a:prstGeom>
          <a:solidFill>
            <a:srgbClr val="1A9A90"/>
          </a:solidFill>
          <a:ln w="12700">
            <a:solidFill>
              <a:srgbClr val="1A9A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24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파트에서 다루는 내용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92440" y="1554480"/>
            <a:ext cx="36576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Jira가 답하지 못하는 네 가지 질문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보고할 때마다 흩어진 숫자를 다시 맞춘다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벌어지는 일 → Moves Workforce가 하는 일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통찰 — 공수 소진과 업무 완성은 다르다</a:t>
            </a:r>
            <a:endParaRPr lang="en-US" sz="1250" dirty="0"/>
          </a:p>
        </p:txBody>
      </p:sp>
      <p:pic>
        <p:nvPicPr>
          <p:cNvPr id="9" name="Image 0" descr="C:\CloudJira\moves-workforce\_workspace\product-intro-ppt\assets\dmove_wor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72200"/>
            <a:ext cx="100584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  왜 필요한가 · 문제 정의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Jira에 물어봐도 답이 나오지 않는 질문들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이슈와 워크로그는 쌓여 있는데, 그것을 인력·공수·진척·비용으로 읽어 주는 층이 없습니다.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864" cy="14173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92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185416"/>
            <a:ext cx="490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 프로젝트에 누가, 언제부터, 얼마나 투입돼 있죠?"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916936"/>
            <a:ext cx="509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Jira에는 담당자 필드만 있습니다. 참여 기간·투입 비율·팀 소속·스킬은 어디에도 없습니다.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70168" y="1965960"/>
            <a:ext cx="54864" cy="14173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44488" y="1892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644488" y="2185416"/>
            <a:ext cx="490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"이번 달 투입 MM이 몇이죠? 1MM은 며칠이에요?"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44488" y="2916936"/>
            <a:ext cx="509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워크로그는 시간의 합계일 뿐입니다. 근무일·공휴일·연차를 반영한 MD·MM 환산은 없습니다.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4864" cy="14173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858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진척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4151376"/>
            <a:ext cx="490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"일정 대비 진짜로 얼마나 끝난 거예요?"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4882896"/>
            <a:ext cx="509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상태별 이슈 개수는 세어 주지만, 계획 공수로 가중한 완성률과 지연 신호는 만들어 주지 않습니다.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70168" y="3931920"/>
            <a:ext cx="54864" cy="14173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44488" y="3858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44488" y="4151376"/>
            <a:ext cx="490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"지금까지 인건비가 얼마나 들어갔어요?"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44488" y="4882896"/>
            <a:ext cx="509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급여와 인건비는 Jira 밖의 시트에 있어 프로젝트 실적과 연결되지 않습니다.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687568"/>
            <a:ext cx="11094415" cy="566928"/>
          </a:xfrm>
          <a:prstGeom prst="rect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68756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 이 숫자들은 매달 누군가 엑셀에서 손으로 다시 만듭니다.</a:t>
            </a:r>
            <a:endParaRPr lang="en-US" sz="1400" dirty="0"/>
          </a:p>
        </p:txBody>
      </p:sp>
      <p:pic>
        <p:nvPicPr>
          <p:cNvPr id="24" name="Image 0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/ 45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  왜 필요한가 · 현장의 비용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보고할 때마다 흩어진 숫자를 다시 맞춥니다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이슈는 Jira에, 인력 배치는 엑셀에, 비용은 별도 시트에 있으면 집계와 대조를 매번 반복합니다.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29968"/>
            <a:ext cx="2834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185416"/>
            <a:ext cx="457200" cy="457200"/>
          </a:xfrm>
          <a:prstGeom prst="ellipse">
            <a:avLst/>
          </a:prstGeom>
          <a:solidFill>
            <a:srgbClr val="C9ECE6"/>
          </a:solidFill>
          <a:ln w="12700">
            <a:solidFill>
              <a:srgbClr val="C9EC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2308860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1488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이슈·워크로그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80160" y="24414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상태·계획 공수·기록 시간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83280" y="2414016"/>
            <a:ext cx="685800" cy="1444752"/>
          </a:xfrm>
          <a:prstGeom prst="line">
            <a:avLst/>
          </a:prstGeom>
          <a:noFill/>
          <a:ln w="15875">
            <a:solidFill>
              <a:srgbClr val="B7C7C4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48640" y="2990088"/>
            <a:ext cx="2834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5800" y="3145536"/>
            <a:ext cx="457200" cy="457200"/>
          </a:xfrm>
          <a:prstGeom prst="ellipse">
            <a:avLst/>
          </a:prstGeom>
          <a:solidFill>
            <a:srgbClr val="C9ECE6"/>
          </a:solidFill>
          <a:ln w="12700">
            <a:solidFill>
              <a:srgbClr val="C9ECE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" y="3268980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31089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배치 엑셀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280160" y="3401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누가 언제 어느 프로젝트에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383280" y="3374136"/>
            <a:ext cx="685800" cy="484632"/>
          </a:xfrm>
          <a:prstGeom prst="line">
            <a:avLst/>
          </a:prstGeom>
          <a:noFill/>
          <a:ln w="15875">
            <a:solidFill>
              <a:srgbClr val="B7C7C4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548640" y="3950208"/>
            <a:ext cx="2834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85800" y="4105656"/>
            <a:ext cx="457200" cy="457200"/>
          </a:xfrm>
          <a:prstGeom prst="ellipse">
            <a:avLst/>
          </a:prstGeom>
          <a:solidFill>
            <a:srgbClr val="C9ECE6"/>
          </a:solidFill>
          <a:ln w="12700">
            <a:solidFill>
              <a:srgbClr val="C9ECE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4229100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4069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급여·비용 시트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280160" y="43616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인건비·단가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 flipV="1">
            <a:off x="3383280" y="3858768"/>
            <a:ext cx="685800" cy="475488"/>
          </a:xfrm>
          <a:prstGeom prst="line">
            <a:avLst/>
          </a:prstGeom>
          <a:noFill/>
          <a:ln w="15875">
            <a:solidFill>
              <a:srgbClr val="B7C7C4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548640" y="4910328"/>
            <a:ext cx="2834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5800" y="5065776"/>
            <a:ext cx="457200" cy="457200"/>
          </a:xfrm>
          <a:prstGeom prst="ellipse">
            <a:avLst/>
          </a:prstGeom>
          <a:solidFill>
            <a:srgbClr val="C9ECE6"/>
          </a:solidFill>
          <a:ln w="12700">
            <a:solidFill>
              <a:srgbClr val="C9ECE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5189220"/>
            <a:ext cx="210312" cy="2103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80160" y="5029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보고서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280160" y="53218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진척률은 담당자의 감(感)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 flipV="1">
            <a:off x="3383280" y="3858768"/>
            <a:ext cx="685800" cy="1435608"/>
          </a:xfrm>
          <a:prstGeom prst="line">
            <a:avLst/>
          </a:prstGeom>
          <a:noFill/>
          <a:ln w="15875">
            <a:solidFill>
              <a:srgbClr val="B7C7C4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4114800" y="3035808"/>
            <a:ext cx="2103120" cy="1645920"/>
          </a:xfrm>
          <a:prstGeom prst="rect">
            <a:avLst/>
          </a:prstGeom>
          <a:solidFill>
            <a:srgbClr val="FCEBEB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892040" y="3218688"/>
            <a:ext cx="548640" cy="54864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173" y="3366821"/>
            <a:ext cx="252374" cy="25237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160520" y="38587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645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월말 수작업 집계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4251960" y="4160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기준을 다시 정하고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옮겨 적고, 대조한다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6858000" y="228600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178040" y="2167128"/>
            <a:ext cx="4465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집계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7178040" y="2459736"/>
            <a:ext cx="4465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월말마다 같은 작업을 다시 합니다. "투입 MM"을 손으로 세고, 워크로그를 엑셀로 옮깁니다.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6858000" y="352044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7178040" y="3401568"/>
            <a:ext cx="4465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불일치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7178040" y="3694176"/>
            <a:ext cx="4465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"이번 달 1MM이 며칠이죠?"를 매번 다시 정합니다. 휴가·참여 기간을 빼먹으면 부하 판단이 왜곡됩니다.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6858000" y="475488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7178040" y="4636008"/>
            <a:ext cx="4465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 저하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7178040" y="4928616"/>
            <a:ext cx="4465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진척률은 감이거나 소진한 공수를 옮겨 적은 숫자입니다. 인건비는 프로젝트 실적과 연결되지 않습니다.</a:t>
            </a:r>
            <a:endParaRPr lang="en-US" sz="1100" dirty="0"/>
          </a:p>
        </p:txBody>
      </p:sp>
      <p:pic>
        <p:nvPicPr>
          <p:cNvPr id="44" name="Image 5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46" name="Text 37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/ 45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  왜 필요한가 · 지금 ↔ Moves Workforce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데이터를, 손이 아니라 규칙으로 만듭니다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벌어지는 일과 Moves Workforce가 대신하는 일을 나란히 놓았습니다.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84248"/>
          <a:ext cx="11094415" cy="914400"/>
        </p:xfrm>
        <a:graphic>
          <a:graphicData uri="http://schemas.openxmlformats.org/drawingml/2006/table">
            <a:tbl>
              <a:tblPr/>
              <a:tblGrid>
                <a:gridCol w="5272888"/>
                <a:gridCol w="5821528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지금 벌어지는 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A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Moves Workforce가 하는 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31800" marR="152400" marT="101600" marB="1016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625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투입 공수(MM)를 월말에 손으로 집계한다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Jira 워크로그와 등록된 근무 기준으로 MD·MM을 자동 환산한다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31800" marR="152400" marT="101600" marB="1016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625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"이번 달 1MM이 며칠이죠?"를 매번 다시 정한다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1MM은 그 달의 실제 근무일(평일 − 공휴일)로 자동 계산된다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31800" marR="152400" marT="101600" marB="1016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625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휴가·참여 기간을 고려하지 않아 부하 판단이 왜곡된다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참여 기간·연차·공휴일을 반영한 실효 가용 공수와 비교한다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31800" marR="152400" marT="101600" marB="1016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625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진척률은 담당자의 감이거나 소진한 공수를 그대로 옮겨 적은 숫자다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완성·공수·일정을 분리해 계측하고, 그 차이를 지연 신호로 쓴다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31800" marR="152400" marT="101600" marB="1016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625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인건비는 별도 시트에 있고 프로젝트 실적과 연결되지 않는다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급여 정책에 따른 계획 인건비, 일정 기준 소진 추정, 이슈별 배분을 확인한다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31800" marR="152400" marT="101600" marB="1016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75224" y="2578608"/>
            <a:ext cx="292608" cy="292608"/>
          </a:xfrm>
          <a:prstGeom prst="ellipse">
            <a:avLst/>
          </a:prstGeom>
          <a:solidFill>
            <a:srgbClr val="21ADAD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8376" y="2651760"/>
            <a:ext cx="146304" cy="1463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675224" y="3236976"/>
            <a:ext cx="292608" cy="292608"/>
          </a:xfrm>
          <a:prstGeom prst="ellipse">
            <a:avLst/>
          </a:prstGeom>
          <a:solidFill>
            <a:srgbClr val="21ADAD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376" y="3310128"/>
            <a:ext cx="146304" cy="14630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675224" y="3895344"/>
            <a:ext cx="292608" cy="292608"/>
          </a:xfrm>
          <a:prstGeom prst="ellipse">
            <a:avLst/>
          </a:prstGeom>
          <a:solidFill>
            <a:srgbClr val="21ADAD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376" y="3968496"/>
            <a:ext cx="146304" cy="14630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675224" y="4553712"/>
            <a:ext cx="292608" cy="292608"/>
          </a:xfrm>
          <a:prstGeom prst="ellipse">
            <a:avLst/>
          </a:prstGeom>
          <a:solidFill>
            <a:srgbClr val="21ADAD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8376" y="4626864"/>
            <a:ext cx="146304" cy="14630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675224" y="5212080"/>
            <a:ext cx="292608" cy="292608"/>
          </a:xfrm>
          <a:prstGeom prst="ellipse">
            <a:avLst/>
          </a:prstGeom>
          <a:solidFill>
            <a:srgbClr val="21ADAD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8376" y="5285232"/>
            <a:ext cx="146304" cy="146304"/>
          </a:xfrm>
          <a:prstGeom prst="rect">
            <a:avLst/>
          </a:prstGeom>
        </p:spPr>
      </p:pic>
      <p:pic>
        <p:nvPicPr>
          <p:cNvPr id="17" name="Image 5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19" name="Text 9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/ 45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  왜 필요한가 · 핵심 통찰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공수 소진과 업무 완성은 다릅니다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공수를 81% 썼다고 일이 81% 끝난 것은 아닙니다. 세 숫자를 평균 내는 순간 그 차이가 사라집니다.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672084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67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진척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441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시간이 얼마나 흘렀나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22960" y="2715768"/>
            <a:ext cx="5486400" cy="256032"/>
          </a:xfrm>
          <a:prstGeom prst="rect">
            <a:avLst/>
          </a:prstGeom>
          <a:solidFill>
            <a:srgbClr val="EEF2F1"/>
          </a:solidFill>
          <a:ln w="12700">
            <a:solidFill>
              <a:srgbClr val="EEF2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715768"/>
            <a:ext cx="3730752" cy="256032"/>
          </a:xfrm>
          <a:prstGeom prst="rect">
            <a:avLst/>
          </a:prstGeom>
          <a:solidFill>
            <a:srgbClr val="6B7A78"/>
          </a:solidFill>
          <a:ln w="12700">
            <a:solidFill>
              <a:srgbClr val="6B7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26700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6B7A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68.0%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172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 진척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4472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상태와 계획 공수로 본 완성 정도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" y="3721608"/>
            <a:ext cx="5486400" cy="256032"/>
          </a:xfrm>
          <a:prstGeom prst="rect">
            <a:avLst/>
          </a:prstGeom>
          <a:solidFill>
            <a:srgbClr val="EEF2F1"/>
          </a:solidFill>
          <a:ln w="12700">
            <a:solidFill>
              <a:srgbClr val="EEF2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721608"/>
            <a:ext cx="3050438" cy="256032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64838" y="36758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1AD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55.6%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4178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공수 진척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4531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얼마나 일했나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2960" y="4727448"/>
            <a:ext cx="5486400" cy="256032"/>
          </a:xfrm>
          <a:prstGeom prst="rect">
            <a:avLst/>
          </a:prstGeom>
          <a:solidFill>
            <a:srgbClr val="EEF2F1"/>
          </a:solidFill>
          <a:ln w="12700">
            <a:solidFill>
              <a:srgbClr val="EEF2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727448"/>
            <a:ext cx="4454957" cy="256032"/>
          </a:xfrm>
          <a:prstGeom prst="rect">
            <a:avLst/>
          </a:prstGeom>
          <a:solidFill>
            <a:srgbClr val="E39B2C"/>
          </a:solidFill>
          <a:ln w="12700">
            <a:solidFill>
              <a:srgbClr val="E39B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69357" y="46817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39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81.2%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36752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설명용 예시 숫자 · 실제 고객 데이터 아님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89520" y="1938528"/>
            <a:ext cx="4053535" cy="1417320"/>
          </a:xfrm>
          <a:prstGeom prst="rect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2075688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10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 − 일정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0" y="2350008"/>
            <a:ext cx="3504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−12.4%p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7863840" y="2962656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지연. 작업 범위·추정 공수·병목을 점검할 근거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589520" y="370332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9560" y="3584448"/>
            <a:ext cx="3733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지표를 합치지 않는다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09560" y="3877056"/>
            <a:ext cx="3733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성격이 다른 질문은 따로 답합니다. 평균 낸 "종합 진척률"은 없습니다.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589520" y="452628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9560" y="4407408"/>
            <a:ext cx="3733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차이가 신호다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909560" y="4700016"/>
            <a:ext cx="3733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 &lt; 일정이면 지연, 공수 ≫ 완성이면 비효율·리스크. 차이(%p)가 한 줄 결론이 됩니다.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589520" y="534924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09560" y="5230368"/>
            <a:ext cx="3733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근사는 근사라고 표시한다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909560" y="5522976"/>
            <a:ext cx="3733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중 이슈의 완성률은 공수 비율 근사이며, 화면의 ⓘ가 산식을 밝힙니다.</a:t>
            </a:r>
            <a:endParaRPr lang="en-US" sz="950" dirty="0"/>
          </a:p>
        </p:txBody>
      </p:sp>
      <p:pic>
        <p:nvPicPr>
          <p:cNvPr id="36" name="Image 0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/ 45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3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601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0" b="1" dirty="0">
                <a:solidFill>
                  <a:srgbClr val="1475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777240" y="3063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Workforce란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9319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Cloud 안에서 실행되는 Atlassian 공식 플랫폼(Forge) 앱.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기록에 조직의 운영 기준을 연결합니다.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818120" y="1188720"/>
            <a:ext cx="36576" cy="1819656"/>
          </a:xfrm>
          <a:prstGeom prst="rect">
            <a:avLst/>
          </a:prstGeom>
          <a:solidFill>
            <a:srgbClr val="1A9A90"/>
          </a:solidFill>
          <a:ln w="12700">
            <a:solidFill>
              <a:srgbClr val="1A9A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24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파트에서 다루는 내용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92440" y="1554480"/>
            <a:ext cx="36576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 정의와 입력 → 출력 흐름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역할마다 다른 질문에 같은 데이터로 답한다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매일의 기록이 경영 보고까지 이어지는 흐름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지도 — 어디에 무엇이 있나</a:t>
            </a:r>
            <a:endParaRPr lang="en-US" sz="1250" dirty="0"/>
          </a:p>
        </p:txBody>
      </p:sp>
      <p:pic>
        <p:nvPicPr>
          <p:cNvPr id="9" name="Image 0" descr="C:\CloudJira\moves-workforce\_workspace\product-intro-ppt\assets\dmove_wor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72200"/>
            <a:ext cx="100584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  Moves Workforce란 · 전체상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Jira의 업무 기록에 조직의 운영 기준을 연결합니다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Atlassian이 운영하는 앱 플랫폼(Forge) 위에서 실행됩니다 — 별도 앱 서버나 외부 DB를 구축할 필요가 없습니다.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84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475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9260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487168"/>
            <a:ext cx="457200" cy="457200"/>
          </a:xfrm>
          <a:prstGeom prst="ellipse">
            <a:avLst/>
          </a:prstGeom>
          <a:solidFill>
            <a:srgbClr val="C9ECE6"/>
          </a:solidFill>
          <a:ln w="12700">
            <a:solidFill>
              <a:srgbClr val="C9ECE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2610612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4505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이슈 · 워크로그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27432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· 계획 공수 · 기록 시간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74720" y="2715768"/>
            <a:ext cx="640080" cy="1627632"/>
          </a:xfrm>
          <a:prstGeom prst="line">
            <a:avLst/>
          </a:prstGeom>
          <a:noFill/>
          <a:ln w="15875">
            <a:solidFill>
              <a:srgbClr val="6FD3C6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48640" y="3264408"/>
            <a:ext cx="29260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85800" y="3419856"/>
            <a:ext cx="457200" cy="457200"/>
          </a:xfrm>
          <a:prstGeom prst="ellipse">
            <a:avLst/>
          </a:prstGeom>
          <a:solidFill>
            <a:srgbClr val="C9ECE6"/>
          </a:solidFill>
          <a:ln w="12700">
            <a:solidFill>
              <a:srgbClr val="C9ECE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" y="3543300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80160" y="3383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근무 기준 · 공휴일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280160" y="36758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1일 근무시간 · 휴일 · 연차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474720" y="3648456"/>
            <a:ext cx="640080" cy="694944"/>
          </a:xfrm>
          <a:prstGeom prst="line">
            <a:avLst/>
          </a:prstGeom>
          <a:noFill/>
          <a:ln w="15875">
            <a:solidFill>
              <a:srgbClr val="6FD3C6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548640" y="4197096"/>
            <a:ext cx="29260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85800" y="4352544"/>
            <a:ext cx="457200" cy="457200"/>
          </a:xfrm>
          <a:prstGeom prst="ellipse">
            <a:avLst/>
          </a:prstGeom>
          <a:solidFill>
            <a:srgbClr val="C9ECE6"/>
          </a:solidFill>
          <a:ln w="12700">
            <a:solidFill>
              <a:srgbClr val="C9ECE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4475988"/>
            <a:ext cx="210312" cy="2103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80160" y="43159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· 팀 · 스킬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280160" y="460857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· 등급 · 소속 · 참여 기간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 flipV="1">
            <a:off x="3474720" y="4343400"/>
            <a:ext cx="640080" cy="237744"/>
          </a:xfrm>
          <a:prstGeom prst="line">
            <a:avLst/>
          </a:prstGeom>
          <a:noFill/>
          <a:ln w="15875">
            <a:solidFill>
              <a:srgbClr val="6FD3C6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548640" y="5129784"/>
            <a:ext cx="29260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85800" y="5285232"/>
            <a:ext cx="457200" cy="457200"/>
          </a:xfrm>
          <a:prstGeom prst="ellipse">
            <a:avLst/>
          </a:prstGeom>
          <a:solidFill>
            <a:srgbClr val="C9ECE6"/>
          </a:solidFill>
          <a:ln w="12700">
            <a:solidFill>
              <a:srgbClr val="C9ECE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5408676"/>
            <a:ext cx="210312" cy="2103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80160" y="524865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급여 정책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280160" y="55412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인원별 또는 등급 밴드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 flipV="1">
            <a:off x="3474720" y="4343400"/>
            <a:ext cx="640080" cy="1170432"/>
          </a:xfrm>
          <a:prstGeom prst="line">
            <a:avLst/>
          </a:prstGeom>
          <a:noFill/>
          <a:ln w="15875">
            <a:solidFill>
              <a:srgbClr val="6FD3C6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4160520" y="2834640"/>
            <a:ext cx="2331720" cy="3017520"/>
          </a:xfrm>
          <a:prstGeom prst="rect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31" name="Image 4" descr="C:\CloudJira\moves-workforce\_workspace\product-intro-ppt\assets\app_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00" y="3154680"/>
            <a:ext cx="822960" cy="8229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251960" y="4069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4251960" y="44805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Cloud 안에서 실행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Atlassian 제공 저장소에 저장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권한·조회 범위는 서버가 판정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7178040" y="1984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1475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7178040" y="2331720"/>
            <a:ext cx="214106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7315200" y="2468880"/>
            <a:ext cx="384048" cy="384048"/>
          </a:xfrm>
          <a:prstGeom prst="ellipse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8893" y="2572573"/>
            <a:ext cx="176662" cy="17666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315200" y="2898648"/>
            <a:ext cx="18667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진척률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7315200" y="3136392"/>
            <a:ext cx="18667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완성·공수·일정 3층 + 지연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9501988" y="2331720"/>
            <a:ext cx="2141068" cy="1078992"/>
          </a:xfrm>
          <a:prstGeom prst="rect">
            <a:avLst/>
          </a:prstGeom>
          <a:solidFill>
            <a:srgbClr val="E9F7F4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9639148" y="2468880"/>
            <a:ext cx="384048" cy="384048"/>
          </a:xfrm>
          <a:prstGeom prst="ellipse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2841" y="2572573"/>
            <a:ext cx="176662" cy="17666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9639148" y="2898648"/>
            <a:ext cx="18667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· 인력 분석</a:t>
            </a:r>
            <a:endParaRPr lang="en-US" sz="1150" dirty="0"/>
          </a:p>
        </p:txBody>
      </p:sp>
      <p:sp>
        <p:nvSpPr>
          <p:cNvPr id="44" name="Text 35"/>
          <p:cNvSpPr/>
          <p:nvPr/>
        </p:nvSpPr>
        <p:spPr>
          <a:xfrm>
            <a:off x="9639148" y="3136392"/>
            <a:ext cx="18667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초과율 · 예상 완료일 · 가동률</a:t>
            </a:r>
            <a:endParaRPr lang="en-US" sz="900" dirty="0"/>
          </a:p>
        </p:txBody>
      </p:sp>
      <p:sp>
        <p:nvSpPr>
          <p:cNvPr id="45" name="Shape 36"/>
          <p:cNvSpPr/>
          <p:nvPr/>
        </p:nvSpPr>
        <p:spPr>
          <a:xfrm>
            <a:off x="7178040" y="3575304"/>
            <a:ext cx="214106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7315200" y="3712464"/>
            <a:ext cx="384048" cy="384048"/>
          </a:xfrm>
          <a:prstGeom prst="ellipse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8893" y="3816157"/>
            <a:ext cx="176662" cy="176662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7315200" y="4142232"/>
            <a:ext cx="18667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현황 · 배정</a:t>
            </a:r>
            <a:endParaRPr lang="en-US" sz="1150" dirty="0"/>
          </a:p>
        </p:txBody>
      </p:sp>
      <p:sp>
        <p:nvSpPr>
          <p:cNvPr id="49" name="Text 39"/>
          <p:cNvSpPr/>
          <p:nvPr/>
        </p:nvSpPr>
        <p:spPr>
          <a:xfrm>
            <a:off x="7315200" y="4379976"/>
            <a:ext cx="18667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부하 · 스킬 적합도 · 관계도</a:t>
            </a:r>
            <a:endParaRPr lang="en-US" sz="900" dirty="0"/>
          </a:p>
        </p:txBody>
      </p:sp>
      <p:sp>
        <p:nvSpPr>
          <p:cNvPr id="50" name="Shape 40"/>
          <p:cNvSpPr/>
          <p:nvPr/>
        </p:nvSpPr>
        <p:spPr>
          <a:xfrm>
            <a:off x="9501988" y="3575304"/>
            <a:ext cx="2141068" cy="1078992"/>
          </a:xfrm>
          <a:prstGeom prst="rect">
            <a:avLst/>
          </a:prstGeom>
          <a:solidFill>
            <a:srgbClr val="E9F7F4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9639148" y="3712464"/>
            <a:ext cx="384048" cy="384048"/>
          </a:xfrm>
          <a:prstGeom prst="ellipse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42841" y="3816157"/>
            <a:ext cx="176662" cy="176662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9639148" y="4142232"/>
            <a:ext cx="18667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</a:t>
            </a:r>
            <a:endParaRPr lang="en-US" sz="1150" dirty="0"/>
          </a:p>
        </p:txBody>
      </p:sp>
      <p:sp>
        <p:nvSpPr>
          <p:cNvPr id="54" name="Text 43"/>
          <p:cNvSpPr/>
          <p:nvPr/>
        </p:nvSpPr>
        <p:spPr>
          <a:xfrm>
            <a:off x="9639148" y="4379976"/>
            <a:ext cx="18667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 인건비 · 소진 추정 · 예산 예보</a:t>
            </a:r>
            <a:endParaRPr lang="en-US" sz="900" dirty="0"/>
          </a:p>
        </p:txBody>
      </p:sp>
      <p:sp>
        <p:nvSpPr>
          <p:cNvPr id="55" name="Shape 44"/>
          <p:cNvSpPr/>
          <p:nvPr/>
        </p:nvSpPr>
        <p:spPr>
          <a:xfrm>
            <a:off x="7178040" y="4818888"/>
            <a:ext cx="2141068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6" name="Shape 45"/>
          <p:cNvSpPr/>
          <p:nvPr/>
        </p:nvSpPr>
        <p:spPr>
          <a:xfrm>
            <a:off x="7315200" y="4956048"/>
            <a:ext cx="384048" cy="384048"/>
          </a:xfrm>
          <a:prstGeom prst="ellipse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8893" y="5059741"/>
            <a:ext cx="176662" cy="176662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7315200" y="5385816"/>
            <a:ext cx="18667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· 일정</a:t>
            </a:r>
            <a:endParaRPr lang="en-US" sz="1150" dirty="0"/>
          </a:p>
        </p:txBody>
      </p:sp>
      <p:sp>
        <p:nvSpPr>
          <p:cNvPr id="59" name="Text 47"/>
          <p:cNvSpPr/>
          <p:nvPr/>
        </p:nvSpPr>
        <p:spPr>
          <a:xfrm>
            <a:off x="7315200" y="5623560"/>
            <a:ext cx="18667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목록 · 트리 · 간트 · WBS</a:t>
            </a:r>
            <a:endParaRPr lang="en-US" sz="900" dirty="0"/>
          </a:p>
        </p:txBody>
      </p:sp>
      <p:sp>
        <p:nvSpPr>
          <p:cNvPr id="60" name="Shape 48"/>
          <p:cNvSpPr/>
          <p:nvPr/>
        </p:nvSpPr>
        <p:spPr>
          <a:xfrm>
            <a:off x="9501988" y="4818888"/>
            <a:ext cx="2141068" cy="1078992"/>
          </a:xfrm>
          <a:prstGeom prst="rect">
            <a:avLst/>
          </a:prstGeom>
          <a:solidFill>
            <a:srgbClr val="E9F7F4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61" name="Shape 49"/>
          <p:cNvSpPr/>
          <p:nvPr/>
        </p:nvSpPr>
        <p:spPr>
          <a:xfrm>
            <a:off x="9639148" y="4956048"/>
            <a:ext cx="384048" cy="384048"/>
          </a:xfrm>
          <a:prstGeom prst="ellipse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42841" y="5059741"/>
            <a:ext cx="176662" cy="176662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9639148" y="5385816"/>
            <a:ext cx="18667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대시보드</a:t>
            </a:r>
            <a:endParaRPr lang="en-US" sz="1150" dirty="0"/>
          </a:p>
        </p:txBody>
      </p:sp>
      <p:sp>
        <p:nvSpPr>
          <p:cNvPr id="64" name="Text 51"/>
          <p:cNvSpPr/>
          <p:nvPr/>
        </p:nvSpPr>
        <p:spPr>
          <a:xfrm>
            <a:off x="9639148" y="5623560"/>
            <a:ext cx="18667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프로젝트 일정·범위·자원 비교</a:t>
            </a:r>
            <a:endParaRPr lang="en-US" sz="900" dirty="0"/>
          </a:p>
        </p:txBody>
      </p:sp>
      <p:sp>
        <p:nvSpPr>
          <p:cNvPr id="65" name="Shape 52"/>
          <p:cNvSpPr/>
          <p:nvPr/>
        </p:nvSpPr>
        <p:spPr>
          <a:xfrm>
            <a:off x="6492240" y="4343400"/>
            <a:ext cx="640080" cy="0"/>
          </a:xfrm>
          <a:prstGeom prst="line">
            <a:avLst/>
          </a:prstGeom>
          <a:noFill/>
          <a:ln w="31750">
            <a:solidFill>
              <a:srgbClr val="21ADAD"/>
            </a:solidFill>
            <a:prstDash val="solid"/>
            <a:tailEnd type="triangle"/>
          </a:ln>
        </p:spPr>
      </p:sp>
      <p:pic>
        <p:nvPicPr>
          <p:cNvPr id="67" name="Image 11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68" name="Text 53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69" name="Text 54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 / 45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  Moves Workforce란 · 누가 쓰나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역할마다 묻는 질문이 다릅니다. 답은 같은 데이터에서 나옵니다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 기록된 워크로그가 구성원·PM·팀장·PMO·재무·IT 관리자의 화면으로 각각 흘러갑니다.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10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26080" y="1938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10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확인하고 싶은 질문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863840" y="193852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10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주로 쓰는 화면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267712"/>
            <a:ext cx="11094415" cy="18288"/>
          </a:xfrm>
          <a:prstGeom prst="rect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5000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· 프로젝트 관리자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235000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계획보다 늦거나 공수가 집중되는 작업은 무엇인가?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3840" y="2350008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진척률 · 작업 분석 · 간트 · 프로젝트 대시보드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999232"/>
            <a:ext cx="11094415" cy="9144"/>
          </a:xfrm>
          <a:prstGeom prst="rect">
            <a:avLst/>
          </a:prstGeom>
          <a:solidFill>
            <a:srgbClr val="D9E4E2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0837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팀장 · 리소스 매니저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3008376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팀의 부하가 어떻게 분포하고 누구를 배정할 수 있는가?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63840" y="3008376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현황 · 팀 분석 · 프로젝트 배정 · 마이페이지(내 팀)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11094415" cy="9144"/>
          </a:xfrm>
          <a:prstGeom prst="rect">
            <a:avLst/>
          </a:prstGeom>
          <a:solidFill>
            <a:srgbClr val="D9E4E2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6674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PMO · 경영진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3666744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프로젝트 중 어디를 먼저 살펴봐야 하는가?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63840" y="3666744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대시보드 · 비용 분석 · 조직 현황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315968"/>
            <a:ext cx="11094415" cy="9144"/>
          </a:xfrm>
          <a:prstGeom prst="rect">
            <a:avLst/>
          </a:prstGeom>
          <a:solidFill>
            <a:srgbClr val="D9E4E2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32511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26080" y="432511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업무에 시간을 기록했고 일정은 어떻게 되는가?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63840" y="4325112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 Work · 워크로그 · 마이페이지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974336"/>
            <a:ext cx="11094415" cy="9144"/>
          </a:xfrm>
          <a:prstGeom prst="rect">
            <a:avLst/>
          </a:prstGeom>
          <a:solidFill>
            <a:srgbClr val="D9E4E2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9834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재무 · 원가 담당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926080" y="498348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인건비를 급여 정책에 맞게, 권한 안에서 볼 수 있는가?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63840" y="4983480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급여 관리 · 비용 분석 (비용 열람 권한자만)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632704"/>
            <a:ext cx="11094415" cy="9144"/>
          </a:xfrm>
          <a:prstGeom prst="rect">
            <a:avLst/>
          </a:prstGeom>
          <a:solidFill>
            <a:srgbClr val="D9E4E2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64184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 관리자 · 운영자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926080" y="564184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권한·조회 범위·기준값·저장 용량을 어떻게 관리하는가?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63840" y="5641848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(권한 · 팀 · 휴일 · 급여 정책 · 저장 공간)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6291072"/>
            <a:ext cx="11094415" cy="9144"/>
          </a:xfrm>
          <a:prstGeom prst="rect">
            <a:avLst/>
          </a:prstGeom>
          <a:solidFill>
            <a:srgbClr val="D9E4E2"/>
          </a:solidFill>
          <a:ln w="12700">
            <a:solidFill>
              <a:srgbClr val="D9E4E2"/>
            </a:solidFill>
            <a:prstDash val="solid"/>
          </a:ln>
        </p:spPr>
      </p:sp>
      <p:pic>
        <p:nvPicPr>
          <p:cNvPr id="34" name="Image 0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/ 45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  Moves Workforce란 · 사용 흐름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매일의 기록이 주간 점검, 월간 정산, 경영 보고로 이어집니다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실무자가 워크로그를 기록하는 순간부터 모든 지표가 같은 원천을 씁니다.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04595" y="2596896"/>
            <a:ext cx="9382506" cy="54864"/>
          </a:xfrm>
          <a:prstGeom prst="rect">
            <a:avLst/>
          </a:prstGeom>
          <a:solidFill>
            <a:srgbClr val="C9ECE6"/>
          </a:solidFill>
          <a:ln w="12700">
            <a:solidFill>
              <a:srgbClr val="C9E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5411" y="2295144"/>
            <a:ext cx="658368" cy="658368"/>
          </a:xfrm>
          <a:prstGeom prst="ellipse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3170" y="2472903"/>
            <a:ext cx="302849" cy="3028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2611" y="2203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550899" y="2185416"/>
            <a:ext cx="274320" cy="274320"/>
          </a:xfrm>
          <a:prstGeom prst="ellipse">
            <a:avLst/>
          </a:prstGeom>
          <a:solidFill>
            <a:srgbClr val="21AD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50899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48640" y="3081528"/>
            <a:ext cx="1711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착수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3520440"/>
            <a:ext cx="1711909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3630168"/>
            <a:ext cx="149245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인력·팀 배정, WBS·간트로 작업 구조 수립, 스페이스 구독으로 이슈 자동 편입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951912" y="2295144"/>
            <a:ext cx="658368" cy="658368"/>
          </a:xfrm>
          <a:prstGeom prst="ellipse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671" y="2472903"/>
            <a:ext cx="302849" cy="30284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09112" y="2203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427400" y="2185416"/>
            <a:ext cx="274320" cy="274320"/>
          </a:xfrm>
          <a:prstGeom prst="ellipse">
            <a:avLst/>
          </a:prstGeom>
          <a:solidFill>
            <a:srgbClr val="21AD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427400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2425141" y="3081528"/>
            <a:ext cx="1711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매일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2425141" y="3520440"/>
            <a:ext cx="1711909" cy="1417320"/>
          </a:xfrm>
          <a:prstGeom prst="rect">
            <a:avLst/>
          </a:prstGeom>
          <a:solidFill>
            <a:srgbClr val="E9F7F4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534869" y="3630168"/>
            <a:ext cx="149245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실무자가 My Work에서 워크로그 기록, 마이페이지에서 내 작업·일정 확인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828413" y="2295144"/>
            <a:ext cx="658368" cy="658368"/>
          </a:xfrm>
          <a:prstGeom prst="ellipse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172" y="2472903"/>
            <a:ext cx="302849" cy="302849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85613" y="2203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303901" y="2185416"/>
            <a:ext cx="274320" cy="274320"/>
          </a:xfrm>
          <a:prstGeom prst="ellipse">
            <a:avLst/>
          </a:prstGeom>
          <a:solidFill>
            <a:srgbClr val="21AD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303901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4301642" y="3081528"/>
            <a:ext cx="1711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4301642" y="3520440"/>
            <a:ext cx="1711909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411370" y="3630168"/>
            <a:ext cx="149245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PM이 진척률 차이(%p)·S-curve·작업 분석 초과율로 점검 대상 식별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704914" y="2295144"/>
            <a:ext cx="658368" cy="658368"/>
          </a:xfrm>
          <a:prstGeom prst="ellipse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2674" y="2472903"/>
            <a:ext cx="302849" cy="302849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162114" y="2203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7180402" y="2185416"/>
            <a:ext cx="274320" cy="274320"/>
          </a:xfrm>
          <a:prstGeom prst="ellipse">
            <a:avLst/>
          </a:prstGeom>
          <a:solidFill>
            <a:srgbClr val="21AD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180402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6178144" y="3081528"/>
            <a:ext cx="1711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</a:t>
            </a:r>
            <a:endParaRPr lang="en-US" sz="1500" dirty="0"/>
          </a:p>
        </p:txBody>
      </p:sp>
      <p:sp>
        <p:nvSpPr>
          <p:cNvPr id="36" name="Shape 30"/>
          <p:cNvSpPr/>
          <p:nvPr/>
        </p:nvSpPr>
        <p:spPr>
          <a:xfrm>
            <a:off x="6178144" y="3520440"/>
            <a:ext cx="1711909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6287872" y="3630168"/>
            <a:ext cx="149245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팀장이 인력 분석의 MM·가동률로 정산 근거 확보, 비용 탭에서 인건비 확인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8581415" y="2295144"/>
            <a:ext cx="658368" cy="658368"/>
          </a:xfrm>
          <a:prstGeom prst="ellipse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9175" y="2472903"/>
            <a:ext cx="302849" cy="302849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038615" y="2203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9056903" y="2185416"/>
            <a:ext cx="274320" cy="274320"/>
          </a:xfrm>
          <a:prstGeom prst="ellipse">
            <a:avLst/>
          </a:prstGeom>
          <a:solidFill>
            <a:srgbClr val="21AD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9056903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950" dirty="0"/>
          </a:p>
        </p:txBody>
      </p:sp>
      <p:sp>
        <p:nvSpPr>
          <p:cNvPr id="43" name="Text 36"/>
          <p:cNvSpPr/>
          <p:nvPr/>
        </p:nvSpPr>
        <p:spPr>
          <a:xfrm>
            <a:off x="8054645" y="3081528"/>
            <a:ext cx="1711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 보고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054645" y="3520440"/>
            <a:ext cx="1711909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8164373" y="3630168"/>
            <a:ext cx="149245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PMO가 통합 대시보드로 전 프로젝트의 일정·범위·자원 비교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10457917" y="2295144"/>
            <a:ext cx="658368" cy="658368"/>
          </a:xfrm>
          <a:prstGeom prst="ellipse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5676" y="2472903"/>
            <a:ext cx="302849" cy="302849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10915117" y="2203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900" dirty="0"/>
          </a:p>
        </p:txBody>
      </p:sp>
      <p:sp>
        <p:nvSpPr>
          <p:cNvPr id="49" name="Shape 41"/>
          <p:cNvSpPr/>
          <p:nvPr/>
        </p:nvSpPr>
        <p:spPr>
          <a:xfrm>
            <a:off x="10933405" y="2185416"/>
            <a:ext cx="274320" cy="274320"/>
          </a:xfrm>
          <a:prstGeom prst="ellipse">
            <a:avLst/>
          </a:prstGeom>
          <a:solidFill>
            <a:srgbClr val="21AD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10933405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950" dirty="0"/>
          </a:p>
        </p:txBody>
      </p:sp>
      <p:sp>
        <p:nvSpPr>
          <p:cNvPr id="51" name="Text 43"/>
          <p:cNvSpPr/>
          <p:nvPr/>
        </p:nvSpPr>
        <p:spPr>
          <a:xfrm>
            <a:off x="9931146" y="3081528"/>
            <a:ext cx="1711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변동</a:t>
            </a:r>
            <a:endParaRPr lang="en-US" sz="1500" dirty="0"/>
          </a:p>
        </p:txBody>
      </p:sp>
      <p:sp>
        <p:nvSpPr>
          <p:cNvPr id="52" name="Shape 44"/>
          <p:cNvSpPr/>
          <p:nvPr/>
        </p:nvSpPr>
        <p:spPr>
          <a:xfrm>
            <a:off x="9931146" y="3520440"/>
            <a:ext cx="1711909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10040874" y="3630168"/>
            <a:ext cx="149245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백오피스에서 팀·역할·스킬·권한 정비, 급여 정책 전환</a:t>
            </a:r>
            <a:endParaRPr lang="en-US" sz="1000" dirty="0"/>
          </a:p>
        </p:txBody>
      </p:sp>
      <p:sp>
        <p:nvSpPr>
          <p:cNvPr id="54" name="Shape 46"/>
          <p:cNvSpPr/>
          <p:nvPr/>
        </p:nvSpPr>
        <p:spPr>
          <a:xfrm>
            <a:off x="548640" y="5184648"/>
            <a:ext cx="11094415" cy="502920"/>
          </a:xfrm>
          <a:prstGeom prst="rect">
            <a:avLst/>
          </a:prstGeom>
          <a:solidFill>
            <a:srgbClr val="E9F7F4"/>
          </a:solidFill>
          <a:ln w="12700">
            <a:solidFill>
              <a:srgbClr val="E9F7F4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777240" y="5184648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기록이 없으면 투입 공수·가동률·완성률을 실제 업무량으로 해석할 수 없습니다. 워크로그 기록 습관이 정확도의 전제입니다.</a:t>
            </a:r>
            <a:endParaRPr lang="en-US" sz="1100" dirty="0"/>
          </a:p>
        </p:txBody>
      </p:sp>
      <p:pic>
        <p:nvPicPr>
          <p:cNvPr id="57" name="Image 6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59" name="Text 49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/ 45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  Moves Workforce란 · 화면 지도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여섯 개 메뉴에 모든 기능이 들어 있습니다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상단 앱 메뉴에서 열립니다. 접근 권한이 있는 항목만 사이드바에 나타납니다.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84248"/>
          <a:ext cx="53949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42316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메뉴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하는 일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필요 권한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My Work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 작업 현황 · 워크로그 기록 (기본 진입)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없음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마이페이지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 프로젝트·작업·권한·스킬, 팀장용 내 팀 분석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없음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통합 대시보드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전사 프로젝트 일정·범위·자원 비교 · 관계도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리포트 조회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프로젝트 관리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목록 · 칸반 → 상세(대시보드 · 인력 · 작업 · 분석)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없음 (상세는 조회 범위)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자원관리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인력 현황 · 조직 현황 · 팀 분석 · 프로젝트 배정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자원관리 조회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설정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근무 기준 · 인력 · 팀 · 역할 · 등급 · 스킬 · 권한 · 휴일 · 저장 공간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항목별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1938528"/>
            <a:ext cx="5379415" cy="28915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63640" y="1938528"/>
            <a:ext cx="5379415" cy="237744"/>
          </a:xfrm>
          <a:prstGeom prst="rect">
            <a:avLst/>
          </a:prstGeom>
          <a:solidFill>
            <a:srgbClr val="EDF2F1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73368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28816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84264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03720" y="1938528"/>
            <a:ext cx="4647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전체 화면</a:t>
            </a:r>
            <a:endParaRPr lang="en-US" sz="850" dirty="0"/>
          </a:p>
        </p:txBody>
      </p:sp>
      <p:pic>
        <p:nvPicPr>
          <p:cNvPr id="12" name="Image 0" descr="C:\CloudJira\moves-workforce\_workspace\product-intro-ppt\captures\app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2" y="2249424"/>
            <a:ext cx="5233111" cy="25075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63640" y="4884972"/>
            <a:ext cx="5379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화면 · 사이드바는 접기/펼치기 가능 · Jira 라이트/다크 테마 자동 적용</a:t>
            </a:r>
            <a:endParaRPr lang="en-US" sz="900" dirty="0"/>
          </a:p>
        </p:txBody>
      </p:sp>
      <p:pic>
        <p:nvPicPr>
          <p:cNvPr id="15" name="Image 1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 / 45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3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601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0" b="1" dirty="0">
                <a:solidFill>
                  <a:srgbClr val="1475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777240" y="3063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9319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워크로그 한 줄에서 전사 대시보드까지.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화면으로 16개 기능을 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818120" y="1188720"/>
            <a:ext cx="36576" cy="4754880"/>
          </a:xfrm>
          <a:prstGeom prst="rect">
            <a:avLst/>
          </a:prstGeom>
          <a:solidFill>
            <a:srgbClr val="1A9A90"/>
          </a:solidFill>
          <a:ln w="12700">
            <a:solidFill>
              <a:srgbClr val="1A9A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24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파트에서 다루는 내용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92440" y="1554480"/>
            <a:ext cx="3657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워크로그 기록 (My Work)</a:t>
            </a:r>
            <a:endParaRPr lang="en-US" sz="11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관리 · 칸반 · 스페이스 구독</a:t>
            </a:r>
            <a:endParaRPr lang="en-US" sz="11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관리 — 목록 · 트리 · 간트</a:t>
            </a:r>
            <a:endParaRPr lang="en-US" sz="11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간트 상세 — WBS · 선후행 · 폴더</a:t>
            </a:r>
            <a:endParaRPr lang="en-US" sz="11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진척률 — 완성 · 공수 · 일정</a:t>
            </a:r>
            <a:endParaRPr lang="en-US" sz="11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분석 — 초과율 · 예상 완료일</a:t>
            </a:r>
            <a:endParaRPr lang="en-US" sz="11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분석 — MD · MM · 가동률</a:t>
            </a:r>
            <a:endParaRPr lang="en-US" sz="11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— 계획 인건비 · 소진 추정</a:t>
            </a:r>
            <a:endParaRPr lang="en-US" sz="11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대시보드</a:t>
            </a:r>
            <a:endParaRPr lang="en-US" sz="11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안에서 작업 배정</a:t>
            </a:r>
            <a:endParaRPr lang="en-US" sz="11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현황 · 인력 상세</a:t>
            </a:r>
            <a:endParaRPr lang="en-US" sz="11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배정 · 관계도</a:t>
            </a:r>
            <a:endParaRPr lang="en-US" sz="11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현황 · 팀 분석</a:t>
            </a:r>
            <a:endParaRPr lang="en-US" sz="11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대시보드</a:t>
            </a:r>
            <a:endParaRPr lang="en-US" sz="11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마이페이지</a:t>
            </a:r>
            <a:endParaRPr lang="en-US" sz="1150" dirty="0"/>
          </a:p>
          <a:p>
            <a:pPr indent="0" marL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백오피스 설정</a:t>
            </a:r>
            <a:endParaRPr lang="en-US" sz="1150" dirty="0"/>
          </a:p>
        </p:txBody>
      </p:sp>
      <p:pic>
        <p:nvPicPr>
          <p:cNvPr id="9" name="Image 0" descr="C:\CloudJira\moves-workforce\_workspace\product-intro-ppt\assets\dmove_wor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72200"/>
            <a:ext cx="100584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 핵심 기능 · 01 워크로그 기록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지표의 원천 — 워크로그를 쉽게 기록합니다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 Work는 앱의 기본 진입 화면입니다. 기록이 쌓이는 만큼 공수·가동률·완성률이 정확해집니다.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6675120" cy="3774833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38528"/>
            <a:ext cx="6675120" cy="237744"/>
          </a:xfrm>
          <a:prstGeom prst="rect">
            <a:avLst/>
          </a:prstGeom>
          <a:solidFill>
            <a:srgbClr val="EDF2F1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938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 Work</a:t>
            </a:r>
            <a:endParaRPr lang="en-US" sz="850" dirty="0"/>
          </a:p>
        </p:txBody>
      </p:sp>
      <p:pic>
        <p:nvPicPr>
          <p:cNvPr id="11" name="Image 0" descr="C:\CloudJira\moves-workforce\_workspace\product-intro-ppt\captures\_cropped\my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249424"/>
            <a:ext cx="6528816" cy="339078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5768225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화면 · 상단 요약(처리율·투입 시간·참여 프로젝트) + 캘린더/테이블 뷰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498080" y="1938528"/>
            <a:ext cx="1737360" cy="2137094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98080" y="1938528"/>
            <a:ext cx="1737360" cy="237744"/>
          </a:xfrm>
          <a:prstGeom prst="rect">
            <a:avLst/>
          </a:prstGeom>
          <a:solidFill>
            <a:srgbClr val="EDF2F1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07808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63256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18704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38160" y="1938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워크로그 추가 모달</a:t>
            </a:r>
            <a:endParaRPr lang="en-US" sz="850" dirty="0"/>
          </a:p>
        </p:txBody>
      </p:sp>
      <p:pic>
        <p:nvPicPr>
          <p:cNvPr id="19" name="Image 1" descr="C:\CloudJira\moves-workforce\_workspace\product-intro-ppt\captures\worklog_mod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232" y="2249424"/>
            <a:ext cx="1591056" cy="1753046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9418320" y="1938528"/>
            <a:ext cx="2224735" cy="2148840"/>
          </a:xfrm>
          <a:prstGeom prst="rect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601200" y="2121408"/>
            <a:ext cx="1858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10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이중 입력 없음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9601200" y="2441448"/>
            <a:ext cx="18589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"내 작업"에서 기록하면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그대로 Jira 이슈의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워크로그가 됩니다.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Jira에서 기록해도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똑같이 집계됩니다.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7498080" y="4315968"/>
            <a:ext cx="41449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단건 시간 입력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이슈를 고르고 날짜·시간·내용을 적으면 Jira 워크로그로 저장</a:t>
            </a:r>
            <a:endParaRPr lang="en-US" sz="1050" dirty="0"/>
          </a:p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 일괄 입력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기간을 지정해 여러 날에 한 번에 기록. 실패한 항목은 남겨서 표시</a:t>
            </a:r>
            <a:endParaRPr lang="en-US" sz="1050" dirty="0"/>
          </a:p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캘린더 · 테이블 뷰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내 업무를 달력에서 보거나 표로 필터·정렬</a:t>
            </a:r>
            <a:endParaRPr lang="en-US" sz="1050" dirty="0"/>
          </a:p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상단 요약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처리율 · 투입 시간 · 참여 프로젝트를 한눈에</a:t>
            </a:r>
            <a:endParaRPr lang="en-US" sz="1050" dirty="0"/>
          </a:p>
        </p:txBody>
      </p:sp>
      <p:pic>
        <p:nvPicPr>
          <p:cNvPr id="25" name="Image 2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 / 45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 핵심 기능 · 02 프로젝트 관리 · 스페이스 구독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프로젝트를 만들고, 이슈는 자동으로 들어옵니다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스페이스를 구독하면 조건에 맞는 이슈가 프로젝트에 자동 편입됩니다. 이슈를 손으로 옮기지 않습니다.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5313128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38528"/>
            <a:ext cx="5313128" cy="237744"/>
          </a:xfrm>
          <a:prstGeom prst="rect">
            <a:avLst/>
          </a:prstGeom>
          <a:solidFill>
            <a:srgbClr val="EDF2F1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938528"/>
            <a:ext cx="4581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목록</a:t>
            </a:r>
            <a:endParaRPr lang="en-US" sz="850" dirty="0"/>
          </a:p>
        </p:txBody>
      </p:sp>
      <p:pic>
        <p:nvPicPr>
          <p:cNvPr id="11" name="Image 0" descr="C:\CloudJira\moves-workforce\_workspace\product-intro-ppt\captures\_cropped\project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249424"/>
            <a:ext cx="5166824" cy="2633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5010912"/>
            <a:ext cx="5313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화면 · 프로젝트 목록 (상태 · 기간 · 인원) — 칸반 탭에서 상태 이동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46520" y="1938528"/>
            <a:ext cx="2240280" cy="2424937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46520" y="1938528"/>
            <a:ext cx="2240280" cy="237744"/>
          </a:xfrm>
          <a:prstGeom prst="rect">
            <a:avLst/>
          </a:prstGeom>
          <a:solidFill>
            <a:srgbClr val="EDF2F1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56248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11696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67144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86600" y="19385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스페이스 구독 설정</a:t>
            </a:r>
            <a:endParaRPr lang="en-US" sz="850" dirty="0"/>
          </a:p>
        </p:txBody>
      </p:sp>
      <p:pic>
        <p:nvPicPr>
          <p:cNvPr id="19" name="Image 1" descr="C:\CloudJira\moves-workforce\_workspace\product-intro-ppt\captures\subscrip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249424"/>
            <a:ext cx="2093976" cy="204088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446520" y="4418329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구독 설정 모달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915400" y="1938528"/>
            <a:ext cx="272765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마스터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기간 · 상태 · 담당 팀 · 인력 명단 · 예산</a:t>
            </a:r>
            <a:endParaRPr lang="en-US" sz="1050" dirty="0"/>
          </a:p>
          <a:p>
            <a:pPr marL="165100" indent="-1651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칸반 보드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카드를 끌어 프로젝트 상태를 바꿉니다</a:t>
            </a:r>
            <a:endParaRPr lang="en-US" sz="1050" dirty="0"/>
          </a:p>
          <a:p>
            <a:pPr marL="165100" indent="-1651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스페이스 구독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생성 이벤트로 즉시 편입 + 시간별 정합성 검사가 누락 보완</a:t>
            </a:r>
            <a:endParaRPr lang="en-US" sz="1050" dirty="0"/>
          </a:p>
          <a:p>
            <a:pPr marL="165100" indent="-1651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이슈 가져오기 · 미리보기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구독 전 이슈까지 한 번에 편입, 조건 결과를 미리 확인</a:t>
            </a:r>
            <a:endParaRPr lang="en-US" sz="1050" dirty="0"/>
          </a:p>
          <a:p>
            <a:pPr marL="165100" indent="-1651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해제해도 유지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이미 편입된 이슈와 과거 집계는 그대로 남습니다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48640" y="5458968"/>
            <a:ext cx="2533574" cy="685800"/>
          </a:xfrm>
          <a:prstGeom prst="roundRect">
            <a:avLst>
              <a:gd name="adj" fmla="val 10667"/>
            </a:avLst>
          </a:prstGeom>
          <a:solidFill>
            <a:srgbClr val="E9F7F4"/>
          </a:solidFill>
          <a:ln w="12700">
            <a:solidFill>
              <a:srgbClr val="E9F7F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85800" y="5458968"/>
            <a:ext cx="2259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스페이스에 이슈 생성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109646" y="5801868"/>
            <a:ext cx="265176" cy="0"/>
          </a:xfrm>
          <a:prstGeom prst="line">
            <a:avLst/>
          </a:prstGeom>
          <a:noFill/>
          <a:ln w="25400">
            <a:solidFill>
              <a:srgbClr val="21ADAD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3402254" y="5458968"/>
            <a:ext cx="2533574" cy="685800"/>
          </a:xfrm>
          <a:prstGeom prst="roundRect">
            <a:avLst>
              <a:gd name="adj" fmla="val 10667"/>
            </a:avLst>
          </a:prstGeom>
          <a:solidFill>
            <a:srgbClr val="E9F7F4"/>
          </a:solidFill>
          <a:ln w="12700">
            <a:solidFill>
              <a:srgbClr val="E9F7F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539414" y="5458968"/>
            <a:ext cx="2259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 수신 → 즉시 편입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963260" y="5801868"/>
            <a:ext cx="265176" cy="0"/>
          </a:xfrm>
          <a:prstGeom prst="line">
            <a:avLst/>
          </a:prstGeom>
          <a:noFill/>
          <a:ln w="25400">
            <a:solidFill>
              <a:srgbClr val="21ADAD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6255868" y="5458968"/>
            <a:ext cx="2533574" cy="685800"/>
          </a:xfrm>
          <a:prstGeom prst="roundRect">
            <a:avLst>
              <a:gd name="adj" fmla="val 10667"/>
            </a:avLst>
          </a:prstGeom>
          <a:solidFill>
            <a:srgbClr val="E9F7F4"/>
          </a:solidFill>
          <a:ln w="12700">
            <a:solidFill>
              <a:srgbClr val="E9F7F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393028" y="5458968"/>
            <a:ext cx="2259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시간별 정합성 검사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8816873" y="5801868"/>
            <a:ext cx="265176" cy="0"/>
          </a:xfrm>
          <a:prstGeom prst="line">
            <a:avLst/>
          </a:prstGeom>
          <a:noFill/>
          <a:ln w="25400">
            <a:solidFill>
              <a:srgbClr val="21ADAD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9109481" y="5458968"/>
            <a:ext cx="2533574" cy="685800"/>
          </a:xfrm>
          <a:prstGeom prst="roundRect">
            <a:avLst>
              <a:gd name="adj" fmla="val 10667"/>
            </a:avLst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246641" y="5458968"/>
            <a:ext cx="2259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작업 목록 · 분석에 반영</a:t>
            </a:r>
            <a:endParaRPr lang="en-US" sz="1100" dirty="0"/>
          </a:p>
        </p:txBody>
      </p:sp>
      <p:pic>
        <p:nvPicPr>
          <p:cNvPr id="34" name="Image 2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 / 45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 핵심 기능 · 03 작업 관리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작업을 목록 · 트리 · 간트 세 가지 뷰로 봅니다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데이터는 하나, 보는 방식은 셋. 필터와 선택은 뷰 사이에서 공유됩니다.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3515258" cy="2372186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38528"/>
            <a:ext cx="3515258" cy="237744"/>
          </a:xfrm>
          <a:prstGeom prst="rect">
            <a:avLst/>
          </a:prstGeom>
          <a:solidFill>
            <a:srgbClr val="EDF2F1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938528"/>
            <a:ext cx="27837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관리 · 목록 뷰</a:t>
            </a:r>
            <a:endParaRPr lang="en-US" sz="850" dirty="0"/>
          </a:p>
        </p:txBody>
      </p:sp>
      <p:pic>
        <p:nvPicPr>
          <p:cNvPr id="11" name="Image 0" descr="C:\CloudJira\moves-workforce\_workspace\product-intro-ppt\captures\_cropped\work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249424"/>
            <a:ext cx="3368954" cy="198813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338218" y="1938528"/>
            <a:ext cx="3515258" cy="2114813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38218" y="1938528"/>
            <a:ext cx="3515258" cy="237744"/>
          </a:xfrm>
          <a:prstGeom prst="rect">
            <a:avLst/>
          </a:prstGeom>
          <a:solidFill>
            <a:srgbClr val="EDF2F1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47946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03394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58842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78298" y="1938528"/>
            <a:ext cx="27837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관리 · 트리 뷰</a:t>
            </a:r>
            <a:endParaRPr lang="en-US" sz="850" dirty="0"/>
          </a:p>
        </p:txBody>
      </p:sp>
      <p:pic>
        <p:nvPicPr>
          <p:cNvPr id="18" name="Image 1" descr="C:\CloudJira\moves-workforce\_workspace\product-intro-ppt\captures\_cropped\work_tr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370" y="2249424"/>
            <a:ext cx="3368954" cy="1730765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8127797" y="1938528"/>
            <a:ext cx="3515258" cy="20201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27797" y="1938528"/>
            <a:ext cx="3515258" cy="237744"/>
          </a:xfrm>
          <a:prstGeom prst="rect">
            <a:avLst/>
          </a:prstGeom>
          <a:solidFill>
            <a:srgbClr val="EDF2F1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237525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392973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548421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767877" y="1938528"/>
            <a:ext cx="27837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관리 · 간트 뷰</a:t>
            </a:r>
            <a:endParaRPr lang="en-US" sz="850" dirty="0"/>
          </a:p>
        </p:txBody>
      </p:sp>
      <p:pic>
        <p:nvPicPr>
          <p:cNvPr id="25" name="Image 2" descr="C:\CloudJira\moves-workforce\_workspace\product-intro-ppt\captures\gantt_cle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949" y="2249424"/>
            <a:ext cx="3368954" cy="1636116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48640" y="4773168"/>
            <a:ext cx="411480" cy="411480"/>
          </a:xfrm>
          <a:prstGeom prst="ellipse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40" y="4884268"/>
            <a:ext cx="189281" cy="18928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78992" y="479145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목록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548640" y="5276088"/>
            <a:ext cx="3515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 항목·상태·담당자·계획/실투입을 표로. 인라인 편집, 담당자·동료 지정, 이슈 타입 필터, 엑셀 내보내기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338218" y="4773168"/>
            <a:ext cx="411480" cy="411480"/>
          </a:xfrm>
          <a:prstGeom prst="ellipse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9318" y="4884268"/>
            <a:ext cx="189281" cy="189281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868570" y="479145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트리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4338218" y="5276088"/>
            <a:ext cx="3515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WBS 계층과 폴더로 작업 구조를 정리. 좌측 구조 / 우측 상세. 상위 지정·해제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8127797" y="4773168"/>
            <a:ext cx="411480" cy="411480"/>
          </a:xfrm>
          <a:prstGeom prst="ellipse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896" y="4884268"/>
            <a:ext cx="189281" cy="189281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658149" y="479145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간트</a:t>
            </a:r>
            <a:endParaRPr lang="en-US" sz="1500" dirty="0"/>
          </a:p>
        </p:txBody>
      </p:sp>
      <p:sp>
        <p:nvSpPr>
          <p:cNvPr id="37" name="Text 29"/>
          <p:cNvSpPr/>
          <p:nvPr/>
        </p:nvSpPr>
        <p:spPr>
          <a:xfrm>
            <a:off x="8127797" y="5276088"/>
            <a:ext cx="3515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날짜 축 위에 막대와 선후행 연결선. 드래그로 일정 조정, 일괄 적용·제외, 전체 화면</a:t>
            </a:r>
            <a:endParaRPr lang="en-US" sz="1050" dirty="0"/>
          </a:p>
        </p:txBody>
      </p:sp>
      <p:pic>
        <p:nvPicPr>
          <p:cNvPr id="39" name="Image 6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41" name="Text 31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 / 45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 핵심 기능 · 04 간트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계층과 선후행으로 작업 순서를 잡고, 막대를 끌어 일정을 조정합니다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선후행 관계는 Jira 네이티브 이슈 링크로, 계층은 상위 지정으로 저장됩니다 — 앱 전용 데이터에 갇히지 않습니다.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7545932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38528"/>
            <a:ext cx="7545932" cy="237744"/>
          </a:xfrm>
          <a:prstGeom prst="rect">
            <a:avLst/>
          </a:prstGeom>
          <a:solidFill>
            <a:srgbClr val="EDF2F1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938528"/>
            <a:ext cx="68144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관리 · 간트 뷰</a:t>
            </a:r>
            <a:endParaRPr lang="en-US" sz="850" dirty="0"/>
          </a:p>
        </p:txBody>
      </p:sp>
      <p:pic>
        <p:nvPicPr>
          <p:cNvPr id="11" name="Image 0" descr="C:\CloudJira\moves-workforce\_workspace\product-intro-ppt\captures\gantt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249424"/>
            <a:ext cx="7399628" cy="35935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5971032"/>
            <a:ext cx="75459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화면 · 데모 데이터 · ① 폴더 계층  ② 선후행 연결선  ③ 프로젝트 시작·종료 마커  ④ 오늘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964558" y="2974726"/>
            <a:ext cx="274320" cy="274320"/>
          </a:xfrm>
          <a:prstGeom prst="ellipse">
            <a:avLst/>
          </a:prstGeom>
          <a:solidFill>
            <a:srgbClr val="103F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964558" y="297472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05385" y="3944996"/>
            <a:ext cx="274320" cy="274320"/>
          </a:xfrm>
          <a:prstGeom prst="ellipse">
            <a:avLst/>
          </a:prstGeom>
          <a:solidFill>
            <a:srgbClr val="103F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405385" y="39449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997355" y="3226278"/>
            <a:ext cx="274320" cy="274320"/>
          </a:xfrm>
          <a:prstGeom prst="ellipse">
            <a:avLst/>
          </a:prstGeom>
          <a:solidFill>
            <a:srgbClr val="103F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997355" y="32262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737318" y="3226278"/>
            <a:ext cx="274320" cy="274320"/>
          </a:xfrm>
          <a:prstGeom prst="ellipse">
            <a:avLst/>
          </a:prstGeom>
          <a:solidFill>
            <a:srgbClr val="103F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737318" y="32262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686800" y="205740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06840" y="1938528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폴더 · WBS 계층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006840" y="2231136"/>
            <a:ext cx="2636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폴더로 묶고 상위 이슈를 지정합니다. 폴더 막대에는 하위 이슈의 진척이 공수 비중대로 합쳐져 보입니다.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686800" y="306324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006840" y="2944368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선후행 연결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006840" y="3236976"/>
            <a:ext cx="2636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막대 끝을 이어 선후행을 만듭니다. Jira 이슈 링크로 저장돼 Jira에서도 그대로 보입니다.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686800" y="406908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006840" y="3950208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 일정 조정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006840" y="4242816"/>
            <a:ext cx="2636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막대를 옮기거나 늘리면 이슈 시작일·기한에 반영됩니다. 일괄 적용·제외 지원.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686800" y="507492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006840" y="4956048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필터 · 전체 화면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006840" y="5248656"/>
            <a:ext cx="2636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담당자·상태·이슈 타입 필터, 일/주/월 스케일, 전체 화면.</a:t>
            </a:r>
            <a:endParaRPr lang="en-US" sz="1000" dirty="0"/>
          </a:p>
        </p:txBody>
      </p:sp>
      <p:pic>
        <p:nvPicPr>
          <p:cNvPr id="34" name="Image 1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36" name="Text 31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 / 45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 핵심 기능 · 05 진척률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 · 공수 · 일정을 따로 재고, 그 차이로 지연을 판단합니다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헤더의 차이(완성률 − 일정률)가 이 화면의 단일 핵심 신호입니다. 음수면 지연, 양수면 선행.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5752087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38528"/>
            <a:ext cx="5752087" cy="237744"/>
          </a:xfrm>
          <a:prstGeom prst="rect">
            <a:avLst/>
          </a:prstGeom>
          <a:solidFill>
            <a:srgbClr val="EDF2F1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938528"/>
            <a:ext cx="50205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진척률</a:t>
            </a:r>
            <a:endParaRPr lang="en-US" sz="850" dirty="0"/>
          </a:p>
        </p:txBody>
      </p:sp>
      <p:pic>
        <p:nvPicPr>
          <p:cNvPr id="11" name="Image 0" descr="C:\CloudJira\moves-workforce\_workspace\product-intro-ppt\captures\_cropped\prog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249424"/>
            <a:ext cx="5605783" cy="30449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5422392"/>
            <a:ext cx="57520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화면 · 데모 데이터 · ① 차이(완성 − 일정)  ② 계획선 아래로 처진 실적  ③ 세 지표를 같은 축에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035263" y="3284571"/>
            <a:ext cx="274320" cy="274320"/>
          </a:xfrm>
          <a:prstGeom prst="ellipse">
            <a:avLst/>
          </a:prstGeom>
          <a:solidFill>
            <a:srgbClr val="103F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035263" y="328457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334541" y="4548226"/>
            <a:ext cx="274320" cy="274320"/>
          </a:xfrm>
          <a:prstGeom prst="ellipse">
            <a:avLst/>
          </a:prstGeom>
          <a:solidFill>
            <a:srgbClr val="103F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334541" y="454822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88970" y="4487327"/>
            <a:ext cx="274320" cy="274320"/>
          </a:xfrm>
          <a:prstGeom prst="ellipse">
            <a:avLst/>
          </a:prstGeom>
          <a:solidFill>
            <a:srgbClr val="103F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688970" y="44873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915400" y="1938528"/>
            <a:ext cx="2727655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915400" y="1938528"/>
            <a:ext cx="91440" cy="7315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0" y="2011680"/>
            <a:ext cx="2361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 진척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144000" y="2304288"/>
            <a:ext cx="2361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얼마나 끝났나  ·  Σ(진행률×계획) ÷ Σ계획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915400" y="2779776"/>
            <a:ext cx="2727655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915400" y="2779776"/>
            <a:ext cx="91440" cy="731520"/>
          </a:xfrm>
          <a:prstGeom prst="rect">
            <a:avLst/>
          </a:prstGeom>
          <a:solidFill>
            <a:srgbClr val="E39B2C"/>
          </a:solidFill>
          <a:ln w="12700">
            <a:solidFill>
              <a:srgbClr val="E39B2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0" y="2852928"/>
            <a:ext cx="2361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공수 진척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144000" y="3145536"/>
            <a:ext cx="2361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얼마나 일했나  ·  실투입 누적 ÷ 계획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915400" y="3621024"/>
            <a:ext cx="2727655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915400" y="3621024"/>
            <a:ext cx="91440" cy="731520"/>
          </a:xfrm>
          <a:prstGeom prst="rect">
            <a:avLst/>
          </a:prstGeom>
          <a:solidFill>
            <a:srgbClr val="6B7A78"/>
          </a:solidFill>
          <a:ln w="12700">
            <a:solidFill>
              <a:srgbClr val="6B7A7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0" y="3694176"/>
            <a:ext cx="2361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진척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144000" y="3986784"/>
            <a:ext cx="2361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시간이 얼마나 흘렀나  ·  경과 근무일 ÷ 전체 근무일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915400" y="4544568"/>
            <a:ext cx="27276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확정 지연(회고)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완료 이슈의 실적일 − 기한 평균</a:t>
            </a:r>
            <a:endParaRPr lang="en-US" sz="1000" dirty="0"/>
          </a:p>
          <a:p>
            <a:pPr marL="165100" indent="-1651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지연(예보)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남은 공수 추세로 본 예상 완료일 − 종료 예정일 (낙관 근사)</a:t>
            </a:r>
            <a:endParaRPr lang="en-US" sz="1000" dirty="0"/>
          </a:p>
          <a:p>
            <a:pPr marL="165100" indent="-1651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지연·위험 이슈 표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기한 초과 미완료, 공수 편차 큰 이슈를 우선순위로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48640" y="5733288"/>
            <a:ext cx="11094415" cy="457200"/>
          </a:xfrm>
          <a:prstGeom prst="rect">
            <a:avLst/>
          </a:prstGeom>
          <a:solidFill>
            <a:srgbClr val="E9F7F4"/>
          </a:solidFill>
          <a:ln w="12700">
            <a:solidFill>
              <a:srgbClr val="E9F7F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31520" y="5733288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 진척은 진행 중 이슈의 공수 비율 근사를 포함합니다 · 상태 판정 임계치(기본 5%p)는 설정에서 조정 · 계획 공수(Jira 이슈의 초기 추정치)가 입력돼 있어야 계산됩니다</a:t>
            </a:r>
            <a:endParaRPr lang="en-US" sz="950" dirty="0"/>
          </a:p>
        </p:txBody>
      </p:sp>
      <p:pic>
        <p:nvPicPr>
          <p:cNvPr id="35" name="Image 1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 / 45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 핵심 기능 · 06 작업 분석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이 작업만 오래 걸리는지, 계획 대비 실투입으로 찾아냅니다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 공수(Jira 이슈의 초기 추정치) 대비 실투입 MD를 이슈별로 비교하고, 초과율 배지로 공수 블랙홀을 먼저 띄웁니다.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7589520" cy="3575898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38528"/>
            <a:ext cx="7589520" cy="237744"/>
          </a:xfrm>
          <a:prstGeom prst="rect">
            <a:avLst/>
          </a:prstGeom>
          <a:solidFill>
            <a:srgbClr val="EDF2F1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93852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분석</a:t>
            </a:r>
            <a:endParaRPr lang="en-US" sz="850" dirty="0"/>
          </a:p>
        </p:txBody>
      </p:sp>
      <p:pic>
        <p:nvPicPr>
          <p:cNvPr id="11" name="Image 0" descr="C:\CloudJira\moves-workforce\_workspace\product-intro-ppt\captures\_cropped\issue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249424"/>
            <a:ext cx="7443216" cy="31918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556929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화면 · 이슈 테이블 — 계획 작업량 · 예측 종료일 · 실제 작업량(진행 바 + 초과율 배지) · 완료 이슈의 편차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412480" y="1938528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초과율로 위험을 읽습니다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412480" y="2304288"/>
            <a:ext cx="146304" cy="329184"/>
          </a:xfrm>
          <a:prstGeom prst="roundRect">
            <a:avLst>
              <a:gd name="adj" fmla="val 25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0" y="23042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9E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≤ 100%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784080" y="2304288"/>
            <a:ext cx="1858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 이내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412480" y="2761488"/>
            <a:ext cx="146304" cy="329184"/>
          </a:xfrm>
          <a:prstGeom prst="roundRect">
            <a:avLst>
              <a:gd name="adj" fmla="val 25000"/>
            </a:avLst>
          </a:prstGeom>
          <a:solidFill>
            <a:srgbClr val="E39B2C"/>
          </a:solidFill>
          <a:ln w="12700">
            <a:solidFill>
              <a:srgbClr val="E39B2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0" y="27614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39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 ~ 130%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784080" y="2761488"/>
            <a:ext cx="1858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초과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412480" y="3218688"/>
            <a:ext cx="146304" cy="329184"/>
          </a:xfrm>
          <a:prstGeom prst="roundRect">
            <a:avLst>
              <a:gd name="adj" fmla="val 25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86800" y="32186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D645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130% ↑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9784080" y="3218688"/>
            <a:ext cx="1858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심한 초과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412480" y="3813048"/>
            <a:ext cx="32305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공수 블랙홀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빨간 막대·큰 +편차 이슈는 비효율 또는 범위 누락(scope creep) 후보</a:t>
            </a:r>
            <a:endParaRPr lang="en-US" sz="1000" dirty="0"/>
          </a:p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완료일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남은 공수 추세로 계산해 기한 초과를 먼저 발견</a:t>
            </a:r>
            <a:endParaRPr lang="en-US" sz="1000" dirty="0"/>
          </a:p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회고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편차 컬럼으로 끝난 이슈의 계획 정확도 검증</a:t>
            </a:r>
            <a:endParaRPr lang="en-US" sz="1000" dirty="0"/>
          </a:p>
          <a:p>
            <a:pPr marL="165100" indent="-165100">
              <a:lnSpc>
                <a:spcPct val="11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 클릭 → 누적 S-curve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실제 누적 vs 이상적 계획선 + 워크로그 원본으로 "언제 누가 얼마나"</a:t>
            </a:r>
            <a:endParaRPr lang="en-US" sz="1000" dirty="0"/>
          </a:p>
        </p:txBody>
      </p:sp>
      <p:pic>
        <p:nvPicPr>
          <p:cNvPr id="25" name="Image 1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 / 45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 핵심 기능 · 07 인력 분석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일할 수 있었던 시간과 기록된 시간을 비교합니다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가동률의 분모는 근무일에서 연차·공휴일을 뺀 실효 가용 MD입니다. 휴가자가 "일 안 한 사람"으로 과소평가되지 않습니다.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5229835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38528"/>
            <a:ext cx="5229835" cy="237744"/>
          </a:xfrm>
          <a:prstGeom prst="rect">
            <a:avLst/>
          </a:prstGeom>
          <a:solidFill>
            <a:srgbClr val="EDF2F1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938528"/>
            <a:ext cx="44983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분석</a:t>
            </a:r>
            <a:endParaRPr lang="en-US" sz="850" dirty="0"/>
          </a:p>
        </p:txBody>
      </p:sp>
      <p:pic>
        <p:nvPicPr>
          <p:cNvPr id="11" name="Image 0" descr="C:\CloudJira\moves-workforce\_workspace\product-intro-ppt\captures\_cropped\resource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249424"/>
            <a:ext cx="5083531" cy="36393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6016752"/>
            <a:ext cx="52298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화면 · 기준값(1MD=8h · 1MM=이번 달 근무일) · 실효 가용 MD(연차 차감 내역) · 가동률 바 · 인별/팀별 전환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98515" y="1938528"/>
            <a:ext cx="5544540" cy="1051560"/>
          </a:xfrm>
          <a:prstGeom prst="rect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81395" y="2029968"/>
            <a:ext cx="5178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가동률(%)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81395" y="2304288"/>
            <a:ext cx="51787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 투입 MD ÷ 실효 가용 MD × 100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281395" y="2624328"/>
            <a:ext cx="5178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실효 가용 MD = 근무일 − 연차 − 공휴일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098515" y="3172968"/>
            <a:ext cx="554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가동률 구간 색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098515" y="3547872"/>
            <a:ext cx="146304" cy="237744"/>
          </a:xfrm>
          <a:prstGeom prst="roundRect">
            <a:avLst>
              <a:gd name="adj" fmla="val 25000"/>
            </a:avLst>
          </a:prstGeom>
          <a:solidFill>
            <a:srgbClr val="A0ADAB"/>
          </a:solidFill>
          <a:ln w="12700">
            <a:solidFill>
              <a:srgbClr val="A0ADA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72835" y="34930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A0AD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&lt; 50%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424395" y="3493008"/>
            <a:ext cx="4218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저활용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98515" y="3895344"/>
            <a:ext cx="146304" cy="237744"/>
          </a:xfrm>
          <a:prstGeom prst="roundRect">
            <a:avLst>
              <a:gd name="adj" fmla="val 25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72835" y="38404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E9E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 ~ 80%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424395" y="3840480"/>
            <a:ext cx="4218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여유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98515" y="4242816"/>
            <a:ext cx="146304" cy="237744"/>
          </a:xfrm>
          <a:prstGeom prst="roundRect">
            <a:avLst>
              <a:gd name="adj" fmla="val 25000"/>
            </a:avLst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72835" y="41879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F6FD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 ~ 100%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424395" y="4187952"/>
            <a:ext cx="4218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적정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098515" y="4590288"/>
            <a:ext cx="146304" cy="237744"/>
          </a:xfrm>
          <a:prstGeom prst="roundRect">
            <a:avLst>
              <a:gd name="adj" fmla="val 25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72835" y="45354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645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&gt; 100%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424395" y="4535424"/>
            <a:ext cx="4218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과부하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098515" y="4956048"/>
            <a:ext cx="55445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MM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총 MD ÷ 그 달 근무일 — 인월 정산 근거</a:t>
            </a:r>
            <a:endParaRPr lang="en-US" sz="1000" dirty="0"/>
          </a:p>
          <a:p>
            <a:pPr marL="165100" indent="-1651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팀별 가동률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Σ투입MD ÷ Σ가용MD (단순 평균 아님)</a:t>
            </a:r>
            <a:endParaRPr lang="en-US" sz="1000" dirty="0"/>
          </a:p>
          <a:p>
            <a:pPr marL="165100" indent="-1651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멤버 클릭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일/주/월 추이 + 1MM 기준선 + 워크로그 원본</a:t>
            </a:r>
            <a:endParaRPr lang="en-US" sz="1000" dirty="0"/>
          </a:p>
        </p:txBody>
      </p:sp>
      <p:pic>
        <p:nvPicPr>
          <p:cNvPr id="32" name="Image 1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 / 45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 핵심 기능 · 08 비용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 인건비와 일정 기준 소진 추정을 확인합니다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급여 정책(인원별 또는 등급 기준)을 바탕으로 인건비를 계산합니다. 실제 지급액·회계 지출·확정 원가가 아닙니다.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5437303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38528"/>
            <a:ext cx="5437303" cy="237744"/>
          </a:xfrm>
          <a:prstGeom prst="rect">
            <a:avLst/>
          </a:prstGeom>
          <a:solidFill>
            <a:srgbClr val="EDF2F1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938528"/>
            <a:ext cx="47057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분석 (데모 급여)</a:t>
            </a:r>
            <a:endParaRPr lang="en-US" sz="850" dirty="0"/>
          </a:p>
        </p:txBody>
      </p:sp>
      <p:pic>
        <p:nvPicPr>
          <p:cNvPr id="11" name="Image 0" descr="C:\CloudJira\moves-workforce\_workspace\product-intro-ppt\captures\_cropped\c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249424"/>
            <a:ext cx="5290999" cy="37307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6108192"/>
            <a:ext cx="5437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데모 화면 · 가상 인물 · 가상 급여 — 실제 고객 화면은 이름·금액 등 민감정보를 제거합니다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305983" y="1938528"/>
            <a:ext cx="533707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05983" y="1938528"/>
            <a:ext cx="91440" cy="749808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34583" y="2029968"/>
            <a:ext cx="4971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 인건비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534583" y="2322576"/>
            <a:ext cx="4971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프로젝트에 적용되는 유효 투입급여 합산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305983" y="2807208"/>
            <a:ext cx="533707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05983" y="2807208"/>
            <a:ext cx="91440" cy="749808"/>
          </a:xfrm>
          <a:prstGeom prst="rect">
            <a:avLst/>
          </a:prstGeom>
          <a:solidFill>
            <a:srgbClr val="E39B2C"/>
          </a:solidFill>
          <a:ln w="12700">
            <a:solidFill>
              <a:srgbClr val="E39B2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34583" y="2898648"/>
            <a:ext cx="4971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소진 비용 (추정)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534583" y="3191256"/>
            <a:ext cx="4971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 인건비를 지금까지 지난 일정 비율만큼 나눈 추정값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305983" y="3675888"/>
            <a:ext cx="533707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05983" y="3675888"/>
            <a:ext cx="91440" cy="749808"/>
          </a:xfrm>
          <a:prstGeom prst="rect">
            <a:avLst/>
          </a:prstGeom>
          <a:solidFill>
            <a:srgbClr val="14756E"/>
          </a:solidFill>
          <a:ln w="12700">
            <a:solidFill>
              <a:srgbClr val="14756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34583" y="3767328"/>
            <a:ext cx="4971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이슈별 비용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534583" y="4059936"/>
            <a:ext cx="4971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인원별 소진 추정액을 워크로그 시간 비중대로 나눔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305983" y="4544568"/>
            <a:ext cx="5337072" cy="868680"/>
          </a:xfrm>
          <a:prstGeom prst="rect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863" y="4700016"/>
            <a:ext cx="320040" cy="32004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946063" y="4544568"/>
            <a:ext cx="4559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비용·급여는 별도의 비용 열람 권한이 있어야 열립니다.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권한이 없으면 카드 자체가 보이지 않습니다.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305983" y="5486400"/>
            <a:ext cx="5337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급여 정책: 인원별(투입 급여 또는 연봉 월 환산) / 등급 기준(등급 대표값 월 환산)</a:t>
            </a:r>
            <a:endParaRPr lang="en-US" sz="900" dirty="0"/>
          </a:p>
          <a:p>
            <a:pPr marL="165100" indent="-165100">
              <a:lnSpc>
                <a:spcPct val="118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미산정 인원 표시로 설정 누락(급여·등급 없음)을 점검</a:t>
            </a:r>
            <a:endParaRPr lang="en-US" sz="900" dirty="0"/>
          </a:p>
          <a:p>
            <a:pPr marL="165100" indent="-165100">
              <a:lnSpc>
                <a:spcPct val="118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 초과 예보: 지금 속도면 끝날 때 총 인건비가 얼마일지 추정, 월별 소진 추이</a:t>
            </a:r>
            <a:endParaRPr lang="en-US" sz="900" dirty="0"/>
          </a:p>
          <a:p>
            <a:pPr marL="165100" indent="-165100">
              <a:lnSpc>
                <a:spcPct val="118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마스터의 예산과 여기서 계산하는 인건비는 다른 값</a:t>
            </a:r>
            <a:endParaRPr lang="en-US" sz="900" dirty="0"/>
          </a:p>
        </p:txBody>
      </p:sp>
      <p:pic>
        <p:nvPicPr>
          <p:cNvPr id="30" name="Image 2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 / 45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 핵심 기능 · 09 프로젝트 대시보드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하나를 위젯으로 조망합니다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작업·인력·비용 위젯을 그리드에 자유롭게 배치하고, 위젯마다 필터를 저장합니다.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5373736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38528"/>
            <a:ext cx="5373736" cy="237744"/>
          </a:xfrm>
          <a:prstGeom prst="rect">
            <a:avLst/>
          </a:prstGeom>
          <a:solidFill>
            <a:srgbClr val="EDF2F1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938528"/>
            <a:ext cx="464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대시보드</a:t>
            </a:r>
            <a:endParaRPr lang="en-US" sz="850" dirty="0"/>
          </a:p>
        </p:txBody>
      </p:sp>
      <p:pic>
        <p:nvPicPr>
          <p:cNvPr id="11" name="Image 0" descr="C:\CloudJira\moves-workforce\_workspace\product-intro-ppt\captures\_cropped\project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249424"/>
            <a:ext cx="5227432" cy="36393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6016752"/>
            <a:ext cx="5373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화면 · 드래그로 위젯 배치 · 위젯별 필터 저장 · 차트 ↔ 표 전환 · 전체 화면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42416" y="205740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62456" y="1938528"/>
            <a:ext cx="50805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위젯 그리드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62456" y="2231136"/>
            <a:ext cx="50805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상태 분포, 인력 투입, 계획 대비 실적, 주간 공수, 일정 등 위젯을 추가·배치합니다.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42416" y="306324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62456" y="2944368"/>
            <a:ext cx="50805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위젯별 필터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62456" y="3236976"/>
            <a:ext cx="50805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담당자·상태·이슈 타입 필터를 위젯 단위로 저장·편집합니다.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42416" y="406908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62456" y="3950208"/>
            <a:ext cx="50805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차트 ↔ 표 · 전체 화면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62456" y="4242816"/>
            <a:ext cx="50805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차트 위젯은 표 보기와 펼치기를 제공합니다.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242416" y="507492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62456" y="4956048"/>
            <a:ext cx="50805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인건비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562456" y="5248656"/>
            <a:ext cx="50805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열람 권한이 있는 사람에게만 표시됩니다.</a:t>
            </a:r>
            <a:endParaRPr lang="en-US" sz="1000" dirty="0"/>
          </a:p>
        </p:txBody>
      </p:sp>
      <p:pic>
        <p:nvPicPr>
          <p:cNvPr id="26" name="Image 1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 / 45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 핵심 기능 · 10 프로젝트 안에서 작업 배정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작업을 누구에게 맡길지, 부하와 스킬을 보고 정합니다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상세 &gt; 인력 &gt; 작업 배정. 프로젝트 안의 부하와 전사 부하를 한 행에 나란히 놓습니다.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7589520" cy="3837086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38528"/>
            <a:ext cx="7589520" cy="237744"/>
          </a:xfrm>
          <a:prstGeom prst="rect">
            <a:avLst/>
          </a:prstGeom>
          <a:solidFill>
            <a:srgbClr val="EDF2F1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93852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상세 · 작업 배정</a:t>
            </a:r>
            <a:endParaRPr lang="en-US" sz="850" dirty="0"/>
          </a:p>
        </p:txBody>
      </p:sp>
      <p:pic>
        <p:nvPicPr>
          <p:cNvPr id="11" name="Image 0" descr="C:\CloudJira\moves-workforce\_workspace\product-intro-ppt\captures\work_assign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249424"/>
            <a:ext cx="7443216" cy="345303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5830478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화면 · 데모 데이터 · ① 배정할 작업(미배정 · 마감 임박 · 지연 필터)  ② 프로젝트 안 부하  ③ 전사 부하  ④ 담당자 지정 · 협업자 추가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675547" y="3372623"/>
            <a:ext cx="274320" cy="274320"/>
          </a:xfrm>
          <a:prstGeom prst="ellipse">
            <a:avLst/>
          </a:prstGeom>
          <a:solidFill>
            <a:srgbClr val="103F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675547" y="33726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62210" y="3338093"/>
            <a:ext cx="274320" cy="274320"/>
          </a:xfrm>
          <a:prstGeom prst="ellipse">
            <a:avLst/>
          </a:prstGeom>
          <a:solidFill>
            <a:srgbClr val="103F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062210" y="33380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67044" y="3338093"/>
            <a:ext cx="274320" cy="274320"/>
          </a:xfrm>
          <a:prstGeom prst="ellipse">
            <a:avLst/>
          </a:prstGeom>
          <a:solidFill>
            <a:srgbClr val="103F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067044" y="33380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774150" y="3597070"/>
            <a:ext cx="274320" cy="274320"/>
          </a:xfrm>
          <a:prstGeom prst="ellipse">
            <a:avLst/>
          </a:prstGeom>
          <a:solidFill>
            <a:srgbClr val="103F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774150" y="359707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412480" y="205740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32520" y="1938528"/>
            <a:ext cx="2910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왼쪽: 배정할 작업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732520" y="2231136"/>
            <a:ext cx="2910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프로젝트의 열린 작업을 미배정 → 임박 → 지연 순으로. 스페이스 필터와 검색으로 좁힙니다.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412480" y="306324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732520" y="2944368"/>
            <a:ext cx="2910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오른쪽: 후보 인원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732520" y="3236976"/>
            <a:ext cx="2910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인력이 기본, 필요하면 전사 인력 풀까지 펼칩니다. 스킬 적합도와 현재 부하를 한 행에서 봅니다.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412480" y="406908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732520" y="3950208"/>
            <a:ext cx="2910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안 ↔ 밖을 나란히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732520" y="4242816"/>
            <a:ext cx="2910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 프로젝트만 보면 여유인데 다른 프로젝트에서 과부하"인 사람을 배정 전에 잡아냅니다.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8412480" y="507492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732520" y="4956048"/>
            <a:ext cx="2910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자리에서 배정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732520" y="5248656"/>
            <a:ext cx="2910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담당자·동료를 지정합니다. 배정할 작업이 없으면 프로젝트 인력으로만 추가할 수도 있습니다.</a:t>
            </a:r>
            <a:endParaRPr lang="en-US" sz="950" dirty="0"/>
          </a:p>
        </p:txBody>
      </p:sp>
      <p:pic>
        <p:nvPicPr>
          <p:cNvPr id="34" name="Image 1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36" name="Text 31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 / 45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 핵심 기능 · 11 인력 현황 · 인력 상세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누가 여유이고 누가 과부하인지, 스킬과 함께 한 화면에서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자원관리는 프로젝트 하나가 아니라 조직 전체 관점에서 사람을 봅니다. 보이는 범위는 권한이 정합니다.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7234941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38528"/>
            <a:ext cx="7234941" cy="237744"/>
          </a:xfrm>
          <a:prstGeom prst="rect">
            <a:avLst/>
          </a:prstGeom>
          <a:solidFill>
            <a:srgbClr val="EDF2F1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938528"/>
            <a:ext cx="65034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자원관리 · 인력 현황 + 인력 상세</a:t>
            </a:r>
            <a:endParaRPr lang="en-US" sz="850" dirty="0"/>
          </a:p>
        </p:txBody>
      </p:sp>
      <p:pic>
        <p:nvPicPr>
          <p:cNvPr id="11" name="Image 0" descr="C:\CloudJira\moves-workforce\_workspace\product-intro-ppt\captures\_cropped\resource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249424"/>
            <a:ext cx="7088637" cy="36393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6016752"/>
            <a:ext cx="72349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화면 · 인력 현황 목록(상단 요약: 총원 · 여유 · 적정 · 과부하)에서 행을 누르면 오른쪽에 인력 상세 패널이 열립니다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412480" y="1938528"/>
            <a:ext cx="323057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카드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총 인원 · 여유 · 적정 · 과부하와 마지막 집계 시각</a:t>
            </a:r>
            <a:endParaRPr lang="en-US" sz="1000" dirty="0"/>
          </a:p>
          <a:p>
            <a:pPr marL="165100" indent="-1651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가동률 구간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여유 / 적정 / 과부하 주의 / 과부하 / 실적 없음</a:t>
            </a:r>
            <a:endParaRPr lang="en-US" sz="1000" dirty="0"/>
          </a:p>
          <a:p>
            <a:pPr marL="165100" indent="-1651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완수율 · 작업량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완수율 = 소비 ÷ (소비 + 남은), 처리 · 남은 · 할당 작업량</a:t>
            </a:r>
            <a:endParaRPr lang="en-US" sz="1000" dirty="0"/>
          </a:p>
          <a:p>
            <a:pPr marL="165100" indent="-1651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필터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스킬 · 직무 · 등급 · 팀 · 직군 · 투입 가능 인원만</a:t>
            </a:r>
            <a:endParaRPr lang="en-US" sz="1000" dirty="0"/>
          </a:p>
          <a:p>
            <a:pPr marL="165100" indent="-1651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상세 패널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부하 · 진행 중 작업(내 몫) · 보유 스킬 · 프로젝트 참여 이력, 스킬 편집</a:t>
            </a:r>
            <a:endParaRPr lang="en-US" sz="1000" dirty="0"/>
          </a:p>
        </p:txBody>
      </p:sp>
      <p:pic>
        <p:nvPicPr>
          <p:cNvPr id="15" name="Image 1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 / 45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 핵심 기능 · 12 프로젝트 배정 · 관계도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스킬 적합도와 부하 신호를 함께 보고, 그 자리에서 배정합니다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프로젝트의 미배정·임박·지연 작업 수를 왼쪽에, 전사 인력 후보를 오른쪽에 놓고 비교합니다.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7589520" cy="38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38528"/>
            <a:ext cx="7589520" cy="237744"/>
          </a:xfrm>
          <a:prstGeom prst="rect">
            <a:avLst/>
          </a:prstGeom>
          <a:solidFill>
            <a:srgbClr val="EDF2F1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93852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자원관리 · 프로젝트 배정</a:t>
            </a:r>
            <a:endParaRPr lang="en-US" sz="850" dirty="0"/>
          </a:p>
        </p:txBody>
      </p:sp>
      <p:pic>
        <p:nvPicPr>
          <p:cNvPr id="11" name="Image 0" descr="C:\CloudJira\moves-workforce\_workspace\product-intro-ppt\captures\_cropped\assign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249424"/>
            <a:ext cx="7443216" cy="343502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5812464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화면 · 좌 프로젝트 카드(D-day · 미배정 · 임박 · 지연) + 작업 현황 + 우 전사 인력(가동률 · 작업량 · 스킬 · 적합도 · 배정)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412480" y="1938528"/>
            <a:ext cx="3230575" cy="14179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412480" y="1938528"/>
            <a:ext cx="3230575" cy="237744"/>
          </a:xfrm>
          <a:prstGeom prst="rect">
            <a:avLst/>
          </a:prstGeom>
          <a:solidFill>
            <a:srgbClr val="EDF2F1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22208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77656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833104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52560" y="1938528"/>
            <a:ext cx="2499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배정 관계도</a:t>
            </a:r>
            <a:endParaRPr lang="en-US" sz="850" dirty="0"/>
          </a:p>
        </p:txBody>
      </p:sp>
      <p:pic>
        <p:nvPicPr>
          <p:cNvPr id="19" name="Image 1" descr="C:\CloudJira\moves-workforce\_workspace\product-intro-ppt\captures\assignment_grap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2" y="2249424"/>
            <a:ext cx="3084271" cy="103389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412480" y="3411332"/>
            <a:ext cx="32305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– 팀 – 담당자 관계도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412480" y="3858768"/>
            <a:ext cx="323057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적합도</a:t>
            </a:r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프로젝트에 필요한 스킬 대비 보유 스킬</a:t>
            </a:r>
            <a:endParaRPr lang="en-US" sz="950" dirty="0"/>
          </a:p>
          <a:p>
            <a:pPr marL="165100" indent="-1651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부하 신호</a:t>
            </a:r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가동률 · 진행 중 작업 기준 여유/과부하</a:t>
            </a:r>
            <a:endParaRPr lang="en-US" sz="950" dirty="0"/>
          </a:p>
          <a:p>
            <a:pPr marL="165100" indent="-1651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배정 실행</a:t>
            </a:r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작업을 골라 담당 지정, 또는 프로젝트 인력으로만</a:t>
            </a:r>
            <a:endParaRPr lang="en-US" sz="950" dirty="0"/>
          </a:p>
          <a:p>
            <a:pPr marL="165100" indent="-1651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전체 배정</a:t>
            </a:r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이미 배정된 인원은 자동 제외</a:t>
            </a:r>
            <a:endParaRPr lang="en-US" sz="950" dirty="0"/>
          </a:p>
          <a:p>
            <a:pPr marL="165100" indent="-1651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 정보</a:t>
            </a:r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자동 배정이나 최적 배정을 보장하지 않습니다. 판단은 관리자가 합니다</a:t>
            </a:r>
            <a:endParaRPr lang="en-US" sz="950" dirty="0"/>
          </a:p>
        </p:txBody>
      </p:sp>
      <p:pic>
        <p:nvPicPr>
          <p:cNvPr id="23" name="Image 2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 / 45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 핵심 기능 · 13 조직 현황 · 팀 분석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계층형 팀으로 조직을 보고, 팀 단위로 부하와 기여를 분석합니다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가동률은 개인 비율의 평균이 아니라 Σ투입MD ÷ Σ가용MD 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5410048" cy="2761681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38528"/>
            <a:ext cx="5410048" cy="237744"/>
          </a:xfrm>
          <a:prstGeom prst="rect">
            <a:avLst/>
          </a:prstGeom>
          <a:solidFill>
            <a:srgbClr val="EDF2F1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938528"/>
            <a:ext cx="467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자원관리 · 조직 현황</a:t>
            </a:r>
            <a:endParaRPr lang="en-US" sz="850" dirty="0"/>
          </a:p>
        </p:txBody>
      </p:sp>
      <p:pic>
        <p:nvPicPr>
          <p:cNvPr id="11" name="Image 0" descr="C:\CloudJira\moves-workforce\_workspace\product-intro-ppt\captures\or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249424"/>
            <a:ext cx="5263744" cy="237763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4755073"/>
            <a:ext cx="541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현황 · 팀 트리(팀장 · 직속/누적 인원) + 팀원 목록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33008" y="1938528"/>
            <a:ext cx="5215374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33008" y="1938528"/>
            <a:ext cx="5215374" cy="237744"/>
          </a:xfrm>
          <a:prstGeom prst="rect">
            <a:avLst/>
          </a:prstGeom>
          <a:solidFill>
            <a:srgbClr val="EDF2F1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42736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98184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53632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73088" y="1938528"/>
            <a:ext cx="44838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자원관리 · 팀 분석</a:t>
            </a:r>
            <a:endParaRPr lang="en-US" sz="850" dirty="0"/>
          </a:p>
        </p:txBody>
      </p:sp>
      <p:pic>
        <p:nvPicPr>
          <p:cNvPr id="19" name="Image 1" descr="C:\CloudJira\moves-workforce\_workspace\product-intro-ppt\captures\_cropped\team_analyti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160" y="2249424"/>
            <a:ext cx="5069070" cy="245059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233008" y="4828032"/>
            <a:ext cx="52153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분석 · 핵심 지표 · 팀 간 비교 · 가동률 분포 · 인력 구성 · 산점도 · 상위 팀 합산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48640" y="5093208"/>
            <a:ext cx="384048" cy="384048"/>
          </a:xfrm>
          <a:prstGeom prst="ellipse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33" y="5196901"/>
            <a:ext cx="176662" cy="17666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51560" y="5093208"/>
            <a:ext cx="2099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계층형 팀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548640" y="5550408"/>
            <a:ext cx="26021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전사 → 팀 → 하위 팀. 팀장 지정, 직속/누적 인원, 직속만 보기 토글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3379394" y="5093208"/>
            <a:ext cx="384048" cy="384048"/>
          </a:xfrm>
          <a:prstGeom prst="ellipse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087" y="5196901"/>
            <a:ext cx="176662" cy="17666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882314" y="5093208"/>
            <a:ext cx="2099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분석 위젯 7종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3379394" y="5550408"/>
            <a:ext cx="26021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지표 · 프로젝트별 팀 투입 · 가동률 분포 · 팀 간 비교 · 인력 구성 · 가동률–규모 산점도 · 상위 팀 합산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6210148" y="5093208"/>
            <a:ext cx="384048" cy="384048"/>
          </a:xfrm>
          <a:prstGeom prst="ellipse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3841" y="5196901"/>
            <a:ext cx="176662" cy="17666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713068" y="5093208"/>
            <a:ext cx="2099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 팀 vs 실제 기여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6210148" y="5550408"/>
            <a:ext cx="26021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담당 팀과 워크로그 기여 팀을 나란히 — 담당이지만 기여 없음 / 미담당 기여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9040901" y="5093208"/>
            <a:ext cx="384048" cy="384048"/>
          </a:xfrm>
          <a:prstGeom prst="ellipse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594" y="5196901"/>
            <a:ext cx="176662" cy="17666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543821" y="5093208"/>
            <a:ext cx="2099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범위는 서버가 판정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9040901" y="5550408"/>
            <a:ext cx="26021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 범위면 전 팀, 팀장은 이끄는 팀과 하위 팀. REPORT 권한 없으면 가동률·인원 축만</a:t>
            </a:r>
            <a:endParaRPr lang="en-US" sz="950" dirty="0"/>
          </a:p>
        </p:txBody>
      </p:sp>
      <p:pic>
        <p:nvPicPr>
          <p:cNvPr id="38" name="Image 6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40" name="Text 30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 / 45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 핵심 기능 · 14 통합 대시보드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프로젝트 중 먼저 볼 곳을 고릅니다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프로젝트를 일정(Time) · 범위(Scope) · 자원(Resource) · 비용(Cost) 축으로 비교합니다.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650152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38528"/>
            <a:ext cx="6501520" cy="237744"/>
          </a:xfrm>
          <a:prstGeom prst="rect">
            <a:avLst/>
          </a:prstGeom>
          <a:solidFill>
            <a:srgbClr val="EDF2F1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938528"/>
            <a:ext cx="577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대시보드</a:t>
            </a:r>
            <a:endParaRPr lang="en-US" sz="850" dirty="0"/>
          </a:p>
        </p:txBody>
      </p:sp>
      <p:pic>
        <p:nvPicPr>
          <p:cNvPr id="11" name="Image 0" descr="C:\CloudJira\moves-workforce\_workspace\product-intro-ppt\captures\_cropped\portfol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249424"/>
            <a:ext cx="6355216" cy="36393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6016752"/>
            <a:ext cx="650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화면 · 데모 데이터 · ① 기준 시각과 지금 재집계  ② 프로젝트별 일정·범위·자원 신호등  ③ 일정 경과율 vs 완성률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695910" y="2246919"/>
            <a:ext cx="274320" cy="274320"/>
          </a:xfrm>
          <a:prstGeom prst="ellipse">
            <a:avLst/>
          </a:prstGeom>
          <a:solidFill>
            <a:srgbClr val="103F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695910" y="224691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3512" y="3629857"/>
            <a:ext cx="274320" cy="274320"/>
          </a:xfrm>
          <a:prstGeom prst="ellipse">
            <a:avLst/>
          </a:prstGeom>
          <a:solidFill>
            <a:srgbClr val="103F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3512" y="362985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725792" y="5293023"/>
            <a:ext cx="274320" cy="274320"/>
          </a:xfrm>
          <a:prstGeom prst="ellipse">
            <a:avLst/>
          </a:prstGeom>
          <a:solidFill>
            <a:srgbClr val="103F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725792" y="52930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412480" y="205740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32520" y="1938528"/>
            <a:ext cx="2910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신호등 표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32520" y="2231136"/>
            <a:ext cx="2910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프로젝트별 일정·범위·자원·비용 상태를 빨강·노랑·초록으로 한 표에서. 행을 누르면 상세로 갑니다.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412480" y="288036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32520" y="2761488"/>
            <a:ext cx="2910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4축 비교 위젯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732520" y="3054096"/>
            <a:ext cx="2910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간트, 계획 대비 실적, 주간 공수, 가동률 분포, 비용.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412480" y="370332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732520" y="3584448"/>
            <a:ext cx="2910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관계도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732520" y="3877056"/>
            <a:ext cx="2910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→ Jira 스페이스 → 이슈로 이어지는 관계를 탐색합니다.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412480" y="452628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732520" y="4407408"/>
            <a:ext cx="2910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하루 한 번 집계 + 재집계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732520" y="4700016"/>
            <a:ext cx="2910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전사 집계는 하루 한 번 만들어 둡니다. 권한자가 재집계를 누르면 잠시 후 갱신되고 기준 시각이 표시됩니다.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8412480" y="534924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732520" y="5230368"/>
            <a:ext cx="2910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엑셀 내보내기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732520" y="5522976"/>
            <a:ext cx="2910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목록형 화면은 현재 필터 결과를 그대로 내려받습니다.</a:t>
            </a:r>
            <a:endParaRPr lang="en-US" sz="950" dirty="0"/>
          </a:p>
        </p:txBody>
      </p:sp>
      <p:pic>
        <p:nvPicPr>
          <p:cNvPr id="35" name="Image 1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 / 45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 핵심 기능 · 15 마이페이지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현황, 내 권한, 그리고 팀장이라면 내 팀까지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구성원은 자기 데이터를, 팀장은 자기 팀의 업무 분석을 같은 화면에서 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5063184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38528"/>
            <a:ext cx="5063184" cy="237744"/>
          </a:xfrm>
          <a:prstGeom prst="rect">
            <a:avLst/>
          </a:prstGeom>
          <a:solidFill>
            <a:srgbClr val="EDF2F1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938528"/>
            <a:ext cx="4331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마이페이지</a:t>
            </a:r>
            <a:endParaRPr lang="en-US" sz="850" dirty="0"/>
          </a:p>
        </p:txBody>
      </p:sp>
      <p:pic>
        <p:nvPicPr>
          <p:cNvPr id="11" name="Image 0" descr="C:\CloudJira\moves-workforce\_workspace\product-intro-ppt\captures\_cropped\my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249424"/>
            <a:ext cx="4916880" cy="36393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6016752"/>
            <a:ext cx="5063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화면 · 내 현황(처리율 · 투입 시간 · 참여 프로젝트) + 차트 + 내 권한·스킬 표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31864" y="205740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51904" y="1938528"/>
            <a:ext cx="53911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현황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51904" y="2231136"/>
            <a:ext cx="53911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선택형 개인 대시보드 — 참여 프로젝트, 담당 작업, 워크로그 추이.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31864" y="306324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51904" y="2944368"/>
            <a:ext cx="53911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권한 · 스킬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51904" y="3236976"/>
            <a:ext cx="53911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화면을 읽고 쓸 수 있는지 표로 보여 줍니다. 보유 스킬도 여기서 확인합니다.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31864" y="406908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51904" y="3950208"/>
            <a:ext cx="53911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팀 (팀장 전용)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51904" y="4242816"/>
            <a:ext cx="53911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팀원별 업무 분석. 자신이 이끄는 팀의 인원만 보입니다.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931864" y="507492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51904" y="4956048"/>
            <a:ext cx="53911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테마 · 언어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251904" y="5248656"/>
            <a:ext cx="53911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라이트/다크 테마 자동, 한국어·영어.</a:t>
            </a:r>
            <a:endParaRPr lang="en-US" sz="1000" dirty="0"/>
          </a:p>
        </p:txBody>
      </p:sp>
      <p:pic>
        <p:nvPicPr>
          <p:cNvPr id="26" name="Image 1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 / 45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 핵심 기능 · 16 설정(백오피스)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조직의 기준값을 한 번 정하면 모든 계산이 그 기준을 따릅니다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1일 근무 시간, 공휴일, 급여 정책, 팀, 권한 — 숫자의 분모가 되는 값들입니다.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3311131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38528"/>
            <a:ext cx="3311131" cy="237744"/>
          </a:xfrm>
          <a:prstGeom prst="rect">
            <a:avLst/>
          </a:prstGeom>
          <a:solidFill>
            <a:srgbClr val="EDF2F1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938528"/>
            <a:ext cx="25796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설정</a:t>
            </a:r>
            <a:endParaRPr lang="en-US" sz="850" dirty="0"/>
          </a:p>
        </p:txBody>
      </p:sp>
      <p:pic>
        <p:nvPicPr>
          <p:cNvPr id="11" name="Image 0" descr="C:\CloudJira\moves-workforce\_workspace\product-intro-ppt\captures\_cropped\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249424"/>
            <a:ext cx="3164827" cy="17190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4096512"/>
            <a:ext cx="33111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설정 · 1일 근무 시간 · 급여 정책 · 진척 임계치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33008" y="1938528"/>
            <a:ext cx="537514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33008" y="1938528"/>
            <a:ext cx="5375148" cy="237744"/>
          </a:xfrm>
          <a:prstGeom prst="rect">
            <a:avLst/>
          </a:prstGeom>
          <a:solidFill>
            <a:srgbClr val="EDF2F1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42736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98184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53632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73088" y="1938528"/>
            <a:ext cx="4643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 관리</a:t>
            </a:r>
            <a:endParaRPr lang="en-US" sz="850" dirty="0"/>
          </a:p>
        </p:txBody>
      </p:sp>
      <p:pic>
        <p:nvPicPr>
          <p:cNvPr id="19" name="Image 1" descr="C:\CloudJira\moves-workforce\_workspace\product-intro-ppt\captures\_cropped\permis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160" y="2249424"/>
            <a:ext cx="5228844" cy="17190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233008" y="4096512"/>
            <a:ext cx="53751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 관리 · 권한 세트별 기능 읽기/쓰기 · 프로젝트 조회 범위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48640" y="4361688"/>
            <a:ext cx="11094415" cy="18288"/>
          </a:xfrm>
          <a:prstGeom prst="rect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8640" y="4471416"/>
            <a:ext cx="3454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설정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548640" y="4736592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1일 근무시간(기본 8h) · 급여 정책 · 진척 임계치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4368698" y="4471416"/>
            <a:ext cx="3454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관리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4368698" y="4736592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사용자 연동 · 엑셀 대량 업로드(백그라운드 처리)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8188757" y="4471416"/>
            <a:ext cx="3454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관리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8188757" y="4736592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계층 팀 · 팀장 · 권한 세트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548640" y="5074920"/>
            <a:ext cx="3454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· 등급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548640" y="5340096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목록 제공 · 등급별 급여 구간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4368698" y="5074920"/>
            <a:ext cx="3454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스킬 관리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4368698" y="5340096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133종 제공 · 배정 적합도 계산에 사용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8188757" y="5074920"/>
            <a:ext cx="3454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상태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8188757" y="5340096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정의 · 상태 흐름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548640" y="5678424"/>
            <a:ext cx="3454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 관리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548640" y="5943600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· PMO · 팀장 · 팀원 기본 세트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4368698" y="5678424"/>
            <a:ext cx="3454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휴일 관리</a:t>
            </a:r>
            <a:endParaRPr lang="en-US" sz="1150" dirty="0"/>
          </a:p>
        </p:txBody>
      </p:sp>
      <p:sp>
        <p:nvSpPr>
          <p:cNvPr id="37" name="Text 33"/>
          <p:cNvSpPr/>
          <p:nvPr/>
        </p:nvSpPr>
        <p:spPr>
          <a:xfrm>
            <a:off x="4368698" y="5943600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공휴일 · 반휴(0.5) → 근무일 계산에 반영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8188757" y="5678424"/>
            <a:ext cx="3454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 공간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8188757" y="5943600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사용량 게이지 · 80/90% 경고</a:t>
            </a:r>
            <a:endParaRPr lang="en-US" sz="950" dirty="0"/>
          </a:p>
        </p:txBody>
      </p:sp>
      <p:pic>
        <p:nvPicPr>
          <p:cNvPr id="41" name="Image 2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43" name="Text 37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29 / 45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3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601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0" b="1" dirty="0">
                <a:solidFill>
                  <a:srgbClr val="1475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777240" y="3063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숫자의 신뢰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9319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보고에 쓰이는 숫자는 계산 방식이 공개돼야 신뢰됩니다.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화면은 자기가 쓴 분모와 근사 여부를 화면 안에서 밝힙니다.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818120" y="1188720"/>
            <a:ext cx="36576" cy="1161288"/>
          </a:xfrm>
          <a:prstGeom prst="rect">
            <a:avLst/>
          </a:prstGeom>
          <a:solidFill>
            <a:srgbClr val="1A9A90"/>
          </a:solidFill>
          <a:ln w="12700">
            <a:solidFill>
              <a:srgbClr val="1A9A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24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파트에서 다루는 내용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92440" y="1554480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가지 산식 — MD·MM / 가동률 / 완성 진척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숫자를 다룰 때 지키는 네 가지 원칙</a:t>
            </a:r>
            <a:endParaRPr lang="en-US" sz="1250" dirty="0"/>
          </a:p>
        </p:txBody>
      </p:sp>
      <p:pic>
        <p:nvPicPr>
          <p:cNvPr id="9" name="Image 0" descr="C:\CloudJira\moves-workforce\_workspace\product-intro-ppt\assets\dmove_wor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72200"/>
            <a:ext cx="100584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 숫자의 신뢰 · 산식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가지 핵심 산식과, 먼저 설정해야 할 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관리자가 1MM을 수동 입력하지 않습니다. 근무 기준을 등록하면 그 달의 근무일로 자동 계산됩니다.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3515258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38528"/>
            <a:ext cx="3515258" cy="457200"/>
          </a:xfrm>
          <a:prstGeom prst="rect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38528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MD · MM — 등록된 근무 기준으로 환산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578608"/>
            <a:ext cx="3149498" cy="1051560"/>
          </a:xfrm>
          <a:prstGeom prst="rect">
            <a:avLst/>
          </a:prstGeom>
          <a:solidFill>
            <a:srgbClr val="E9F7F4"/>
          </a:solidFill>
          <a:ln w="12700">
            <a:solidFill>
              <a:srgbClr val="E9F7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578608"/>
            <a:ext cx="293004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MD = 기록 시간 ÷ 1일 근무 시간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월별 MM = 그 달 투입 MD ÷ 그 달 기준 근무 MD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3767328"/>
            <a:ext cx="31494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월별 기준 근무 MD는 평일과 등록된 공휴일·부분 근무일을 반영합니다. 1MM은 관리자가 정하는 상수가 아니라 그 달의 실제 근무일입니다.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4818888"/>
            <a:ext cx="3149498" cy="594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846320"/>
            <a:ext cx="28751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39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 설정할 것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8680" y="5074920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1일 근무 시간 · 공휴일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38218" y="1938528"/>
            <a:ext cx="3515258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38218" y="1938528"/>
            <a:ext cx="3515258" cy="457200"/>
          </a:xfrm>
          <a:prstGeom prst="rect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1098" y="1938528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가동률 — 분모가 공정하다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21098" y="2578608"/>
            <a:ext cx="3149498" cy="1051560"/>
          </a:xfrm>
          <a:prstGeom prst="rect">
            <a:avLst/>
          </a:prstGeom>
          <a:solidFill>
            <a:srgbClr val="E9F7F4"/>
          </a:solidFill>
          <a:ln w="12700">
            <a:solidFill>
              <a:srgbClr val="E9F7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0826" y="2578608"/>
            <a:ext cx="293004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가동률(%) = 투입 MD ÷ 실효 가용 MD × 100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실효 가용 MD = 근무일 − 연차 − 공휴일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21098" y="3767328"/>
            <a:ext cx="31494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"일할 수 있었던 시간" 대비 "기록된 업무 시간". 전사 집계는 같은 사람의 중복 참여 기간을 합집합으로 계산하고, 팀 가동률은 합계끼리 나눕니다.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21098" y="4818888"/>
            <a:ext cx="3149498" cy="594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8258" y="4846320"/>
            <a:ext cx="28751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39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 설정할 것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58258" y="5074920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참여 기간 · 연차(1MD / 반차 0.5MD)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27797" y="1938528"/>
            <a:ext cx="3515258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27797" y="1938528"/>
            <a:ext cx="3515258" cy="457200"/>
          </a:xfrm>
          <a:prstGeom prst="rect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10677" y="1938528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 진척 — 공수 소진과 다르다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310677" y="2578608"/>
            <a:ext cx="3149498" cy="1051560"/>
          </a:xfrm>
          <a:prstGeom prst="rect">
            <a:avLst/>
          </a:prstGeom>
          <a:solidFill>
            <a:srgbClr val="E9F7F4"/>
          </a:solidFill>
          <a:ln w="12700">
            <a:solidFill>
              <a:srgbClr val="E9F7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20405" y="2578608"/>
            <a:ext cx="293004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 진척 = Σ(진행률 × 계획공수) ÷ Σ계획공수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100% · 할 일 0% · 진행 중 실투입÷계획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10677" y="3767328"/>
            <a:ext cx="31494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 공수가 없거나 0인 이슈는 가중 계산에서 제외됩니다. 산출물 품질이나 고객 검수 완료를 독립적으로 측정하는 값이 아닙니다.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310677" y="4818888"/>
            <a:ext cx="3149498" cy="594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47837" y="4846320"/>
            <a:ext cx="28751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E39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 설정할 것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447837" y="5074920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이슈별 계획 공수 (Jira 초기 추정치)</a:t>
            </a:r>
            <a:endParaRPr lang="en-US" sz="1050" dirty="0"/>
          </a:p>
        </p:txBody>
      </p:sp>
      <p:pic>
        <p:nvPicPr>
          <p:cNvPr id="33" name="Image 0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31 / 45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 숫자의 신뢰 · 원칙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숫자를 다룰 때 지키는 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 감사에서 가장 먼저 본 것은 "분모가 화면마다 같은가"였습니다. 같은 이름의 지표는 분모를 통일하고, 다르면 다르다고 적습니다.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1109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54480" y="1984248"/>
            <a:ext cx="100885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성격이 다른 지표는 합치지 않는다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350008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MM은 절대량("얼마나 일했나"), 가동률은 상대 비율("가용 대비 얼마나 채웠나"). 완성·공수·일정도 각각 답합니다. 평균 낸 "종합 진척률"은 없습니다.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554480" y="2916936"/>
            <a:ext cx="10088575" cy="9144"/>
          </a:xfrm>
          <a:prstGeom prst="rect">
            <a:avLst/>
          </a:prstGeom>
          <a:solidFill>
            <a:srgbClr val="D9E4E2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3522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54480" y="3008376"/>
            <a:ext cx="100885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분모는 화면 안에서 공개한다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3374136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분석 상단에 "1MD = 8h · 1MM = 21 근무일"처럼 기준값을 표시하고, 각 지표의 ⓘ에 정의와 계산식을 적습니다. 접이식 "이 화면 읽는 법" 가이드가 함께 있습니다.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554480" y="3941064"/>
            <a:ext cx="10088575" cy="9144"/>
          </a:xfrm>
          <a:prstGeom prst="rect">
            <a:avLst/>
          </a:prstGeom>
          <a:solidFill>
            <a:srgbClr val="D9E4E2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5935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54480" y="4032504"/>
            <a:ext cx="100885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근사·추정은 근사·추정이라고 표시한다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4398264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중 이슈의 완성률은 공수 비율 근사, 소진 비용은 일정 기준 추정, 예측 지연은 낙관적 추정, 통합 대시보드는 하루 한 번 집계본 + 기준 시각.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554480" y="4965192"/>
            <a:ext cx="10088575" cy="9144"/>
          </a:xfrm>
          <a:prstGeom prst="rect">
            <a:avLst/>
          </a:prstGeom>
          <a:solidFill>
            <a:srgbClr val="D9E4E2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983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554480" y="5056632"/>
            <a:ext cx="100885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가동률은 부하 지표이지 성과 점수가 아니다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5422392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기록된 업무 부하를 보여줍니다. 개인의 성과·역량·생산성 점수가 아니며 미기록 업무와 조회 범위를 함께 확인해야 합니다.</a:t>
            </a:r>
            <a:endParaRPr lang="en-US" sz="1050" dirty="0"/>
          </a:p>
        </p:txBody>
      </p:sp>
      <p:pic>
        <p:nvPicPr>
          <p:cNvPr id="21" name="Image 0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 / 45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03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601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0" b="1" dirty="0">
                <a:solidFill>
                  <a:srgbClr val="1475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777240" y="3063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우리인가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9319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안에서 공수·급여 원가·진척·전사 비교를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앱으로, 별도 인프라 없이.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818120" y="1188720"/>
            <a:ext cx="36576" cy="1819656"/>
          </a:xfrm>
          <a:prstGeom prst="rect">
            <a:avLst/>
          </a:prstGeom>
          <a:solidFill>
            <a:srgbClr val="1A9A90"/>
          </a:solidFill>
          <a:ln w="12700">
            <a:solidFill>
              <a:srgbClr val="1A9A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24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파트에서 다루는 내용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92440" y="1554480"/>
            <a:ext cx="36576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다섯 가지 차별점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유형별 비교 — 타임시트 앱 · PPM 앱 · 외부 서버형 앱 · 구축형 PMS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보안과 권한 — 실제 경계는 서버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위치와 운영</a:t>
            </a:r>
            <a:endParaRPr lang="en-US" sz="1250" dirty="0"/>
          </a:p>
        </p:txBody>
      </p:sp>
      <p:pic>
        <p:nvPicPr>
          <p:cNvPr id="9" name="Image 0" descr="C:\CloudJira\moves-workforce\_workspace\product-intro-ppt\assets\dmove_wor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72200"/>
            <a:ext cx="100584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  왜 우리인가 · 차별점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리소스 관리 앱과 어디가 다른가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목록의 길이가 아니라 구조가 다른 지점입니다.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928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43000" y="1938528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급여 기반 인건비와 공개 범위 정책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3000" y="2249424"/>
            <a:ext cx="7086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시급 단가가 아니라 연봉·투입 급여를 저장하고 월 단위로 환산합니다. 등급 기준 정책을 켜면 개인 급여는 서버가 내보내지 않고, 비용은 별도 권한으로만 열립니다.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43000" y="2715768"/>
            <a:ext cx="7086600" cy="9144"/>
          </a:xfrm>
          <a:prstGeom prst="rect">
            <a:avLst/>
          </a:prstGeom>
          <a:solidFill>
            <a:srgbClr val="D9E4E2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43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43000" y="2788920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MD·MM 공수가 인건비·예산 예보까지 이어진다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43000" y="3099816"/>
            <a:ext cx="7086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워크로그 → MD → 근무일 기반 MM → 급여 환산 인건비 → 예산 초과 예보. 국내 SI·공공에서 쓰는 "투입 공수 × 단가" 언어 그대로입니다.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143000" y="3566160"/>
            <a:ext cx="7086600" cy="9144"/>
          </a:xfrm>
          <a:prstGeom prst="rect">
            <a:avLst/>
          </a:prstGeom>
          <a:solidFill>
            <a:srgbClr val="D9E4E2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93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43000" y="363931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Atlassian 인프라 안에서만 — 별도 인프라가 없다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43000" y="3950208"/>
            <a:ext cx="7086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실행과 데이터 저장이 모두 Atlassian 인프라 안에서 이뤄집니다. 앱 서버·외부 DB를 구축하지 않으며, 외부 통신은 오류 모니터링 서비스 한 곳뿐입니다.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143000" y="4416552"/>
            <a:ext cx="7086600" cy="9144"/>
          </a:xfrm>
          <a:prstGeom prst="rect">
            <a:avLst/>
          </a:prstGeom>
          <a:solidFill>
            <a:srgbClr val="D9E4E2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439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143000" y="4489704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팀 관리형 프로젝트에서도 설정 없이 동작한다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43000" y="4800600"/>
            <a:ext cx="7086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관리형 프로젝트는 앱 전용 필드가 화면에 안 나오는 제약이 있는데, 앱이 다른 방식으로 자동 저장해 관리자가 필드를 손으로 추가할 필요가 없습니다.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143000" y="5266944"/>
            <a:ext cx="7086600" cy="9144"/>
          </a:xfrm>
          <a:prstGeom prst="rect">
            <a:avLst/>
          </a:prstGeom>
          <a:solidFill>
            <a:srgbClr val="D9E4E2"/>
          </a:solidFill>
          <a:ln w="12700">
            <a:solidFill>
              <a:srgbClr val="D9E4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2943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143000" y="5340096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한국어, 그리고 한 앱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43000" y="5650992"/>
            <a:ext cx="7086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배정·가동률·진척·원가·간트·전사 대시보드가 한 앱에 있습니다. 한국어·영어 UI, Jira 라이트/다크 테마 자동.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686800" y="1938528"/>
            <a:ext cx="2956255" cy="4160520"/>
          </a:xfrm>
          <a:prstGeom prst="rect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0" y="2212848"/>
            <a:ext cx="2407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10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정리하면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961120" y="2578608"/>
            <a:ext cx="24076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Jira를 쓰면서</a:t>
            </a:r>
            <a:endParaRPr lang="en-US" sz="16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MM으로 정산하고</a:t>
            </a:r>
            <a:endParaRPr lang="en-US" sz="16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급여 원가를 봐야 하는</a:t>
            </a:r>
            <a:endParaRPr lang="en-US" sz="16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조직을 위한,</a:t>
            </a:r>
            <a:endParaRPr lang="en-US" sz="16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안의 한 앱.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61120" y="4864608"/>
            <a:ext cx="24076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조사한 Jira 리소스 관리 앱의 원가는 모두 시급 단가 기반이었고, 급여 자체를 저장·환산하는 앱은 확인되지 않았습니다. (2026-09 조사)</a:t>
            </a:r>
            <a:endParaRPr lang="en-US" sz="950" dirty="0"/>
          </a:p>
        </p:txBody>
      </p:sp>
      <p:pic>
        <p:nvPicPr>
          <p:cNvPr id="29" name="Image 0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34 / 45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  왜 우리인가 · 유형별 비교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유형별로 무엇이 다른지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제품이 아니라 유형으로 비교합니다. 각 유형은 자기 목적에 맞게 설계돼 있고, 아래는 "우리 조직의 질문"에 대한 대응 여부입니다.</a:t>
            </a:r>
            <a:endParaRPr lang="en-US" sz="13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38528"/>
          <a:ext cx="11094415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1572768"/>
                <a:gridCol w="1572768"/>
                <a:gridCol w="1572768"/>
                <a:gridCol w="1572768"/>
                <a:gridCol w="1554480"/>
              </a:tblGrid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비교 항목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타임시트·원가 앱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간트·PPM 전문 앱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외부 서버형 리소스 앱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국내 구축형 PMS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Moves Workforce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Jira 안에서 실행 · 워크로그 연동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9A9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9A9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9A9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9C9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○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9A9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MD·MM 공수 단위 (근무일 기반)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9C9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○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9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◐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9C9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○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9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◐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9A9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급여(연봉·투입급여) 기반 인건비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9C9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○ 시급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9C9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○ 시급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9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◐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9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◐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9A9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원가 가시성 — 정책 + 별도 권한 이중 게이팅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9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◐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9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◐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9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◐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9C9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○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9A9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완성·공수·일정 3층 진척 분리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9C9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○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9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◐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9C9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○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9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◐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9A9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간트 · WBS · 선후행 (Jira 네이티브 링크 저장)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9C9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○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9A9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9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◐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9A9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9A9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전사 포트폴리오 비교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9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◐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9A9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9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◐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9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◐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9A9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데이터 저장 위치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벤더 인프라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벤더 인프라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벤더 인프라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구축 서버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75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Atlassian 인프라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한국어 UI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9B2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◐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9C9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○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E9C9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○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9A9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9A9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●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필요한 앱 수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1~2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 + 타임시트 앱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 + 연동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별도 시스템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756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007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제공   ◐ 부분 제공 또는 제품에 따라 다름   ○ 미제공 · 유형 일반론이며 개별 제품은 다를 수 있음 · 2026-09 조사 기준</a:t>
            </a:r>
            <a:endParaRPr lang="en-US" sz="900" dirty="0"/>
          </a:p>
        </p:txBody>
      </p:sp>
      <p:pic>
        <p:nvPicPr>
          <p:cNvPr id="8" name="Image 0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 / 45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  왜 우리인가 · 보안과 권한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화면을 숨기는 것으로는 부족합니다. 실제 경계는 서버입니다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인력·공수 데이터는 곧 인사 정보입니다. 권한 판정을 서버에 두고 응답 자체에서 민감 필드를 제거합니다.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29968"/>
            <a:ext cx="4206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212848"/>
            <a:ext cx="502920" cy="502920"/>
          </a:xfrm>
          <a:prstGeom prst="ellipse">
            <a:avLst/>
          </a:prstGeom>
          <a:solidFill>
            <a:srgbClr val="C9ECE6"/>
          </a:solidFill>
          <a:ln w="12700">
            <a:solidFill>
              <a:srgbClr val="C9EC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020" y="2348636"/>
            <a:ext cx="231343" cy="231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13969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요청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71600" y="24231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메뉴·버튼은 권한에 따라 숨김 (UX)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651760" y="2898648"/>
            <a:ext cx="0" cy="155448"/>
          </a:xfrm>
          <a:prstGeom prst="line">
            <a:avLst/>
          </a:prstGeom>
          <a:noFill/>
          <a:ln w="25400">
            <a:solidFill>
              <a:srgbClr val="21ADAD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48640" y="3054096"/>
            <a:ext cx="4206240" cy="868680"/>
          </a:xfrm>
          <a:prstGeom prst="rect">
            <a:avLst/>
          </a:prstGeom>
          <a:solidFill>
            <a:srgbClr val="103F3A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3236976"/>
            <a:ext cx="502920" cy="502920"/>
          </a:xfrm>
          <a:prstGeom prst="ellipse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20" y="3372764"/>
            <a:ext cx="231343" cy="23134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31638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권한 검사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371600" y="34472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기능마다 읽기/쓰기 권한을 확인. 허용 목록에 없는 요청은 거부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651760" y="3922776"/>
            <a:ext cx="0" cy="155448"/>
          </a:xfrm>
          <a:prstGeom prst="line">
            <a:avLst/>
          </a:prstGeom>
          <a:noFill/>
          <a:ln w="25400">
            <a:solidFill>
              <a:srgbClr val="21ADAD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548640" y="4078224"/>
            <a:ext cx="4206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3232" y="4261104"/>
            <a:ext cx="502920" cy="502920"/>
          </a:xfrm>
          <a:prstGeom prst="ellipse">
            <a:avLst/>
          </a:prstGeom>
          <a:solidFill>
            <a:srgbClr val="C9ECE6"/>
          </a:solidFill>
          <a:ln w="12700">
            <a:solidFill>
              <a:srgbClr val="C9ECE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20" y="4396892"/>
            <a:ext cx="231343" cy="23134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4187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조회 범위 판정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371600" y="447141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/ 참여 프로젝트만 / 내 팀만. 판정할 수 없으면 0건으로 닫힘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2651760" y="4946904"/>
            <a:ext cx="0" cy="155448"/>
          </a:xfrm>
          <a:prstGeom prst="line">
            <a:avLst/>
          </a:prstGeom>
          <a:noFill/>
          <a:ln w="25400">
            <a:solidFill>
              <a:srgbClr val="21ADAD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548640" y="5102352"/>
            <a:ext cx="4206240" cy="868680"/>
          </a:xfrm>
          <a:prstGeom prst="rect">
            <a:avLst/>
          </a:prstGeom>
          <a:solidFill>
            <a:srgbClr val="103F3A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13232" y="5285232"/>
            <a:ext cx="502920" cy="502920"/>
          </a:xfrm>
          <a:prstGeom prst="ellipse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020" y="5421020"/>
            <a:ext cx="231343" cy="23134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71600" y="5212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응답에서 민감 값 제거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371600" y="549554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열람 권한이 없으면 금액 자체를 응답에서 뺌. 등급 기준 급여 정책이면 개인 급여도 제거</a:t>
            </a:r>
            <a:endParaRPr lang="en-US" sz="9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984248"/>
          <a:ext cx="656813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5150815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동작 방식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기능 권한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기능마다 읽기/쓰기 권한이 따로 있음. 읽기만 있으면 추가·수정·삭제 버튼이 아예 보이지 않음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조회 범위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전체 / 내가 참여한 프로젝트만 / 내 팀·하위 팀만 — 세 가지 중 하나를 권한 세트마다 지정. 팀장은 이끄는 팀 인원만 봄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인건비 분리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비용·급여는 일반 권한과 분리된 별도 열람 권한. 권한이 없으면 0원이 아니라 카드 자체가 없음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등급 기준 급여 정책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개인 연봉·투입 급여를 서버 응답에서 아예 제거. 저장 값은 정책을 되돌릴 때를 위해서만 보존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권한 세트 배정 상한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배정자는 자기 권한을 넘는 세트를 줄 수 없음 (자기 승격 차단)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Jira 조회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사용자 본인의 Jira 권한으로 조회 — Jira에서 못 보는 이슈는 앱에서도 안 보임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0" name="Image 4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32" name="Text 23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36 / 45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  왜 우리인가 · 데이터 위치와 운영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원본은 Jira에, 앱 데이터는 Atlassian 인프라 안에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고객이 별도 앱 서버·외부 DB를 구축할 필요가 없습니다. 앱 업데이트와 설정 관리는 필요합니다.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21408"/>
            <a:ext cx="5760720" cy="3566160"/>
          </a:xfrm>
          <a:prstGeom prst="rect">
            <a:avLst/>
          </a:prstGeom>
          <a:solidFill>
            <a:srgbClr val="F7FAF9"/>
          </a:solidFill>
          <a:ln w="15875">
            <a:solidFill>
              <a:srgbClr val="C9ECE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spc="100" kern="0" dirty="0">
                <a:solidFill>
                  <a:srgbClr val="1475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Atlassian 인프라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68680" y="2715768"/>
            <a:ext cx="1554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17320" y="2898648"/>
            <a:ext cx="457200" cy="457200"/>
          </a:xfrm>
          <a:prstGeom prst="ellipse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0764" y="3022092"/>
            <a:ext cx="210312" cy="2103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3447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Cloud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3767328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 · 워크로그 원본</a:t>
            </a:r>
            <a:endParaRPr lang="en-US" sz="8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(복제하지 않음)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697480" y="2715768"/>
            <a:ext cx="1554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2898648"/>
            <a:ext cx="457200" cy="457200"/>
          </a:xfrm>
          <a:prstGeom prst="ellipse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564" y="3022092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88920" y="3447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788920" y="3767328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Atlassian 앱 플랫폼(Forge)</a:t>
            </a:r>
            <a:endParaRPr lang="en-US" sz="8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 판정 · 집계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526280" y="2715768"/>
            <a:ext cx="1554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74920" y="2898648"/>
            <a:ext cx="457200" cy="457200"/>
          </a:xfrm>
          <a:prstGeom prst="ellipse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364" y="3022092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17720" y="3447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Atlassian 제공 저장소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617720" y="3767328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· 인력 · 팀 · 구독</a:t>
            </a:r>
            <a:endParaRPr lang="en-US" sz="8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· 스냅샷 · 캐시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2423160" y="3493008"/>
            <a:ext cx="274320" cy="0"/>
          </a:xfrm>
          <a:prstGeom prst="line">
            <a:avLst/>
          </a:prstGeom>
          <a:noFill/>
          <a:ln w="25400">
            <a:solidFill>
              <a:srgbClr val="21ADAD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 flipH="1">
            <a:off x="2423160" y="3767328"/>
            <a:ext cx="274320" cy="0"/>
          </a:xfrm>
          <a:prstGeom prst="line">
            <a:avLst/>
          </a:prstGeom>
          <a:noFill/>
          <a:ln w="25400">
            <a:solidFill>
              <a:srgbClr val="21ADAD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4251960" y="3493008"/>
            <a:ext cx="274320" cy="0"/>
          </a:xfrm>
          <a:prstGeom prst="line">
            <a:avLst/>
          </a:prstGeom>
          <a:noFill/>
          <a:ln w="25400">
            <a:solidFill>
              <a:srgbClr val="21ADAD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 flipH="1">
            <a:off x="4251960" y="3767328"/>
            <a:ext cx="274320" cy="0"/>
          </a:xfrm>
          <a:prstGeom prst="line">
            <a:avLst/>
          </a:prstGeom>
          <a:noFill/>
          <a:ln w="25400">
            <a:solidFill>
              <a:srgbClr val="21ADAD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868680" y="4910328"/>
            <a:ext cx="52120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047488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63040" y="49103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통신: 오류 모니터링 서비스(Sentry)로 보내는 진단 데이터뿐 · "외부 전송 없음"이나 특정 보안 인증 취득을 뜻하지는 않습니다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6766560" y="2057400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086600" y="1938528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 서버 불필요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7086600" y="2231136"/>
            <a:ext cx="4556455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설치하면 기본 데이터와 저장 구조가 자동으로 준비됩니다. 업데이트 때도 데이터 구조 변경이 자동입니다.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6766560" y="2898648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086600" y="2779776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 공간 모니터링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7086600" y="3072384"/>
            <a:ext cx="4556455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Atlassian이 정한 저장 한도 대비 사용량 게이지, 80/90% 경고, 항목·프로젝트별 상세.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6766560" y="3739896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7086600" y="3621024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테마 · 언어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7086600" y="3913632"/>
            <a:ext cx="4556455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라이트/다크 자동, 한국어·영어.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6766560" y="4581144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086600" y="4462272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라이선스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7086600" y="4754880"/>
            <a:ext cx="4556455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미활성 시 차단 대신 앱 내 안내 페이지. 평가 환경에서는 라이선스 없이 기능을 평가할 수 있습니다.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6766560" y="5422392"/>
            <a:ext cx="201168" cy="457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7086600" y="5303520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배치 · 자동화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7086600" y="5596128"/>
            <a:ext cx="4556455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전사 집계는 하루 한 번, 구독 정합성 검사는 한 시간마다, 대용량 업로드는 백그라운드 처리.</a:t>
            </a:r>
            <a:endParaRPr lang="en-US" sz="950" dirty="0"/>
          </a:p>
        </p:txBody>
      </p:sp>
      <p:pic>
        <p:nvPicPr>
          <p:cNvPr id="45" name="Image 4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47" name="Text 39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37 / 45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03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601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0" b="1" dirty="0">
                <a:solidFill>
                  <a:srgbClr val="1475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777240" y="3063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9319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기준과 접근 범위를 설정하면 시작됩니다.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프로젝트 하나로 확인해 보십시오.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818120" y="1188720"/>
            <a:ext cx="36576" cy="1819656"/>
          </a:xfrm>
          <a:prstGeom prst="rect">
            <a:avLst/>
          </a:prstGeom>
          <a:solidFill>
            <a:srgbClr val="1A9A90"/>
          </a:solidFill>
          <a:ln w="12700">
            <a:solidFill>
              <a:srgbClr val="1A9A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24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파트에서 다루는 내용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92440" y="1554480"/>
            <a:ext cx="36576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 후 채울 네 가지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전 확인할 점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제안 — 대표 프로젝트 하나로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요약과 다음 단계</a:t>
            </a:r>
            <a:endParaRPr lang="en-US" sz="1250" dirty="0"/>
          </a:p>
        </p:txBody>
      </p:sp>
      <p:pic>
        <p:nvPicPr>
          <p:cNvPr id="9" name="Image 0" descr="C:\CloudJira\moves-workforce\_workspace\product-intro-ppt\assets\dmove_wor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72200"/>
            <a:ext cx="100584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  도입 · 설치 후 셋업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Cloud에 설치하고, 네 가지를 채우면 시작됩니다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 직후 기본 데이터가 자동으로 준비됩니다. 역할·등급·스킬·권한의 기본 세트가 함께 제공됩니다.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21408"/>
            <a:ext cx="2533574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21408"/>
            <a:ext cx="2533574" cy="822960"/>
          </a:xfrm>
          <a:prstGeom prst="rect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31136"/>
            <a:ext cx="20763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15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20763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근무 기준 정하기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3127248"/>
            <a:ext cx="20763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1일 근무 시간(기본 8h)과 공휴일을 등록합니다.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904488"/>
            <a:ext cx="20763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475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근무일 기반 계산의 분모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18790" y="2532888"/>
            <a:ext cx="246888" cy="0"/>
          </a:xfrm>
          <a:prstGeom prst="line">
            <a:avLst/>
          </a:prstGeom>
          <a:noFill/>
          <a:ln w="25400">
            <a:solidFill>
              <a:srgbClr val="21ADA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02254" y="2121408"/>
            <a:ext cx="2533574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02254" y="2121408"/>
            <a:ext cx="2533574" cy="822960"/>
          </a:xfrm>
          <a:prstGeom prst="rect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0854" y="2231136"/>
            <a:ext cx="20763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15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30854" y="2468880"/>
            <a:ext cx="20763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등록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30854" y="3127248"/>
            <a:ext cx="20763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사용자를 불러오거나 엑셀로 한 번에 등록합니다.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30854" y="3904488"/>
            <a:ext cx="20763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475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인원이 많아도 백그라운드로 처리, 진행률 표시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72404" y="2532888"/>
            <a:ext cx="246888" cy="0"/>
          </a:xfrm>
          <a:prstGeom prst="line">
            <a:avLst/>
          </a:prstGeom>
          <a:noFill/>
          <a:ln w="25400">
            <a:solidFill>
              <a:srgbClr val="21ADA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55868" y="2121408"/>
            <a:ext cx="2533574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55868" y="2121408"/>
            <a:ext cx="2533574" cy="822960"/>
          </a:xfrm>
          <a:prstGeom prst="rect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4468" y="2231136"/>
            <a:ext cx="20763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15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84468" y="2468880"/>
            <a:ext cx="20763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· 권한 구성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4468" y="3127248"/>
            <a:ext cx="20763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계층형 팀과 팀장을 지정하고 권한 세트를 배정합니다.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84468" y="3904488"/>
            <a:ext cx="20763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475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· PMO · 팀장 · 팀원 기본 세트 제공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826017" y="2532888"/>
            <a:ext cx="246888" cy="0"/>
          </a:xfrm>
          <a:prstGeom prst="line">
            <a:avLst/>
          </a:prstGeom>
          <a:noFill/>
          <a:ln w="25400">
            <a:solidFill>
              <a:srgbClr val="21ADA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09481" y="2121408"/>
            <a:ext cx="2533574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09481" y="2121408"/>
            <a:ext cx="2533574" cy="822960"/>
          </a:xfrm>
          <a:prstGeom prst="rect">
            <a:avLst/>
          </a:prstGeom>
          <a:solidFill>
            <a:srgbClr val="103F3A"/>
          </a:solidFill>
          <a:ln w="12700">
            <a:solidFill>
              <a:srgbClr val="103F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38081" y="2231136"/>
            <a:ext cx="20763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spc="15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338081" y="2468880"/>
            <a:ext cx="20763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연결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9338081" y="3127248"/>
            <a:ext cx="20763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프로젝트를 만들고 Jira 스페이스를 구독합니다.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338081" y="3904488"/>
            <a:ext cx="20763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475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이슈가 자동으로 편입되기 시작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864608"/>
            <a:ext cx="11094415" cy="566928"/>
          </a:xfrm>
          <a:prstGeom prst="rect">
            <a:avLst/>
          </a:prstGeom>
          <a:solidFill>
            <a:srgbClr val="E9F7F4"/>
          </a:solidFill>
          <a:ln w="12700">
            <a:solidFill>
              <a:srgbClr val="E9F7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864608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설치할 때 Jira 관리자가 한 번 승인하는 앱 권한: 앱 저장소 사용 · Jira 사용자 조회 · 작업/워크로그 조회·기록 · Jira 설정 관리</a:t>
            </a:r>
            <a:endParaRPr lang="en-US" sz="1000" dirty="0"/>
          </a:p>
        </p:txBody>
      </p:sp>
      <p:pic>
        <p:nvPicPr>
          <p:cNvPr id="35" name="Image 0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39 / 45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  도입 · 확인 사항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전에 확인할 다섯 가지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기대와 다른 결과를 막기 위해 미리 말씀드리는 전제 조건입니다.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20299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Cloud 전용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0" y="2029968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Atlassian 클라우드 앱 플랫폼 기반이라 Server / Data Center 버전에는 설치되지 않습니다.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1094415" cy="731520"/>
          </a:xfrm>
          <a:prstGeom prst="rect">
            <a:avLst/>
          </a:prstGeom>
          <a:solidFill>
            <a:srgbClr val="E9F7F4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2880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워크로그가 원천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2880360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기록이 없으면 투입 공수·가동률을 실제 업무량으로 해석할 수 없습니다. 실무자의 기록 습관이 전제입니다.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39312"/>
            <a:ext cx="11094415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30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373075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 공수 입력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3730752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진척률은 이슈에 계획 공수(Jira의 초기 추정치)가 입력돼 있어야 계산됩니다.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489704"/>
            <a:ext cx="11094415" cy="731520"/>
          </a:xfrm>
          <a:prstGeom prst="rect">
            <a:avLst/>
          </a:prstGeom>
          <a:solidFill>
            <a:srgbClr val="E9F7F4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581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25880" y="458114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전사 집계는 하루 한 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0" y="458114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대시보드는 하루 한 번 만든 집계본입니다. 재집계는 잠시 걸리며 기준 시각을 확인해야 합니다.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340096"/>
            <a:ext cx="11094415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431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25880" y="543153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등급 밴드 정책의 전제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0" y="5431536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등급 기반 급여 정책은 대상 전원의 등급과 등급별 대표값(또는 하한·상한)을 먼저 채워야 합니다. 비어 있으면 인건비가 0으로 계산됩니다.</a:t>
            </a:r>
            <a:endParaRPr lang="en-US" sz="1100" dirty="0"/>
          </a:p>
        </p:txBody>
      </p:sp>
      <p:pic>
        <p:nvPicPr>
          <p:cNvPr id="26" name="Image 0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 / 45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  도입 · 파일럿 제안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프로젝트 하나로 우리 데이터를 확인해 보십시오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근무 기준과 계획 공수를 설정하고 워크로그를 누적하면서, 기존 보고와 공수·진척·인력 부하를 대조합니다.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29968"/>
            <a:ext cx="205794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16712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9808" y="2898648"/>
            <a:ext cx="16556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 선정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3310128"/>
            <a:ext cx="16921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질문이 있는 진행 중인 프로젝트 하나면 됩니다.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07757" y="2029968"/>
            <a:ext cx="205794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08925" y="216712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008925" y="2898648"/>
            <a:ext cx="16556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준비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08925" y="3310128"/>
            <a:ext cx="16921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1일 근무 시간·공휴일 등록, 인력·팀 등록, 이슈에 계획 공수 입력, 스페이스 구독.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66873" y="2029968"/>
            <a:ext cx="205794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68041" y="216712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268041" y="2898648"/>
            <a:ext cx="16556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 누적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68041" y="3310128"/>
            <a:ext cx="16921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실무자가 My Work에서 워크로그를 기록합니다. 기존 Jira 워크로그도 그대로 집계.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25990" y="2029968"/>
            <a:ext cx="2057949" cy="2286000"/>
          </a:xfrm>
          <a:prstGeom prst="rect">
            <a:avLst/>
          </a:prstGeom>
          <a:solidFill>
            <a:srgbClr val="103F3A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27158" y="216712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527158" y="2898648"/>
            <a:ext cx="16556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대조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27158" y="3310128"/>
            <a:ext cx="16921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진척률·인력 분석·비용을 기존 월간 보고와 나란히 놓고 차이와 이유를 확인합니다.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85107" y="2029968"/>
            <a:ext cx="205794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786275" y="216712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786275" y="2898648"/>
            <a:ext cx="16556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확대 판단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86275" y="3310128"/>
            <a:ext cx="16921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흐름과 권한 설정을 확인한 뒤 적용 범위를 정합니다.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590288"/>
            <a:ext cx="11094415" cy="1005840"/>
          </a:xfrm>
          <a:prstGeom prst="rect">
            <a:avLst/>
          </a:prstGeom>
          <a:solidFill>
            <a:srgbClr val="E9F7F4"/>
          </a:solidFill>
          <a:ln w="12700">
            <a:solidFill>
              <a:srgbClr val="E9F7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70001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환경에서는 라이선스 없이 기능 평가가 가능합니다.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5047488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문의: (연락처 기입)   ·   설치: (Marketplace 리스팅 링크 기입)   ·   지원 환경: Atlassian Jira Cloud</a:t>
            </a:r>
            <a:endParaRPr lang="en-US" sz="1050" dirty="0"/>
          </a:p>
        </p:txBody>
      </p:sp>
      <p:pic>
        <p:nvPicPr>
          <p:cNvPr id="29" name="Image 0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41 / 45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03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pic>
        <p:nvPicPr>
          <p:cNvPr id="3" name="Image 0" descr="C:\CloudJira\moves-workforce\_workspace\product-intro-ppt\assets\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315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6916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Jira의 업무 기록을</a:t>
            </a:r>
            <a:endParaRPr lang="en-US" sz="3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인력·공수·진척·비용의 판단 근거로.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77240" y="3502152"/>
            <a:ext cx="201168" cy="45720"/>
          </a:xfrm>
          <a:prstGeom prst="rect">
            <a:avLst/>
          </a:prstGeom>
          <a:solidFill>
            <a:srgbClr val="6FD3C6"/>
          </a:solidFill>
          <a:ln w="12700">
            <a:solidFill>
              <a:srgbClr val="6FD3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338328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 인프라 없이 Jira 안에서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" y="3675888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서버·외부 DB 구축 없음, 설치하면 바로 시작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77240" y="4279392"/>
            <a:ext cx="201168" cy="45720"/>
          </a:xfrm>
          <a:prstGeom prst="rect">
            <a:avLst/>
          </a:prstGeom>
          <a:solidFill>
            <a:srgbClr val="6FD3C6"/>
          </a:solidFill>
          <a:ln w="12700">
            <a:solidFill>
              <a:srgbClr val="6FD3C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416052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근무일·연차를 반영한 지표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4453128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1MM = 그 달의 실제 근무일, 가동률 분모는 실효 가용 MD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" y="5056632"/>
            <a:ext cx="201168" cy="45720"/>
          </a:xfrm>
          <a:prstGeom prst="rect">
            <a:avLst/>
          </a:prstGeom>
          <a:solidFill>
            <a:srgbClr val="6FD3C6"/>
          </a:solidFill>
          <a:ln w="12700">
            <a:solidFill>
              <a:srgbClr val="6FD3C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493776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 → 분석 → 경영 판단을 한 앱에서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7280" y="5230368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워크로그부터 급여 기반 원가·전사 대시보드까지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366760" y="1691640"/>
            <a:ext cx="3276295" cy="3566160"/>
          </a:xfrm>
          <a:prstGeom prst="rect">
            <a:avLst/>
          </a:prstGeom>
          <a:solidFill>
            <a:srgbClr val="1B4F49"/>
          </a:solidFill>
          <a:ln w="12700">
            <a:solidFill>
              <a:srgbClr val="1B4F4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536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200" kern="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STEP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595360" y="2194560"/>
            <a:ext cx="2864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프로젝트 하나로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근무 기준·계획 공수를 설정하고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워크로그를 누적하며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보고와 대조해 보십시오.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59536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데모 · 적용 상담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595360" y="4206240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(연락처 기입)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9EC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(Marketplace 링크 기입)</a:t>
            </a:r>
            <a:endParaRPr lang="en-US" sz="1100" dirty="0"/>
          </a:p>
        </p:txBody>
      </p:sp>
      <p:pic>
        <p:nvPicPr>
          <p:cNvPr id="19" name="Image 1" descr="C:\CloudJira\moves-workforce\_workspace\product-intro-ppt\assets\dmove_word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144768"/>
            <a:ext cx="11887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772400" y="61447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FD3C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Atlassian Jira Cloud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  부록 · 최근 확장 기능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확장 기능 — 대상 환경 배포 확인 후 본문으로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2026-09 작업 트리에서 확인한 기능입니다. 외부 발표에서 제공 기능으로 확정하기 전에 대상 환경의 화면과 동작을 확인합니다.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180015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80015" y="4572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39B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확인 필요</a:t>
            </a:r>
            <a:endParaRPr lang="en-US" sz="1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84248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754880"/>
                <a:gridCol w="4327855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기능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고객이 확인할 정보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해석 · 제공 범위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56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개인 종합 분석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인력 상세에서 기간별 기록 시간, 일별 추이, 프로젝트별 비중, 원본 워크로그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권한상 조회 가능한 범위. 프로필·스킬·경험은 현재 정보이며 과거 인사 상태 복원이 아님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주간·월간 기간 리포트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기록 공수, 신규·완료 이슈, 마감 초과, 공수 집중, 미기록 인원 점검 + 텍스트로 복사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현재 이슈 상태·현재 배정 명단을 쓰는 항목은 근사값. 비용은 현재 급여 정책 기준 추정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기간별 진척 추이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주간·월간으로 저장해 둔 집계로 완성·계획 진척의 변화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저장하지 않은 과거 구간은 복원하지 않음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워크로그 시각 입력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시작·종료 시각을 입력해 기록 시간 계산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기존 기록의 시간 정보와 호환되는 입력 경로 병행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이슈 맵 (작업 관리 4번째 뷰)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이슈를 카드 트리로 탐색, 클릭하면 워크로그 상세 패널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소스 커밋 이력 연동은 별도 검토 대상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대시보드·분석 확장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프로젝트 위젯 필터, 계획 대비 실제 공수 차트, 전사 프로젝트·스페이스·이슈 관계도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020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조회 범위와 집계 기준 시각을 함께 확인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mage 0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43 / 45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   부록 · 자주 묻는 질문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검토 시 자주 나오는 질문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FAQ v1.3에서 발췌했습니다.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541004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38528"/>
            <a:ext cx="64008" cy="9601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29968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별도 서버나 DB를 우리가 운영해야 하나요?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322576"/>
            <a:ext cx="504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아니요. 앱과 데이터 모두 Atlassian 인프라 안에서 실행·저장됩니다.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33008" y="1938528"/>
            <a:ext cx="5410048" cy="960120"/>
          </a:xfrm>
          <a:prstGeom prst="rect">
            <a:avLst/>
          </a:prstGeom>
          <a:solidFill>
            <a:srgbClr val="E9F7F4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3008" y="1938528"/>
            <a:ext cx="64008" cy="9601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1608" y="2029968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Data Center / Server에도 되나요?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61608" y="2322576"/>
            <a:ext cx="504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Cloud 전용입니다. Atlassian 클라우드 앱 플랫폼 기반이라 Server/DC에는 설치되지 않습니다.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035808"/>
            <a:ext cx="541004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35808"/>
            <a:ext cx="64008" cy="9601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27248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진척도가 왜 하나의 %가 아니라 3개인가요?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419856"/>
            <a:ext cx="504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공수·완성·일정은 "얼마나 썼나 · 얼마나 끝났나 · 시간이 얼마나 갔나"라는 서로 다른 질문이라 일부러 합치지 않습니다.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33008" y="3035808"/>
            <a:ext cx="5410048" cy="960120"/>
          </a:xfrm>
          <a:prstGeom prst="rect">
            <a:avLst/>
          </a:prstGeom>
          <a:solidFill>
            <a:srgbClr val="E9F7F4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3008" y="3035808"/>
            <a:ext cx="64008" cy="9601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1608" y="3127248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등급 기반 급여를 쓰면 개인 연봉이 어딘가에 남나요?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61608" y="3419856"/>
            <a:ext cx="504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등급 기준 정책이 켜지면 개인 연봉·투입 급여는 서버가 내보내는 데이터에서 아예 제거합니다. 화면에서만 숨기는 방식이 아닙니다.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133088"/>
            <a:ext cx="541004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133088"/>
            <a:ext cx="64008" cy="9601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224528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Jira에서 볼 수 없는 이슈를 앱이 보여줄 수 있나요?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517136"/>
            <a:ext cx="504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아니요. 앱은 사용자 본인의 Jira 권한으로 조회하므로 사용자가 못 보는 이슈는 앱에서도 보이지 않습니다.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33008" y="4133088"/>
            <a:ext cx="5410048" cy="960120"/>
          </a:xfrm>
          <a:prstGeom prst="rect">
            <a:avLst/>
          </a:prstGeom>
          <a:solidFill>
            <a:srgbClr val="E9F7F4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3008" y="4133088"/>
            <a:ext cx="64008" cy="9601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61608" y="4224528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통합 대시보드는 실시간인가요?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61608" y="4517136"/>
            <a:ext cx="504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프로젝트 집계는 하루 한 번 만들어 둔 집계본을 보여 줍니다. 재집계 버튼으로 갱신할 수 있고 완료되면 자동으로 새로고침됩니다.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5230368"/>
            <a:ext cx="541004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230368"/>
            <a:ext cx="64008" cy="9601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321808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구독을 해제하면 가져온 이슈도 사라지나요?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" y="5614416"/>
            <a:ext cx="504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아니요. 해제는 앞으로의 자동 편입만 멈추며 이미 편입된 이슈와 과거 집계는 그대로 남습니다.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33008" y="5230368"/>
            <a:ext cx="5410048" cy="960120"/>
          </a:xfrm>
          <a:prstGeom prst="rect">
            <a:avLst/>
          </a:prstGeom>
          <a:solidFill>
            <a:srgbClr val="E9F7F4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33008" y="5230368"/>
            <a:ext cx="64008" cy="960120"/>
          </a:xfrm>
          <a:prstGeom prst="rect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61608" y="5321808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저장 용량이 꽉 차면 어떻게 되나요?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61608" y="5614416"/>
            <a:ext cx="504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저장소는 설치당 1 GiB 한도입니다. 저장 공간 관리 화면의 게이지와 80/90% 경고로 미리 감지합니다.</a:t>
            </a:r>
            <a:endParaRPr lang="en-US" sz="950" dirty="0"/>
          </a:p>
        </p:txBody>
      </p:sp>
      <p:pic>
        <p:nvPicPr>
          <p:cNvPr id="38" name="Image 0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44 / 45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spc="150" kern="0" dirty="0">
                <a:solidFill>
                  <a:srgbClr val="1A9A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   부록 · 테마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02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테마를 그대로 따릅니다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 설정 없이 Jira의 라이트/다크 테마를 자동으로 따라갑니다. 차트·표·간트를 포함한 모든 화면이 다크 모드에서 동일하게 동작합니다.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E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38528"/>
            <a:ext cx="11094415" cy="237744"/>
          </a:xfrm>
          <a:prstGeom prst="rect">
            <a:avLst/>
          </a:prstGeom>
          <a:solidFill>
            <a:srgbClr val="EDF2F1"/>
          </a:solidFill>
          <a:ln w="9525">
            <a:solidFill>
              <a:srgbClr val="D9E4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011680"/>
            <a:ext cx="91440" cy="91440"/>
          </a:xfrm>
          <a:prstGeom prst="ellipse">
            <a:avLst/>
          </a:prstGeom>
          <a:solidFill>
            <a:srgbClr val="C9D4D2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938528"/>
            <a:ext cx="10362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다크 모드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1792" y="2249424"/>
            <a:ext cx="10948111" cy="3730752"/>
          </a:xfrm>
          <a:prstGeom prst="rect">
            <a:avLst/>
          </a:prstGeom>
          <a:solidFill>
            <a:srgbClr val="E9F7F4"/>
          </a:solidFill>
          <a:ln w="19050">
            <a:solidFill>
              <a:srgbClr val="21ADAD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812384" y="2809037"/>
            <a:ext cx="566928" cy="566928"/>
          </a:xfrm>
          <a:prstGeom prst="ellipse">
            <a:avLst/>
          </a:prstGeom>
          <a:solidFill>
            <a:srgbClr val="21ADAD"/>
          </a:solidFill>
          <a:ln w="12700">
            <a:solidFill>
              <a:srgbClr val="21ADAD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5454" y="2962107"/>
            <a:ext cx="260787" cy="26078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04672" y="3449117"/>
            <a:ext cx="105823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3F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캡처 필요 · captures/dark_mode.png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04672" y="3796589"/>
            <a:ext cx="10582351" cy="209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화면: Jira 테마를 다크로 바꾼 뒤 아무 분석 화면</a:t>
            </a:r>
            <a:endParaRPr lang="en-US" sz="950" dirty="0"/>
          </a:p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강조: 차트·표가 다크 테마로 렌더된 모습</a:t>
            </a:r>
            <a:endParaRPr lang="en-US" sz="950" dirty="0"/>
          </a:p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5562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비율: 16:9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48640" y="6108192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캡처 · 다크 모드 분석 화면</a:t>
            </a:r>
            <a:endParaRPr lang="en-US" sz="900" dirty="0"/>
          </a:p>
        </p:txBody>
      </p:sp>
      <p:pic>
        <p:nvPicPr>
          <p:cNvPr id="17" name="Image 1" descr="C:\CloudJira\moves-workforce\_workspace\product-intro-ppt\assets\dmove_wordmar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868680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54480" y="6400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Moves Workforce  ·  제품 소개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10271455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45 / 45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Moves Workforce 제품 소개</dc:title>
  <dc:subject>PptxGenJS Presentation</dc:subject>
  <dc:creator>Dmove Inc.</dc:creator>
  <cp:lastModifiedBy>Dmove Inc.</cp:lastModifiedBy>
  <cp:revision>1</cp:revision>
  <dcterms:created xsi:type="dcterms:W3CDTF">2026-09-14T07:04:36Z</dcterms:created>
  <dcterms:modified xsi:type="dcterms:W3CDTF">2026-09-14T07:04:36Z</dcterms:modified>
</cp:coreProperties>
</file>